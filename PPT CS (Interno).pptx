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Roboto Black"/>
      <p:bold r:id="rId19"/>
      <p:boldItalic r:id="rId20"/>
    </p:embeddedFont>
    <p:embeddedFont>
      <p:font typeface="Roboto Medium"/>
      <p:regular r:id="rId21"/>
      <p:bold r:id="rId22"/>
      <p:italic r:id="rId23"/>
      <p:boldItalic r:id="rId24"/>
    </p:embeddedFont>
    <p:embeddedFont>
      <p:font typeface="Montserrat Black"/>
      <p:bold r:id="rId25"/>
      <p:boldItalic r:id="rId26"/>
    </p:embeddedFont>
    <p:embeddedFont>
      <p:font typeface="Work Sans"/>
      <p:regular r:id="rId27"/>
      <p:bold r:id="rId28"/>
      <p:italic r:id="rId29"/>
      <p:boldItalic r:id="rId30"/>
    </p:embeddedFont>
    <p:embeddedFont>
      <p:font typeface="Montserrat ExtraBold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  <p15:guide id="2" orient="horz" pos="4320">
          <p15:clr>
            <a:srgbClr val="747775"/>
          </p15:clr>
        </p15:guide>
        <p15:guide id="3">
          <p15:clr>
            <a:srgbClr val="747775"/>
          </p15:clr>
        </p15:guide>
        <p15:guide id="4" pos="76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gzdV1dno0sYI0I/NGA8/0WF51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  <p:guide pos="4320" orient="horz"/>
        <p:guide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Black-boldItalic.fntdata"/><Relationship Id="rId22" Type="http://schemas.openxmlformats.org/officeDocument/2006/relationships/font" Target="fonts/RobotoMedium-bold.fntdata"/><Relationship Id="rId21" Type="http://schemas.openxmlformats.org/officeDocument/2006/relationships/font" Target="fonts/RobotoMedium-regular.fntdata"/><Relationship Id="rId24" Type="http://schemas.openxmlformats.org/officeDocument/2006/relationships/font" Target="fonts/RobotoMedium-boldItalic.fntdata"/><Relationship Id="rId23" Type="http://schemas.openxmlformats.org/officeDocument/2006/relationships/font" Target="fonts/Roboto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Black-boldItalic.fntdata"/><Relationship Id="rId25" Type="http://schemas.openxmlformats.org/officeDocument/2006/relationships/font" Target="fonts/MontserratBlack-bold.fntdata"/><Relationship Id="rId28" Type="http://schemas.openxmlformats.org/officeDocument/2006/relationships/font" Target="fonts/WorkSans-bold.fntdata"/><Relationship Id="rId27" Type="http://schemas.openxmlformats.org/officeDocument/2006/relationships/font" Target="fonts/Work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ExtraBold-bold.fntdata"/><Relationship Id="rId30" Type="http://schemas.openxmlformats.org/officeDocument/2006/relationships/font" Target="fonts/WorkSans-boldItalic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Montserrat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RobotoBlack-bold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2c5fd95d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62c5fd95d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c441a8e93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6c441a8e93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c441a8e93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6c441a8e93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c441a8e9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6c441a8e9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c441a8e93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/>
              <a:t>Slide Branco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6" name="Google Shape;196;g36c441a8e93_0_1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c441a8e93_0_1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pt-BR"/>
              <a:t>Slide Branco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" name="Google Shape;216;g36c441a8e93_0_13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c441a8e93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6c441a8e93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3037809d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3037809d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2c5fd95d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62c5fd95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c441a8e93_0_111"/>
          <p:cNvSpPr/>
          <p:nvPr/>
        </p:nvSpPr>
        <p:spPr>
          <a:xfrm>
            <a:off x="0" y="0"/>
            <a:ext cx="12192000" cy="4165500"/>
          </a:xfrm>
          <a:prstGeom prst="rect">
            <a:avLst/>
          </a:prstGeom>
          <a:solidFill>
            <a:srgbClr val="394555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36c441a8e93_0_111"/>
          <p:cNvSpPr/>
          <p:nvPr>
            <p:ph idx="2" type="pic"/>
          </p:nvPr>
        </p:nvSpPr>
        <p:spPr>
          <a:xfrm>
            <a:off x="0" y="4165600"/>
            <a:ext cx="4013100" cy="22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g36c441a8e93_0_111"/>
          <p:cNvSpPr/>
          <p:nvPr>
            <p:ph idx="3" type="pic"/>
          </p:nvPr>
        </p:nvSpPr>
        <p:spPr>
          <a:xfrm>
            <a:off x="3146425" y="4165600"/>
            <a:ext cx="5043900" cy="22428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g36c441a8e93_0_111"/>
          <p:cNvSpPr/>
          <p:nvPr>
            <p:ph idx="4" type="pic"/>
          </p:nvPr>
        </p:nvSpPr>
        <p:spPr>
          <a:xfrm>
            <a:off x="7405060" y="4160519"/>
            <a:ext cx="4775100" cy="22353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g36c441a8e93_0_111"/>
          <p:cNvSpPr/>
          <p:nvPr/>
        </p:nvSpPr>
        <p:spPr>
          <a:xfrm>
            <a:off x="0" y="6400801"/>
            <a:ext cx="12192000" cy="457200"/>
          </a:xfrm>
          <a:prstGeom prst="rect">
            <a:avLst/>
          </a:prstGeom>
          <a:solidFill>
            <a:srgbClr val="394555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6c441a8e93_0_207"/>
          <p:cNvSpPr/>
          <p:nvPr>
            <p:ph idx="2" type="pic"/>
          </p:nvPr>
        </p:nvSpPr>
        <p:spPr>
          <a:xfrm>
            <a:off x="4090085" y="1667852"/>
            <a:ext cx="39933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g36c441a8e93_0_207"/>
          <p:cNvSpPr/>
          <p:nvPr>
            <p:ph idx="3" type="pic"/>
          </p:nvPr>
        </p:nvSpPr>
        <p:spPr>
          <a:xfrm>
            <a:off x="15501" y="1667852"/>
            <a:ext cx="40743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g36c441a8e93_0_207"/>
          <p:cNvSpPr/>
          <p:nvPr>
            <p:ph idx="4" type="pic"/>
          </p:nvPr>
        </p:nvSpPr>
        <p:spPr>
          <a:xfrm>
            <a:off x="8083108" y="1667852"/>
            <a:ext cx="41088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g36c441a8e93_0_207"/>
          <p:cNvSpPr/>
          <p:nvPr>
            <p:ph idx="5" type="pic"/>
          </p:nvPr>
        </p:nvSpPr>
        <p:spPr>
          <a:xfrm>
            <a:off x="4090085" y="3822873"/>
            <a:ext cx="39933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g36c441a8e93_0_207"/>
          <p:cNvSpPr/>
          <p:nvPr>
            <p:ph idx="6" type="pic"/>
          </p:nvPr>
        </p:nvSpPr>
        <p:spPr>
          <a:xfrm>
            <a:off x="15501" y="3822873"/>
            <a:ext cx="40743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g36c441a8e93_0_207"/>
          <p:cNvSpPr/>
          <p:nvPr>
            <p:ph idx="7" type="pic"/>
          </p:nvPr>
        </p:nvSpPr>
        <p:spPr>
          <a:xfrm>
            <a:off x="8083108" y="3822873"/>
            <a:ext cx="4108800" cy="21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g36c441a8e93_0_207"/>
          <p:cNvSpPr/>
          <p:nvPr/>
        </p:nvSpPr>
        <p:spPr>
          <a:xfrm>
            <a:off x="0" y="6400801"/>
            <a:ext cx="12192000" cy="457200"/>
          </a:xfrm>
          <a:prstGeom prst="rect">
            <a:avLst/>
          </a:prstGeom>
          <a:solidFill>
            <a:srgbClr val="394555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">
  <p:cSld name="CUSTOM_2">
    <p:bg>
      <p:bgPr>
        <a:solidFill>
          <a:schemeClr val="accen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6c441a8e93_0_488"/>
          <p:cNvSpPr/>
          <p:nvPr/>
        </p:nvSpPr>
        <p:spPr>
          <a:xfrm>
            <a:off x="0" y="-2267"/>
            <a:ext cx="12192000" cy="6866400"/>
          </a:xfrm>
          <a:prstGeom prst="homePlate">
            <a:avLst>
              <a:gd fmla="val 1336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6c441a8e93_0_488"/>
          <p:cNvSpPr txBox="1"/>
          <p:nvPr>
            <p:ph type="title"/>
          </p:nvPr>
        </p:nvSpPr>
        <p:spPr>
          <a:xfrm>
            <a:off x="951000" y="597408"/>
            <a:ext cx="10290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Montserrat Extra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28" name="Google Shape;28;g36c441a8e93_0_488"/>
          <p:cNvSpPr txBox="1"/>
          <p:nvPr/>
        </p:nvSpPr>
        <p:spPr>
          <a:xfrm>
            <a:off x="2323591" y="2353600"/>
            <a:ext cx="37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" name="Google Shape;29;g36c441a8e93_0_488"/>
          <p:cNvSpPr txBox="1"/>
          <p:nvPr>
            <p:ph idx="1" type="subTitle"/>
          </p:nvPr>
        </p:nvSpPr>
        <p:spPr>
          <a:xfrm>
            <a:off x="2638520" y="2372030"/>
            <a:ext cx="31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" name="Google Shape;30;g36c441a8e93_0_488"/>
          <p:cNvSpPr txBox="1"/>
          <p:nvPr>
            <p:ph idx="2" type="subTitle"/>
          </p:nvPr>
        </p:nvSpPr>
        <p:spPr>
          <a:xfrm>
            <a:off x="2638520" y="2909933"/>
            <a:ext cx="31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None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g36c441a8e93_0_488"/>
          <p:cNvSpPr txBox="1"/>
          <p:nvPr/>
        </p:nvSpPr>
        <p:spPr>
          <a:xfrm>
            <a:off x="7468557" y="2353600"/>
            <a:ext cx="37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" name="Google Shape;32;g36c441a8e93_0_488"/>
          <p:cNvSpPr txBox="1"/>
          <p:nvPr>
            <p:ph idx="3" type="subTitle"/>
          </p:nvPr>
        </p:nvSpPr>
        <p:spPr>
          <a:xfrm>
            <a:off x="7783486" y="2372030"/>
            <a:ext cx="3169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3" name="Google Shape;33;g36c441a8e93_0_488"/>
          <p:cNvSpPr txBox="1"/>
          <p:nvPr>
            <p:ph idx="4" type="subTitle"/>
          </p:nvPr>
        </p:nvSpPr>
        <p:spPr>
          <a:xfrm>
            <a:off x="7783486" y="2909930"/>
            <a:ext cx="3169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None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4" name="Google Shape;34;g36c441a8e93_0_488"/>
          <p:cNvSpPr txBox="1"/>
          <p:nvPr/>
        </p:nvSpPr>
        <p:spPr>
          <a:xfrm>
            <a:off x="2326757" y="4207923"/>
            <a:ext cx="37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5" name="Google Shape;35;g36c441a8e93_0_488"/>
          <p:cNvSpPr txBox="1"/>
          <p:nvPr>
            <p:ph idx="5" type="subTitle"/>
          </p:nvPr>
        </p:nvSpPr>
        <p:spPr>
          <a:xfrm>
            <a:off x="2641686" y="4216808"/>
            <a:ext cx="31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g36c441a8e93_0_488"/>
          <p:cNvSpPr txBox="1"/>
          <p:nvPr>
            <p:ph idx="6" type="subTitle"/>
          </p:nvPr>
        </p:nvSpPr>
        <p:spPr>
          <a:xfrm>
            <a:off x="2641686" y="4754709"/>
            <a:ext cx="31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None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" name="Google Shape;37;g36c441a8e93_0_488"/>
          <p:cNvSpPr txBox="1"/>
          <p:nvPr/>
        </p:nvSpPr>
        <p:spPr>
          <a:xfrm>
            <a:off x="7471724" y="4207923"/>
            <a:ext cx="377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8" name="Google Shape;38;g36c441a8e93_0_488"/>
          <p:cNvSpPr txBox="1"/>
          <p:nvPr>
            <p:ph idx="7" type="subTitle"/>
          </p:nvPr>
        </p:nvSpPr>
        <p:spPr>
          <a:xfrm>
            <a:off x="7786147" y="4216811"/>
            <a:ext cx="3169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" name="Google Shape;39;g36c441a8e93_0_488"/>
          <p:cNvSpPr txBox="1"/>
          <p:nvPr>
            <p:ph idx="8" type="subTitle"/>
          </p:nvPr>
        </p:nvSpPr>
        <p:spPr>
          <a:xfrm>
            <a:off x="7786147" y="4754711"/>
            <a:ext cx="3169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"/>
              <a:buNone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" name="Google Shape;40;g36c441a8e93_0_488"/>
          <p:cNvSpPr txBox="1"/>
          <p:nvPr>
            <p:ph idx="9" type="title"/>
          </p:nvPr>
        </p:nvSpPr>
        <p:spPr>
          <a:xfrm>
            <a:off x="1463040" y="2458747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Font typeface="Montserrat Black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1" name="Google Shape;41;g36c441a8e93_0_488"/>
          <p:cNvSpPr txBox="1"/>
          <p:nvPr>
            <p:ph idx="13" type="title"/>
          </p:nvPr>
        </p:nvSpPr>
        <p:spPr>
          <a:xfrm>
            <a:off x="6608064" y="2465348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Font typeface="Montserrat Black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2" name="Google Shape;42;g36c441a8e93_0_488"/>
          <p:cNvSpPr txBox="1"/>
          <p:nvPr>
            <p:ph idx="14" type="title"/>
          </p:nvPr>
        </p:nvSpPr>
        <p:spPr>
          <a:xfrm>
            <a:off x="1463040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Font typeface="Montserrat Black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3" name="Google Shape;43;g36c441a8e93_0_488"/>
          <p:cNvSpPr txBox="1"/>
          <p:nvPr>
            <p:ph idx="15" type="title"/>
          </p:nvPr>
        </p:nvSpPr>
        <p:spPr>
          <a:xfrm>
            <a:off x="6608064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Font typeface="Montserrat Black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Font typeface="Montserrat Black"/>
              <a:buNone/>
              <a:defRPr sz="64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c441a8e93_0_836"/>
          <p:cNvSpPr/>
          <p:nvPr/>
        </p:nvSpPr>
        <p:spPr>
          <a:xfrm flipH="1" rot="-5400000">
            <a:off x="5144531" y="-189472"/>
            <a:ext cx="6858003" cy="7236940"/>
          </a:xfrm>
          <a:prstGeom prst="flowChartManualInput">
            <a:avLst/>
          </a:prstGeom>
          <a:solidFill>
            <a:srgbClr val="394555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nza Detalhe Verde">
  <p:cSld name="Cinza Detalhe Ver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3" name="Google Shape;93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1" name="Google Shape;10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6_2_2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c441a8e93_0_740"/>
          <p:cNvSpPr txBox="1"/>
          <p:nvPr>
            <p:ph type="title"/>
          </p:nvPr>
        </p:nvSpPr>
        <p:spPr>
          <a:xfrm>
            <a:off x="963500" y="597408"/>
            <a:ext cx="5145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 Extra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18" name="Google Shape;118;g36c441a8e93_0_740"/>
          <p:cNvSpPr txBox="1"/>
          <p:nvPr>
            <p:ph idx="1" type="subTitle"/>
          </p:nvPr>
        </p:nvSpPr>
        <p:spPr>
          <a:xfrm>
            <a:off x="6698833" y="2232063"/>
            <a:ext cx="4542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 Medium"/>
              <a:buChar char="●"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●"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●"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19" name="Google Shape;119;g36c441a8e93_0_740"/>
          <p:cNvSpPr txBox="1"/>
          <p:nvPr>
            <p:ph idx="2" type="subTitle"/>
          </p:nvPr>
        </p:nvSpPr>
        <p:spPr>
          <a:xfrm>
            <a:off x="950967" y="2232063"/>
            <a:ext cx="4542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Roboto Medium"/>
              <a:buChar char="●"/>
              <a:defRPr sz="1900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●"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●"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○"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Roboto Medium"/>
              <a:buChar char="■"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0" name="Google Shape;120;g36c441a8e93_0_740"/>
          <p:cNvSpPr txBox="1"/>
          <p:nvPr>
            <p:ph idx="3" type="subTitle"/>
          </p:nvPr>
        </p:nvSpPr>
        <p:spPr>
          <a:xfrm>
            <a:off x="963500" y="1914301"/>
            <a:ext cx="21432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Roboto Medium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1" name="Google Shape;121;g36c441a8e93_0_740"/>
          <p:cNvSpPr txBox="1"/>
          <p:nvPr>
            <p:ph idx="4" type="subTitle"/>
          </p:nvPr>
        </p:nvSpPr>
        <p:spPr>
          <a:xfrm>
            <a:off x="6695067" y="1916681"/>
            <a:ext cx="21432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Roboto Medium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Roboto Medium"/>
              <a:buNone/>
              <a:defRPr sz="2100"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122" name="Google Shape;122;g36c441a8e93_0_740"/>
          <p:cNvSpPr/>
          <p:nvPr/>
        </p:nvSpPr>
        <p:spPr>
          <a:xfrm rot="10800000">
            <a:off x="5392467" y="-2267"/>
            <a:ext cx="6817200" cy="6866400"/>
          </a:xfrm>
          <a:prstGeom prst="homePlate">
            <a:avLst>
              <a:gd fmla="val 163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_1">
    <p:bg>
      <p:bgPr>
        <a:solidFill>
          <a:schemeClr val="accen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c441a8e93_0_1152"/>
          <p:cNvSpPr/>
          <p:nvPr/>
        </p:nvSpPr>
        <p:spPr>
          <a:xfrm>
            <a:off x="0" y="-2267"/>
            <a:ext cx="12192000" cy="6866400"/>
          </a:xfrm>
          <a:prstGeom prst="homePlate">
            <a:avLst>
              <a:gd fmla="val 1336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6c441a8e93_0_1152"/>
          <p:cNvSpPr txBox="1"/>
          <p:nvPr>
            <p:ph type="title"/>
          </p:nvPr>
        </p:nvSpPr>
        <p:spPr>
          <a:xfrm>
            <a:off x="950967" y="597408"/>
            <a:ext cx="10290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Montserrat ExtraBold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26" name="Google Shape;126;g36c441a8e93_0_1152"/>
          <p:cNvSpPr txBox="1"/>
          <p:nvPr>
            <p:ph idx="1" type="subTitle"/>
          </p:nvPr>
        </p:nvSpPr>
        <p:spPr>
          <a:xfrm>
            <a:off x="950609" y="3755136"/>
            <a:ext cx="3159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7" name="Google Shape;127;g36c441a8e93_0_1152"/>
          <p:cNvSpPr txBox="1"/>
          <p:nvPr>
            <p:ph idx="2" type="subTitle"/>
          </p:nvPr>
        </p:nvSpPr>
        <p:spPr>
          <a:xfrm>
            <a:off x="4516658" y="3755136"/>
            <a:ext cx="3159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8" name="Google Shape;128;g36c441a8e93_0_1152"/>
          <p:cNvSpPr txBox="1"/>
          <p:nvPr>
            <p:ph idx="3" type="subTitle"/>
          </p:nvPr>
        </p:nvSpPr>
        <p:spPr>
          <a:xfrm>
            <a:off x="8082191" y="3755136"/>
            <a:ext cx="31593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 SemiBold"/>
              <a:buNone/>
              <a:defRPr b="1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9" name="Google Shape;129;g36c441a8e93_0_1152"/>
          <p:cNvSpPr txBox="1"/>
          <p:nvPr>
            <p:ph idx="4" type="subTitle"/>
          </p:nvPr>
        </p:nvSpPr>
        <p:spPr>
          <a:xfrm>
            <a:off x="951409" y="4306930"/>
            <a:ext cx="3157500" cy="15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0" name="Google Shape;130;g36c441a8e93_0_1152"/>
          <p:cNvSpPr txBox="1"/>
          <p:nvPr>
            <p:ph idx="5" type="subTitle"/>
          </p:nvPr>
        </p:nvSpPr>
        <p:spPr>
          <a:xfrm>
            <a:off x="4517658" y="4306930"/>
            <a:ext cx="3157500" cy="15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1" name="Google Shape;131;g36c441a8e93_0_1152"/>
          <p:cNvSpPr txBox="1"/>
          <p:nvPr>
            <p:ph idx="6" type="subTitle"/>
          </p:nvPr>
        </p:nvSpPr>
        <p:spPr>
          <a:xfrm>
            <a:off x="8081991" y="4306930"/>
            <a:ext cx="3157500" cy="15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32" name="Google Shape;132;g36c441a8e93_0_1152"/>
          <p:cNvSpPr txBox="1"/>
          <p:nvPr>
            <p:ph idx="7" type="title"/>
          </p:nvPr>
        </p:nvSpPr>
        <p:spPr>
          <a:xfrm>
            <a:off x="2176631" y="2506970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33" name="Google Shape;133;g36c441a8e93_0_1152"/>
          <p:cNvSpPr txBox="1"/>
          <p:nvPr>
            <p:ph idx="8" type="title"/>
          </p:nvPr>
        </p:nvSpPr>
        <p:spPr>
          <a:xfrm>
            <a:off x="9309636" y="2504951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34" name="Google Shape;134;g36c441a8e93_0_1152"/>
          <p:cNvSpPr txBox="1"/>
          <p:nvPr>
            <p:ph idx="9" type="title"/>
          </p:nvPr>
        </p:nvSpPr>
        <p:spPr>
          <a:xfrm>
            <a:off x="5742664" y="2506970"/>
            <a:ext cx="7071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0" sz="43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400"/>
              <a:buFont typeface="Montserrat ExtraBold"/>
              <a:buNone/>
              <a:defRPr sz="64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2c5fd95d3_0_85"/>
          <p:cNvSpPr/>
          <p:nvPr/>
        </p:nvSpPr>
        <p:spPr>
          <a:xfrm>
            <a:off x="0" y="6418583"/>
            <a:ext cx="12192000" cy="462300"/>
          </a:xfrm>
          <a:prstGeom prst="rect">
            <a:avLst/>
          </a:prstGeom>
          <a:solidFill>
            <a:srgbClr val="6AD36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62c5fd95d3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3815" y="-40641"/>
            <a:ext cx="12219202" cy="41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62c5fd95d3_0_85"/>
          <p:cNvSpPr txBox="1"/>
          <p:nvPr/>
        </p:nvSpPr>
        <p:spPr>
          <a:xfrm>
            <a:off x="245200" y="1742050"/>
            <a:ext cx="9529800" cy="21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pt-BR" sz="47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PROGRAMA </a:t>
            </a:r>
            <a:r>
              <a:rPr lang="pt-BR" sz="47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CLUBE DE GESTÃO</a:t>
            </a:r>
            <a:endParaRPr b="1" i="0" sz="47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42" name="Google Shape;142;g362c5fd95d3_0_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3061" y="1742044"/>
            <a:ext cx="1285498" cy="11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62c5fd95d3_0_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46967" y="325876"/>
            <a:ext cx="245033" cy="13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62c5fd95d3_0_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11556" y="6472979"/>
            <a:ext cx="360439" cy="31538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62c5fd95d3_0_85"/>
          <p:cNvSpPr txBox="1"/>
          <p:nvPr/>
        </p:nvSpPr>
        <p:spPr>
          <a:xfrm>
            <a:off x="516547" y="4800600"/>
            <a:ext cx="67182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pt-BR" sz="5600" u="none" cap="none" strike="noStrike">
                <a:solidFill>
                  <a:srgbClr val="6AD36A"/>
                </a:solidFill>
                <a:latin typeface="Work Sans"/>
                <a:ea typeface="Work Sans"/>
                <a:cs typeface="Work Sans"/>
                <a:sym typeface="Work Sans"/>
              </a:rPr>
              <a:t>CASES TÉCNICOS 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c441a8e93_0_551"/>
          <p:cNvSpPr/>
          <p:nvPr/>
        </p:nvSpPr>
        <p:spPr>
          <a:xfrm>
            <a:off x="475601" y="1640300"/>
            <a:ext cx="4752900" cy="2880000"/>
          </a:xfrm>
          <a:prstGeom prst="rect">
            <a:avLst/>
          </a:prstGeom>
          <a:solidFill>
            <a:srgbClr val="6AD36A">
              <a:alpha val="92156"/>
            </a:srgbClr>
          </a:solidFill>
          <a:ln>
            <a:noFill/>
          </a:ln>
          <a:effectLst>
            <a:outerShdw blurRad="57150" rotWithShape="0" algn="bl" dir="960000" dist="104775">
              <a:srgbClr val="888888">
                <a:alpha val="49411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Viabilizar </a:t>
            </a:r>
            <a:r>
              <a:rPr lang="pt-BR" sz="2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clientes vitrines</a:t>
            </a:r>
            <a:r>
              <a:rPr b="0" i="0" lang="pt-BR" sz="28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para apoiar em novas vendas</a:t>
            </a:r>
            <a:endParaRPr b="0" i="0" sz="28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1" name="Google Shape;151;g36c441a8e93_0_551"/>
          <p:cNvSpPr/>
          <p:nvPr/>
        </p:nvSpPr>
        <p:spPr>
          <a:xfrm>
            <a:off x="6822326" y="1640200"/>
            <a:ext cx="4752900" cy="2880000"/>
          </a:xfrm>
          <a:prstGeom prst="rect">
            <a:avLst/>
          </a:prstGeom>
          <a:solidFill>
            <a:srgbClr val="2E3C50"/>
          </a:solidFill>
          <a:ln>
            <a:noFill/>
          </a:ln>
          <a:effectLst>
            <a:outerShdw blurRad="57150" rotWithShape="0" algn="bl" dir="960000" dist="104775">
              <a:srgbClr val="888888">
                <a:alpha val="49411"/>
              </a:srgbClr>
            </a:outerShdw>
          </a:effectLst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Incentivar e recompensar os clientes pela colaboração </a:t>
            </a:r>
            <a:endParaRPr b="0" i="0" sz="28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2" name="Google Shape;152;g36c441a8e93_0_551"/>
          <p:cNvSpPr/>
          <p:nvPr/>
        </p:nvSpPr>
        <p:spPr>
          <a:xfrm>
            <a:off x="0" y="6380480"/>
            <a:ext cx="12192000" cy="500400"/>
          </a:xfrm>
          <a:prstGeom prst="rect">
            <a:avLst/>
          </a:prstGeom>
          <a:solidFill>
            <a:srgbClr val="6AD36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g36c441a8e93_0_5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6c441a8e93_0_5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1556" y="6472979"/>
            <a:ext cx="360439" cy="3153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ção gerada automaticamente com confiança baixa" id="155" name="Google Shape;155;g36c441a8e93_0_5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2700000">
            <a:off x="5606657" y="2474605"/>
            <a:ext cx="871438" cy="871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C5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c441a8e93_0_510"/>
          <p:cNvSpPr/>
          <p:nvPr/>
        </p:nvSpPr>
        <p:spPr>
          <a:xfrm>
            <a:off x="6317067" y="4149533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2E3C5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1" name="Google Shape;161;g36c441a8e93_0_510"/>
          <p:cNvSpPr/>
          <p:nvPr/>
        </p:nvSpPr>
        <p:spPr>
          <a:xfrm>
            <a:off x="6317067" y="1832867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2E3C5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2" name="Google Shape;162;g36c441a8e93_0_510"/>
          <p:cNvSpPr/>
          <p:nvPr/>
        </p:nvSpPr>
        <p:spPr>
          <a:xfrm>
            <a:off x="486233" y="4149533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2E3C5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3" name="Google Shape;163;g36c441a8e93_0_510"/>
          <p:cNvSpPr/>
          <p:nvPr/>
        </p:nvSpPr>
        <p:spPr>
          <a:xfrm>
            <a:off x="562433" y="1832867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2E3C5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4" name="Google Shape;164;g36c441a8e93_0_510"/>
          <p:cNvSpPr txBox="1"/>
          <p:nvPr>
            <p:ph idx="9" type="title"/>
          </p:nvPr>
        </p:nvSpPr>
        <p:spPr>
          <a:xfrm>
            <a:off x="701040" y="2001547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7FD67F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endParaRPr b="1">
              <a:solidFill>
                <a:srgbClr val="7FD67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5" name="Google Shape;165;g36c441a8e93_0_510"/>
          <p:cNvSpPr txBox="1"/>
          <p:nvPr>
            <p:ph idx="13" type="title"/>
          </p:nvPr>
        </p:nvSpPr>
        <p:spPr>
          <a:xfrm>
            <a:off x="6608064" y="2008148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7FD67F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  <a:endParaRPr b="1">
              <a:solidFill>
                <a:srgbClr val="7FD67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6" name="Google Shape;166;g36c441a8e93_0_510"/>
          <p:cNvSpPr txBox="1"/>
          <p:nvPr>
            <p:ph idx="14" type="title"/>
          </p:nvPr>
        </p:nvSpPr>
        <p:spPr>
          <a:xfrm>
            <a:off x="853440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7FD67F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  <a:endParaRPr b="1">
              <a:solidFill>
                <a:srgbClr val="7FD67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67" name="Google Shape;167;g36c441a8e93_0_510"/>
          <p:cNvSpPr txBox="1"/>
          <p:nvPr>
            <p:ph idx="15" type="title"/>
          </p:nvPr>
        </p:nvSpPr>
        <p:spPr>
          <a:xfrm>
            <a:off x="6608064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7FD67F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  <a:endParaRPr b="1">
              <a:solidFill>
                <a:srgbClr val="7FD67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68" name="Google Shape;168;g36c441a8e93_0_5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299" y="6251373"/>
            <a:ext cx="356400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6c441a8e93_0_5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6c441a8e93_0_510"/>
          <p:cNvSpPr txBox="1"/>
          <p:nvPr/>
        </p:nvSpPr>
        <p:spPr>
          <a:xfrm>
            <a:off x="2184474" y="2138275"/>
            <a:ext cx="35433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400" u="none" cap="none" strike="noStrike">
                <a:solidFill>
                  <a:srgbClr val="71D271"/>
                </a:solidFill>
                <a:latin typeface="Work Sans"/>
                <a:ea typeface="Work Sans"/>
                <a:cs typeface="Work Sans"/>
                <a:sym typeface="Work Sans"/>
              </a:rPr>
              <a:t>Definir os clientes e validar a usabilidade </a:t>
            </a:r>
            <a:endParaRPr b="1" i="0" sz="2400" u="none" cap="none" strike="noStrike">
              <a:solidFill>
                <a:srgbClr val="71D27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1" name="Google Shape;171;g36c441a8e93_0_510"/>
          <p:cNvSpPr txBox="1"/>
          <p:nvPr/>
        </p:nvSpPr>
        <p:spPr>
          <a:xfrm>
            <a:off x="7891124" y="2153950"/>
            <a:ext cx="35433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400">
                <a:solidFill>
                  <a:srgbClr val="71D271"/>
                </a:solidFill>
                <a:latin typeface="Work Sans"/>
                <a:ea typeface="Work Sans"/>
                <a:cs typeface="Work Sans"/>
                <a:sym typeface="Work Sans"/>
              </a:rPr>
              <a:t>C</a:t>
            </a:r>
            <a:r>
              <a:rPr b="1" i="0" lang="pt-BR" sz="2400" u="none" cap="none" strike="noStrike">
                <a:solidFill>
                  <a:srgbClr val="71D271"/>
                </a:solidFill>
                <a:latin typeface="Work Sans"/>
                <a:ea typeface="Work Sans"/>
                <a:cs typeface="Work Sans"/>
                <a:sym typeface="Work Sans"/>
              </a:rPr>
              <a:t>adastrar e convidar o cliente para o Clube de Gestão</a:t>
            </a:r>
            <a:endParaRPr b="1" i="0" sz="2400" u="none" cap="none" strike="noStrike">
              <a:solidFill>
                <a:srgbClr val="71D27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2" name="Google Shape;172;g36c441a8e93_0_510"/>
          <p:cNvSpPr txBox="1"/>
          <p:nvPr/>
        </p:nvSpPr>
        <p:spPr>
          <a:xfrm>
            <a:off x="2084149" y="4454925"/>
            <a:ext cx="35433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pt-BR" sz="2400">
                <a:solidFill>
                  <a:srgbClr val="71D271"/>
                </a:solidFill>
                <a:latin typeface="Work Sans"/>
                <a:ea typeface="Work Sans"/>
                <a:cs typeface="Work Sans"/>
                <a:sym typeface="Work Sans"/>
              </a:rPr>
              <a:t>Acompanhar o cliente  e engajá-lo no programa.</a:t>
            </a:r>
            <a:endParaRPr b="1" i="0" sz="2400" u="none" cap="none" strike="noStrike">
              <a:solidFill>
                <a:srgbClr val="71D27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3" name="Google Shape;173;g36c441a8e93_0_510"/>
          <p:cNvSpPr txBox="1"/>
          <p:nvPr/>
        </p:nvSpPr>
        <p:spPr>
          <a:xfrm>
            <a:off x="8010375" y="3957175"/>
            <a:ext cx="3000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BR" sz="2400">
                <a:solidFill>
                  <a:srgbClr val="71D271"/>
                </a:solidFill>
                <a:latin typeface="Work Sans"/>
                <a:ea typeface="Work Sans"/>
                <a:cs typeface="Work Sans"/>
                <a:sym typeface="Work Sans"/>
              </a:rPr>
              <a:t>Registrar as atividades realizadas pelo cliente</a:t>
            </a:r>
            <a:endParaRPr b="1" i="0" sz="2400" u="none" cap="none" strike="noStrike">
              <a:solidFill>
                <a:srgbClr val="71D27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4" name="Google Shape;174;g36c441a8e93_0_510"/>
          <p:cNvSpPr txBox="1"/>
          <p:nvPr/>
        </p:nvSpPr>
        <p:spPr>
          <a:xfrm>
            <a:off x="562425" y="292625"/>
            <a:ext cx="710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pt-BR" sz="4200" u="none" cap="none" strike="noStrike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UNIDADE</a:t>
            </a:r>
            <a:endParaRPr b="1" i="0" sz="4200" u="none" cap="none" strike="noStrike">
              <a:solidFill>
                <a:srgbClr val="E8E08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D67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c441a8e93_0_533"/>
          <p:cNvSpPr/>
          <p:nvPr/>
        </p:nvSpPr>
        <p:spPr>
          <a:xfrm>
            <a:off x="6317067" y="4149533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7FD6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A2A9B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0" name="Google Shape;180;g36c441a8e93_0_533"/>
          <p:cNvSpPr/>
          <p:nvPr/>
        </p:nvSpPr>
        <p:spPr>
          <a:xfrm>
            <a:off x="6317067" y="1832867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7FD6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A2A9B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1" name="Google Shape;181;g36c441a8e93_0_533"/>
          <p:cNvSpPr/>
          <p:nvPr/>
        </p:nvSpPr>
        <p:spPr>
          <a:xfrm>
            <a:off x="562433" y="4149533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7FD6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A2A9B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2" name="Google Shape;182;g36c441a8e93_0_533"/>
          <p:cNvSpPr/>
          <p:nvPr/>
        </p:nvSpPr>
        <p:spPr>
          <a:xfrm>
            <a:off x="562433" y="1832867"/>
            <a:ext cx="1350000" cy="1092900"/>
          </a:xfrm>
          <a:prstGeom prst="homePlate">
            <a:avLst>
              <a:gd fmla="val 31917" name="adj"/>
            </a:avLst>
          </a:prstGeom>
          <a:solidFill>
            <a:srgbClr val="7FD67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A2A9B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3" name="Google Shape;183;g36c441a8e93_0_533"/>
          <p:cNvSpPr txBox="1"/>
          <p:nvPr>
            <p:ph idx="9" type="title"/>
          </p:nvPr>
        </p:nvSpPr>
        <p:spPr>
          <a:xfrm>
            <a:off x="853440" y="2001547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  <a:endParaRPr b="1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4" name="Google Shape;184;g36c441a8e93_0_533"/>
          <p:cNvSpPr txBox="1"/>
          <p:nvPr>
            <p:ph idx="13" type="title"/>
          </p:nvPr>
        </p:nvSpPr>
        <p:spPr>
          <a:xfrm>
            <a:off x="6608064" y="2008148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  <a:endParaRPr b="1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5" name="Google Shape;185;g36c441a8e93_0_533"/>
          <p:cNvSpPr txBox="1"/>
          <p:nvPr>
            <p:ph idx="14" type="title"/>
          </p:nvPr>
        </p:nvSpPr>
        <p:spPr>
          <a:xfrm>
            <a:off x="853440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  <a:endParaRPr b="1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6" name="Google Shape;186;g36c441a8e93_0_533"/>
          <p:cNvSpPr txBox="1"/>
          <p:nvPr>
            <p:ph idx="15" type="title"/>
          </p:nvPr>
        </p:nvSpPr>
        <p:spPr>
          <a:xfrm>
            <a:off x="6608064" y="4311931"/>
            <a:ext cx="768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  <a:endParaRPr b="1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87" name="Google Shape;187;g36c441a8e93_0_5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6c441a8e93_0_533"/>
          <p:cNvSpPr txBox="1"/>
          <p:nvPr/>
        </p:nvSpPr>
        <p:spPr>
          <a:xfrm>
            <a:off x="2184474" y="2138275"/>
            <a:ext cx="35433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400" u="none" cap="none" strike="noStrike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Aderir ao programa de relacionamento</a:t>
            </a:r>
            <a:endParaRPr b="1" i="0" sz="2400" u="none" cap="none" strike="noStrike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9" name="Google Shape;189;g36c441a8e93_0_533"/>
          <p:cNvSpPr txBox="1"/>
          <p:nvPr/>
        </p:nvSpPr>
        <p:spPr>
          <a:xfrm>
            <a:off x="7891124" y="2153950"/>
            <a:ext cx="35433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400" u="none" cap="none" strike="noStrike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Manter a excelência na gestão e no uso.  </a:t>
            </a:r>
            <a:endParaRPr b="1" i="0" sz="2400" u="none" cap="none" strike="noStrike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0" name="Google Shape;190;g36c441a8e93_0_533"/>
          <p:cNvSpPr txBox="1"/>
          <p:nvPr/>
        </p:nvSpPr>
        <p:spPr>
          <a:xfrm>
            <a:off x="2084149" y="4454925"/>
            <a:ext cx="35433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pt-BR" sz="2400" u="none" cap="none" strike="noStrike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Engajar nas ações, como receber visita de prospect ou cliente da base. </a:t>
            </a:r>
            <a:endParaRPr b="1" i="0" sz="2400" u="none" cap="none" strike="noStrike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1" name="Google Shape;191;g36c441a8e93_0_533"/>
          <p:cNvSpPr txBox="1"/>
          <p:nvPr/>
        </p:nvSpPr>
        <p:spPr>
          <a:xfrm>
            <a:off x="7934175" y="395717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Resgatar seus pontos e ter recompensas. </a:t>
            </a:r>
            <a:endParaRPr b="1" i="0" sz="2400" u="none" cap="none" strike="noStrike">
              <a:solidFill>
                <a:srgbClr val="2E3C5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2" name="Google Shape;192;g36c441a8e93_0_533"/>
          <p:cNvSpPr txBox="1"/>
          <p:nvPr/>
        </p:nvSpPr>
        <p:spPr>
          <a:xfrm>
            <a:off x="562425" y="292625"/>
            <a:ext cx="710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pt-BR" sz="4200" u="none" cap="none" strike="noStrike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CLIENTE</a:t>
            </a:r>
            <a:endParaRPr b="1" i="0" sz="4200" u="none" cap="none" strike="noStrike">
              <a:solidFill>
                <a:srgbClr val="E8E08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93" name="Google Shape;193;g36c441a8e93_0_5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9156" y="6396779"/>
            <a:ext cx="356400" cy="3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4555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6c441a8e93_0_1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6c441a8e93_0_1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943" y="6251364"/>
            <a:ext cx="5080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6c441a8e93_0_1164"/>
          <p:cNvSpPr/>
          <p:nvPr/>
        </p:nvSpPr>
        <p:spPr>
          <a:xfrm>
            <a:off x="4595850" y="445325"/>
            <a:ext cx="507900" cy="489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04775">
              <a:srgbClr val="66CC66">
                <a:alpha val="4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1" name="Google Shape;201;g36c441a8e93_0_1164"/>
          <p:cNvSpPr txBox="1"/>
          <p:nvPr/>
        </p:nvSpPr>
        <p:spPr>
          <a:xfrm>
            <a:off x="170625" y="811075"/>
            <a:ext cx="3560700" cy="13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4300">
                <a:solidFill>
                  <a:srgbClr val="6AD36A"/>
                </a:solidFill>
                <a:latin typeface="Work Sans"/>
                <a:ea typeface="Work Sans"/>
                <a:cs typeface="Work Sans"/>
                <a:sym typeface="Work Sans"/>
              </a:rPr>
              <a:t>ATIVIDADES</a:t>
            </a:r>
            <a:endParaRPr b="1" i="0" sz="43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2" name="Google Shape;202;g36c441a8e93_0_1164"/>
          <p:cNvSpPr txBox="1"/>
          <p:nvPr/>
        </p:nvSpPr>
        <p:spPr>
          <a:xfrm>
            <a:off x="5177850" y="554075"/>
            <a:ext cx="6328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Boas-vindas ao programa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6c441a8e93_0_1164"/>
          <p:cNvSpPr txBox="1"/>
          <p:nvPr/>
        </p:nvSpPr>
        <p:spPr>
          <a:xfrm>
            <a:off x="5177850" y="1580525"/>
            <a:ext cx="5583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Receber visita presencial de prospect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6c441a8e93_0_1164"/>
          <p:cNvSpPr txBox="1"/>
          <p:nvPr/>
        </p:nvSpPr>
        <p:spPr>
          <a:xfrm>
            <a:off x="5177850" y="2679088"/>
            <a:ext cx="61860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Videoconferência com prospect</a:t>
            </a:r>
            <a:endParaRPr b="0" i="0" sz="2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5" name="Google Shape;205;g36c441a8e93_0_1164"/>
          <p:cNvSpPr txBox="1"/>
          <p:nvPr/>
        </p:nvSpPr>
        <p:spPr>
          <a:xfrm>
            <a:off x="5177850" y="3689675"/>
            <a:ext cx="5016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Vídeos produzidos pelo Marketing da Sankhya nos canais oficiais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6c441a8e93_0_1164"/>
          <p:cNvSpPr txBox="1"/>
          <p:nvPr/>
        </p:nvSpPr>
        <p:spPr>
          <a:xfrm>
            <a:off x="5177850" y="4804113"/>
            <a:ext cx="50169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Depoimento em mídias sociais e release na imprensa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c441a8e93_0_1164"/>
          <p:cNvSpPr txBox="1"/>
          <p:nvPr/>
        </p:nvSpPr>
        <p:spPr>
          <a:xfrm>
            <a:off x="5177850" y="5918575"/>
            <a:ext cx="50169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Palestra em eventos Sankhya</a:t>
            </a:r>
            <a:endParaRPr b="0" i="0" sz="2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08" name="Google Shape;208;g36c441a8e93_0_11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72067">
            <a:off x="520770" y="3144326"/>
            <a:ext cx="2678309" cy="188474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6c441a8e93_0_1164"/>
          <p:cNvSpPr/>
          <p:nvPr/>
        </p:nvSpPr>
        <p:spPr>
          <a:xfrm>
            <a:off x="4595850" y="1411825"/>
            <a:ext cx="507900" cy="489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04775">
              <a:srgbClr val="66CC66">
                <a:alpha val="494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0" name="Google Shape;210;g36c441a8e93_0_1164"/>
          <p:cNvSpPr/>
          <p:nvPr/>
        </p:nvSpPr>
        <p:spPr>
          <a:xfrm>
            <a:off x="4595850" y="2600325"/>
            <a:ext cx="507900" cy="489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04775">
              <a:srgbClr val="66CC66">
                <a:alpha val="494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1" name="Google Shape;211;g36c441a8e93_0_1164"/>
          <p:cNvSpPr/>
          <p:nvPr/>
        </p:nvSpPr>
        <p:spPr>
          <a:xfrm>
            <a:off x="4595850" y="3739475"/>
            <a:ext cx="507900" cy="489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04775">
              <a:srgbClr val="66CC66">
                <a:alpha val="494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2" name="Google Shape;212;g36c441a8e93_0_1164"/>
          <p:cNvSpPr/>
          <p:nvPr/>
        </p:nvSpPr>
        <p:spPr>
          <a:xfrm>
            <a:off x="4595850" y="4878625"/>
            <a:ext cx="507900" cy="489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04775">
              <a:srgbClr val="66CC66">
                <a:alpha val="494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3" name="Google Shape;213;g36c441a8e93_0_1164"/>
          <p:cNvSpPr/>
          <p:nvPr/>
        </p:nvSpPr>
        <p:spPr>
          <a:xfrm>
            <a:off x="4595850" y="5878000"/>
            <a:ext cx="507900" cy="4893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04775">
              <a:srgbClr val="66CC66">
                <a:alpha val="494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4555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g36c441a8e93_0_13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6c441a8e93_0_13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5943" y="6251364"/>
            <a:ext cx="5080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6c441a8e93_0_1354"/>
          <p:cNvSpPr txBox="1"/>
          <p:nvPr/>
        </p:nvSpPr>
        <p:spPr>
          <a:xfrm>
            <a:off x="3993000" y="152400"/>
            <a:ext cx="4463100" cy="13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RECOMPENSA</a:t>
            </a:r>
            <a:endParaRPr b="1" i="0" sz="43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21" name="Google Shape;221;g36c441a8e93_0_13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38744">
            <a:off x="8854154" y="2212015"/>
            <a:ext cx="1935943" cy="232312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</p:pic>
      <p:sp>
        <p:nvSpPr>
          <p:cNvPr id="222" name="Google Shape;222;g36c441a8e93_0_1354"/>
          <p:cNvSpPr txBox="1"/>
          <p:nvPr/>
        </p:nvSpPr>
        <p:spPr>
          <a:xfrm>
            <a:off x="1981200" y="2339888"/>
            <a:ext cx="5422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Certificação de usuários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6c441a8e93_0_1354"/>
          <p:cNvSpPr txBox="1"/>
          <p:nvPr/>
        </p:nvSpPr>
        <p:spPr>
          <a:xfrm>
            <a:off x="1981200" y="3072563"/>
            <a:ext cx="58011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Convite para eventos Sankhya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6c441a8e93_0_1354"/>
          <p:cNvSpPr txBox="1"/>
          <p:nvPr/>
        </p:nvSpPr>
        <p:spPr>
          <a:xfrm>
            <a:off x="1981200" y="3805225"/>
            <a:ext cx="5212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Brindes da Loja Empório Sankhya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6c441a8e93_0_1354"/>
          <p:cNvSpPr txBox="1"/>
          <p:nvPr/>
        </p:nvSpPr>
        <p:spPr>
          <a:xfrm>
            <a:off x="1981200" y="4537884"/>
            <a:ext cx="7307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Convite para eventos Sankhya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6c441a8e93_0_1354"/>
          <p:cNvSpPr txBox="1"/>
          <p:nvPr/>
        </p:nvSpPr>
        <p:spPr>
          <a:xfrm>
            <a:off x="1981200" y="5346748"/>
            <a:ext cx="8797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SLA Reduzido por 6 meses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6c441a8e93_0_1354"/>
          <p:cNvSpPr txBox="1"/>
          <p:nvPr/>
        </p:nvSpPr>
        <p:spPr>
          <a:xfrm>
            <a:off x="1981200" y="5983475"/>
            <a:ext cx="6504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Um dia de visita na Matriz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6c441a8e93_0_1354"/>
          <p:cNvSpPr txBox="1"/>
          <p:nvPr/>
        </p:nvSpPr>
        <p:spPr>
          <a:xfrm>
            <a:off x="1981200" y="1607225"/>
            <a:ext cx="8151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Horas de consultoria (16 h/remoto)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6c441a8e93_0_1354"/>
          <p:cNvSpPr/>
          <p:nvPr/>
        </p:nvSpPr>
        <p:spPr>
          <a:xfrm>
            <a:off x="1473200" y="1776650"/>
            <a:ext cx="507900" cy="1143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2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6c441a8e93_0_1354"/>
          <p:cNvSpPr/>
          <p:nvPr/>
        </p:nvSpPr>
        <p:spPr>
          <a:xfrm>
            <a:off x="1473200" y="2578675"/>
            <a:ext cx="507900" cy="1143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0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6c441a8e93_0_1354"/>
          <p:cNvSpPr/>
          <p:nvPr/>
        </p:nvSpPr>
        <p:spPr>
          <a:xfrm>
            <a:off x="1473200" y="3316425"/>
            <a:ext cx="507900" cy="1143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0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6c441a8e93_0_1354"/>
          <p:cNvSpPr/>
          <p:nvPr/>
        </p:nvSpPr>
        <p:spPr>
          <a:xfrm>
            <a:off x="1473200" y="4006675"/>
            <a:ext cx="507900" cy="1143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0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6c441a8e93_0_1354"/>
          <p:cNvSpPr/>
          <p:nvPr/>
        </p:nvSpPr>
        <p:spPr>
          <a:xfrm>
            <a:off x="1473200" y="4739325"/>
            <a:ext cx="507900" cy="1143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0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6c441a8e93_0_1354"/>
          <p:cNvSpPr/>
          <p:nvPr/>
        </p:nvSpPr>
        <p:spPr>
          <a:xfrm>
            <a:off x="1473200" y="5507175"/>
            <a:ext cx="507900" cy="1143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0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6c441a8e93_0_1354"/>
          <p:cNvSpPr/>
          <p:nvPr/>
        </p:nvSpPr>
        <p:spPr>
          <a:xfrm>
            <a:off x="1473200" y="6162225"/>
            <a:ext cx="507900" cy="114300"/>
          </a:xfrm>
          <a:prstGeom prst="rect">
            <a:avLst/>
          </a:prstGeom>
          <a:solidFill>
            <a:srgbClr val="7FD67F"/>
          </a:solidFill>
          <a:ln>
            <a:noFill/>
          </a:ln>
          <a:effectLst>
            <a:outerShdw rotWithShape="0" algn="bl">
              <a:schemeClr val="lt2">
                <a:alpha val="22350"/>
              </a:schemeClr>
            </a:outerShdw>
            <a:reflection blurRad="0" dir="5400000" dist="38100" endA="0" endPos="30000" fadeDir="5400012" kx="0" rotWithShape="0" algn="bl" stA="60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c441a8e93_0_747"/>
          <p:cNvSpPr/>
          <p:nvPr/>
        </p:nvSpPr>
        <p:spPr>
          <a:xfrm rot="-5400000">
            <a:off x="8584815" y="5995191"/>
            <a:ext cx="55200" cy="1076700"/>
          </a:xfrm>
          <a:prstGeom prst="rect">
            <a:avLst/>
          </a:prstGeom>
          <a:solidFill>
            <a:srgbClr val="6AD36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1" name="Google Shape;241;g36c441a8e93_0_747"/>
          <p:cNvSpPr/>
          <p:nvPr/>
        </p:nvSpPr>
        <p:spPr>
          <a:xfrm rot="-5400000">
            <a:off x="2252476" y="6075581"/>
            <a:ext cx="55200" cy="1076700"/>
          </a:xfrm>
          <a:prstGeom prst="rect">
            <a:avLst/>
          </a:prstGeom>
          <a:solidFill>
            <a:srgbClr val="6AD36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g36c441a8e93_0_7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6967" y="325876"/>
            <a:ext cx="245033" cy="13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6c441a8e93_0_747"/>
          <p:cNvSpPr txBox="1"/>
          <p:nvPr/>
        </p:nvSpPr>
        <p:spPr>
          <a:xfrm>
            <a:off x="535575" y="2430425"/>
            <a:ext cx="5138700" cy="133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5300">
                <a:solidFill>
                  <a:srgbClr val="6AD36A"/>
                </a:solidFill>
                <a:latin typeface="Work Sans"/>
                <a:ea typeface="Work Sans"/>
                <a:cs typeface="Work Sans"/>
                <a:sym typeface="Work Sans"/>
              </a:rPr>
              <a:t>Na prática!</a:t>
            </a:r>
            <a:endParaRPr b="1" i="0" sz="5300" u="none" cap="none" strike="noStrike">
              <a:solidFill>
                <a:srgbClr val="6AD36A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44" name="Google Shape;244;g36c441a8e93_0_7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9461" y="2656444"/>
            <a:ext cx="1285498" cy="1124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D67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93037809d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479" y="343300"/>
            <a:ext cx="245033" cy="1384699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93037809d4_1_0"/>
          <p:cNvSpPr txBox="1"/>
          <p:nvPr/>
        </p:nvSpPr>
        <p:spPr>
          <a:xfrm>
            <a:off x="562425" y="292625"/>
            <a:ext cx="710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pt-BR" sz="4200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FLUXO DO CS </a:t>
            </a:r>
            <a:r>
              <a:rPr lang="pt-BR" sz="1200">
                <a:solidFill>
                  <a:srgbClr val="2E3C50"/>
                </a:solidFill>
                <a:latin typeface="Work Sans"/>
                <a:ea typeface="Work Sans"/>
                <a:cs typeface="Work Sans"/>
                <a:sym typeface="Work Sans"/>
              </a:rPr>
              <a:t>  </a:t>
            </a:r>
            <a:endParaRPr i="0" sz="1200" u="none" cap="none" strike="noStrike">
              <a:solidFill>
                <a:srgbClr val="E8E08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51" name="Google Shape;251;g393037809d4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9156" y="6396779"/>
            <a:ext cx="356400" cy="3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93037809d4_1_0" title="Fluxo Clube de Gestã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722998"/>
            <a:ext cx="12192000" cy="3816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g362c5fd95d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7700" y="0"/>
            <a:ext cx="12361701" cy="6912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62c5fd95d3_0_0" title="url_qrcodecreator.com_15_12_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7075" y="1678675"/>
            <a:ext cx="1795574" cy="179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2022-11-02T21:58:15Z</dcterms:created>
  <dc:creator>Diorge Lucas da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0x01010026558B1770FFE24ABFE753F6BD619B1D</vt:lpwstr>
  </property>
</Properties>
</file>