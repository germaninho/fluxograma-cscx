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  <p:sldMasterId id="2147483681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4630400" cy="8229600"/>
  <p:notesSz cx="8229600" cy="14630400"/>
  <p:embeddedFontLst>
    <p:embeddedFont>
      <p:font typeface="Hanken Grotesk" panose="020B0604020202020204" charset="0"/>
      <p:regular r:id="rId20"/>
      <p:bold r:id="rId21"/>
      <p:italic r:id="rId22"/>
      <p:boldItalic r:id="rId23"/>
    </p:embeddedFont>
    <p:embeddedFont>
      <p:font typeface="Hanken Grotesk Light" panose="020B0604020202020204" charset="0"/>
      <p:regular r:id="rId24"/>
      <p:bold r:id="rId25"/>
      <p:italic r:id="rId26"/>
      <p:boldItalic r:id="rId27"/>
    </p:embeddedFont>
    <p:embeddedFont>
      <p:font typeface="Poppins" panose="00000500000000000000" pitchFamily="2" charset="0"/>
      <p:regular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  <p:embeddedFont>
      <p:font typeface="Roboto Light" panose="02000000000000000000" pitchFamily="2" charset="0"/>
      <p:regular r:id="rId33"/>
      <p:bold r:id="rId34"/>
      <p:italic r:id="rId35"/>
      <p:boldItalic r:id="rId36"/>
    </p:embeddedFont>
    <p:embeddedFont>
      <p:font typeface="Work Sans" pitchFamily="2" charset="0"/>
      <p:regular r:id="rId37"/>
      <p:bold r:id="rId38"/>
      <p:italic r:id="rId39"/>
      <p:boldItalic r:id="rId40"/>
    </p:embeddedFont>
    <p:embeddedFont>
      <p:font typeface="Work Sans ExtraBold" pitchFamily="2" charset="0"/>
      <p:bold r:id="rId41"/>
      <p:boldItalic r:id="rId42"/>
    </p:embeddedFont>
    <p:embeddedFont>
      <p:font typeface="Work Sans Light" pitchFamily="2" charset="0"/>
      <p:regular r:id="rId43"/>
      <p:bold r:id="rId44"/>
      <p:italic r:id="rId45"/>
      <p:boldItalic r:id="rId46"/>
    </p:embeddedFont>
    <p:embeddedFont>
      <p:font typeface="Work Sans Medium" pitchFamily="2" charset="0"/>
      <p:regular r:id="rId47"/>
      <p:bold r:id="rId48"/>
      <p:italic r:id="rId49"/>
      <p:boldItalic r:id="rId50"/>
    </p:embeddedFont>
    <p:embeddedFont>
      <p:font typeface="Work Sans SemiBold" pitchFamily="2" charset="0"/>
      <p:regular r:id="rId51"/>
      <p:bold r:id="rId52"/>
      <p:italic r:id="rId53"/>
      <p:boldItalic r:id="rId54"/>
    </p:embeddedFont>
    <p:embeddedFont>
      <p:font typeface="Work Sans Thin" pitchFamily="2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66">
          <p15:clr>
            <a:srgbClr val="747775"/>
          </p15:clr>
        </p15:guide>
        <p15:guide id="2" pos="6024">
          <p15:clr>
            <a:srgbClr val="747775"/>
          </p15:clr>
        </p15:guide>
        <p15:guide id="3" orient="horz" pos="1570">
          <p15:clr>
            <a:srgbClr val="747775"/>
          </p15:clr>
        </p15:guide>
        <p15:guide id="4" orient="horz" pos="72">
          <p15:clr>
            <a:srgbClr val="747775"/>
          </p15:clr>
        </p15:guide>
        <p15:guide id="5" orient="horz" pos="5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948" y="72"/>
      </p:cViewPr>
      <p:guideLst>
        <p:guide pos="466"/>
        <p:guide pos="6024"/>
        <p:guide orient="horz" pos="1570"/>
        <p:guide orient="horz" pos="72"/>
        <p:guide orient="horz" pos="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openxmlformats.org/officeDocument/2006/relationships/font" Target="fonts/font28.fntdata"/><Relationship Id="rId50" Type="http://schemas.openxmlformats.org/officeDocument/2006/relationships/font" Target="fonts/font31.fntdata"/><Relationship Id="rId55" Type="http://schemas.openxmlformats.org/officeDocument/2006/relationships/font" Target="fonts/font36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10.fntdata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font" Target="fonts/font26.fntdata"/><Relationship Id="rId53" Type="http://schemas.openxmlformats.org/officeDocument/2006/relationships/font" Target="fonts/font34.fntdata"/><Relationship Id="rId58" Type="http://schemas.openxmlformats.org/officeDocument/2006/relationships/font" Target="fonts/font39.fntdata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font" Target="fonts/font24.fntdata"/><Relationship Id="rId48" Type="http://schemas.openxmlformats.org/officeDocument/2006/relationships/font" Target="fonts/font29.fntdata"/><Relationship Id="rId56" Type="http://schemas.openxmlformats.org/officeDocument/2006/relationships/font" Target="fonts/font37.fntdata"/><Relationship Id="rId8" Type="http://schemas.openxmlformats.org/officeDocument/2006/relationships/slide" Target="slides/slide6.xml"/><Relationship Id="rId51" Type="http://schemas.openxmlformats.org/officeDocument/2006/relationships/font" Target="fonts/font32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font" Target="fonts/font27.fntdata"/><Relationship Id="rId59" Type="http://schemas.openxmlformats.org/officeDocument/2006/relationships/presProps" Target="presProps.xml"/><Relationship Id="rId20" Type="http://schemas.openxmlformats.org/officeDocument/2006/relationships/font" Target="fonts/font1.fntdata"/><Relationship Id="rId41" Type="http://schemas.openxmlformats.org/officeDocument/2006/relationships/font" Target="fonts/font22.fntdata"/><Relationship Id="rId54" Type="http://schemas.openxmlformats.org/officeDocument/2006/relationships/font" Target="fonts/font35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49" Type="http://schemas.openxmlformats.org/officeDocument/2006/relationships/font" Target="fonts/font30.fntdata"/><Relationship Id="rId57" Type="http://schemas.openxmlformats.org/officeDocument/2006/relationships/font" Target="fonts/font38.fntdata"/><Relationship Id="rId10" Type="http://schemas.openxmlformats.org/officeDocument/2006/relationships/slide" Target="slides/slide8.xml"/><Relationship Id="rId31" Type="http://schemas.openxmlformats.org/officeDocument/2006/relationships/font" Target="fonts/font12.fntdata"/><Relationship Id="rId44" Type="http://schemas.openxmlformats.org/officeDocument/2006/relationships/font" Target="fonts/font25.fntdata"/><Relationship Id="rId52" Type="http://schemas.openxmlformats.org/officeDocument/2006/relationships/font" Target="fonts/font33.fntdata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‹nº›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59fbca9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959fbca9e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959fbca9e1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6c006f38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6c006f38c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386c006f38c_0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f532ede8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560" y="1097280"/>
            <a:ext cx="73152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f532ede81_1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bb941c788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cbb941c788_0_2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cbb941c788_0_2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59fbca9e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959fbca9e1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3959fbca9e1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959fbca9e1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959fbca9e1_0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3959fbca9e1_0_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959fbca9e1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959fbca9e1_0_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3959fbca9e1_0_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59fbca9e1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959fbca9e1_0_1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3959fbca9e1_0_1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59fbca9e1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959fbca9e1_0_2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3959fbca9e1_0_2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cca840fe72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cca840fe72_0_1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3cca840fe72_0_1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86d572d345_1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86d572d345_1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g386d572d345_1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cca840fe72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cca840fe72_0_1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g3cca840fe72_0_1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cca840fe72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cca840fe72_0_2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g3cca840fe72_0_2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86d572d345_3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560" y="1097280"/>
            <a:ext cx="73152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86d572d345_3_71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cca840fe72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cca840fe72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g3cca840fe72_0_2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094a0398a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d094a0398a_0_3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3d094a0398a_0_3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30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EC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bg>
      <p:bgPr>
        <a:solidFill>
          <a:srgbClr val="00000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30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EC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bg>
      <p:bgPr>
        <a:solidFill>
          <a:srgbClr val="000000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30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EC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bg>
      <p:bgPr>
        <a:solidFill>
          <a:srgbClr val="00000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30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EC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bg>
      <p:bgPr>
        <a:solidFill>
          <a:srgbClr val="000000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30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EC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bg>
      <p:bgPr>
        <a:solidFill>
          <a:srgbClr val="000000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30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EC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bg>
      <p:bgPr>
        <a:solidFill>
          <a:srgbClr val="000000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30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EC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bg>
      <p:bgPr>
        <a:solidFill>
          <a:srgbClr val="000000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30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EC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bg>
      <p:bgPr>
        <a:solidFill>
          <a:srgbClr val="000000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30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EC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S">
  <p:cSld name="TITLE_AND_BODY_1_1_1">
    <p:bg>
      <p:bgPr>
        <a:solidFill>
          <a:srgbClr val="2E3C50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 SemiBold"/>
              <a:buChar char="●"/>
              <a:defRPr sz="22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○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■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●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○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■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●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○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■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>
            <a:lvl1pPr marL="457200" marR="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○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■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○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■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○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■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13555932" y="7461146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44" name="Google Shape;44;p13" title="Logo Sankhya RH - Colo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84002" y="286558"/>
            <a:ext cx="1626537" cy="27082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3"/>
          <p:cNvSpPr/>
          <p:nvPr/>
        </p:nvSpPr>
        <p:spPr>
          <a:xfrm>
            <a:off x="-71268" y="-23760"/>
            <a:ext cx="14812200" cy="8312700"/>
          </a:xfrm>
          <a:prstGeom prst="rect">
            <a:avLst/>
          </a:prstGeom>
          <a:solidFill>
            <a:schemeClr val="accent2"/>
          </a:solidFill>
          <a:ln w="203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25" tIns="109725" rIns="109725" bIns="109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" name="Google Shape;46;p13"/>
          <p:cNvCxnSpPr/>
          <p:nvPr/>
        </p:nvCxnSpPr>
        <p:spPr>
          <a:xfrm>
            <a:off x="720000" y="-23400"/>
            <a:ext cx="0" cy="8299800"/>
          </a:xfrm>
          <a:prstGeom prst="straightConnector1">
            <a:avLst/>
          </a:prstGeom>
          <a:noFill/>
          <a:ln w="203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7" name="Google Shape;47;p13"/>
          <p:cNvGrpSpPr/>
          <p:nvPr/>
        </p:nvGrpSpPr>
        <p:grpSpPr>
          <a:xfrm rot="-5400000">
            <a:off x="-531800" y="368121"/>
            <a:ext cx="1805200" cy="379200"/>
            <a:chOff x="-282025" y="0"/>
            <a:chExt cx="1128250" cy="237000"/>
          </a:xfrm>
        </p:grpSpPr>
        <p:sp>
          <p:nvSpPr>
            <p:cNvPr id="48" name="Google Shape;48;p13"/>
            <p:cNvSpPr/>
            <p:nvPr/>
          </p:nvSpPr>
          <p:spPr>
            <a:xfrm>
              <a:off x="389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3"/>
            <p:cNvSpPr/>
            <p:nvPr/>
          </p:nvSpPr>
          <p:spPr>
            <a:xfrm>
              <a:off x="50200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3"/>
            <p:cNvSpPr/>
            <p:nvPr/>
          </p:nvSpPr>
          <p:spPr>
            <a:xfrm>
              <a:off x="-282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801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13555933" y="7461148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/>
          <p:nvPr/>
        </p:nvSpPr>
        <p:spPr>
          <a:xfrm>
            <a:off x="3810" y="3810"/>
            <a:ext cx="14622037" cy="8223394"/>
          </a:xfrm>
          <a:custGeom>
            <a:avLst/>
            <a:gdLst/>
            <a:ahLst/>
            <a:cxnLst/>
            <a:rect l="l" t="t" r="r" b="b"/>
            <a:pathLst>
              <a:path w="20099020" h="11303635" extrusionOk="0">
                <a:moveTo>
                  <a:pt x="20098864" y="0"/>
                </a:moveTo>
                <a:lnTo>
                  <a:pt x="0" y="0"/>
                </a:lnTo>
                <a:lnTo>
                  <a:pt x="0" y="11303320"/>
                </a:lnTo>
                <a:lnTo>
                  <a:pt x="20098864" y="11303320"/>
                </a:lnTo>
                <a:lnTo>
                  <a:pt x="20098864" y="0"/>
                </a:lnTo>
                <a:close/>
              </a:path>
            </a:pathLst>
          </a:custGeom>
          <a:solidFill>
            <a:srgbClr val="233D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2299618" y="776017"/>
            <a:ext cx="7203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3700" b="0" i="0" u="none" strike="noStrike" cap="none">
                <a:solidFill>
                  <a:srgbClr val="233D5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731519" y="1892808"/>
            <a:ext cx="13167300" cy="5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ftr" idx="11"/>
          </p:nvPr>
        </p:nvSpPr>
        <p:spPr>
          <a:xfrm>
            <a:off x="4974336" y="7653528"/>
            <a:ext cx="46815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731519" y="7653528"/>
            <a:ext cx="33648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533888" y="7653528"/>
            <a:ext cx="33648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zio - Cinza" type="title">
  <p:cSld name="TITLE">
    <p:bg>
      <p:bgPr>
        <a:solidFill>
          <a:srgbClr val="EDEDED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13555932" y="7461146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62" name="Google Shape;62;p16" title="Logo Sankhya RH - Colo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84002" y="286558"/>
            <a:ext cx="1626537" cy="270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16"/>
          <p:cNvCxnSpPr/>
          <p:nvPr/>
        </p:nvCxnSpPr>
        <p:spPr>
          <a:xfrm>
            <a:off x="720000" y="-23400"/>
            <a:ext cx="0" cy="8299800"/>
          </a:xfrm>
          <a:prstGeom prst="straightConnector1">
            <a:avLst/>
          </a:prstGeom>
          <a:noFill/>
          <a:ln w="203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4" name="Google Shape;64;p16"/>
          <p:cNvGrpSpPr/>
          <p:nvPr/>
        </p:nvGrpSpPr>
        <p:grpSpPr>
          <a:xfrm rot="-5400000">
            <a:off x="-531800" y="368121"/>
            <a:ext cx="1805200" cy="379200"/>
            <a:chOff x="-282025" y="0"/>
            <a:chExt cx="1128250" cy="237000"/>
          </a:xfrm>
        </p:grpSpPr>
        <p:sp>
          <p:nvSpPr>
            <p:cNvPr id="65" name="Google Shape;65;p16"/>
            <p:cNvSpPr/>
            <p:nvPr/>
          </p:nvSpPr>
          <p:spPr>
            <a:xfrm>
              <a:off x="389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6"/>
            <p:cNvSpPr/>
            <p:nvPr/>
          </p:nvSpPr>
          <p:spPr>
            <a:xfrm>
              <a:off x="50200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6"/>
            <p:cNvSpPr/>
            <p:nvPr/>
          </p:nvSpPr>
          <p:spPr>
            <a:xfrm>
              <a:off x="-282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">
  <p:cSld name="TITLE_2">
    <p:bg>
      <p:bgPr>
        <a:solidFill>
          <a:srgbClr val="EDEDED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13555932" y="7461146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70" name="Google Shape;70;p17" title="Logo Sankhya RH - Colo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84002" y="286558"/>
            <a:ext cx="1626537" cy="270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17"/>
          <p:cNvCxnSpPr/>
          <p:nvPr/>
        </p:nvCxnSpPr>
        <p:spPr>
          <a:xfrm>
            <a:off x="720000" y="-23400"/>
            <a:ext cx="0" cy="8299800"/>
          </a:xfrm>
          <a:prstGeom prst="straightConnector1">
            <a:avLst/>
          </a:prstGeom>
          <a:noFill/>
          <a:ln w="203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2" name="Google Shape;72;p17"/>
          <p:cNvGrpSpPr/>
          <p:nvPr/>
        </p:nvGrpSpPr>
        <p:grpSpPr>
          <a:xfrm rot="-5400000">
            <a:off x="-531800" y="368121"/>
            <a:ext cx="1805200" cy="379200"/>
            <a:chOff x="-282025" y="0"/>
            <a:chExt cx="1128250" cy="237000"/>
          </a:xfrm>
        </p:grpSpPr>
        <p:sp>
          <p:nvSpPr>
            <p:cNvPr id="73" name="Google Shape;73;p17"/>
            <p:cNvSpPr/>
            <p:nvPr/>
          </p:nvSpPr>
          <p:spPr>
            <a:xfrm>
              <a:off x="389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50200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-282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801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">
  <p:cSld name="TITLE_2_1"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8"/>
          <p:cNvCxnSpPr/>
          <p:nvPr/>
        </p:nvCxnSpPr>
        <p:spPr>
          <a:xfrm>
            <a:off x="720000" y="-23400"/>
            <a:ext cx="0" cy="8299800"/>
          </a:xfrm>
          <a:prstGeom prst="straightConnector1">
            <a:avLst/>
          </a:prstGeom>
          <a:noFill/>
          <a:ln w="203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8" name="Google Shape;78;p18"/>
          <p:cNvGrpSpPr/>
          <p:nvPr/>
        </p:nvGrpSpPr>
        <p:grpSpPr>
          <a:xfrm rot="-5400000">
            <a:off x="-531800" y="368121"/>
            <a:ext cx="1805200" cy="379200"/>
            <a:chOff x="-282025" y="0"/>
            <a:chExt cx="1128250" cy="237000"/>
          </a:xfrm>
        </p:grpSpPr>
        <p:sp>
          <p:nvSpPr>
            <p:cNvPr id="79" name="Google Shape;79;p18"/>
            <p:cNvSpPr/>
            <p:nvPr/>
          </p:nvSpPr>
          <p:spPr>
            <a:xfrm>
              <a:off x="389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8"/>
            <p:cNvSpPr/>
            <p:nvPr/>
          </p:nvSpPr>
          <p:spPr>
            <a:xfrm>
              <a:off x="50200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8"/>
            <p:cNvSpPr/>
            <p:nvPr/>
          </p:nvSpPr>
          <p:spPr>
            <a:xfrm>
              <a:off x="-282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18"/>
          <p:cNvSpPr txBox="1"/>
          <p:nvPr/>
        </p:nvSpPr>
        <p:spPr>
          <a:xfrm rot="-5400000">
            <a:off x="-609067" y="6664460"/>
            <a:ext cx="18888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50" tIns="9925" rIns="19850" bIns="9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chemeClr val="accent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JULHO/2025</a:t>
            </a:r>
            <a:endParaRPr sz="1300" b="0" i="0" u="none" strike="noStrike" cap="none">
              <a:solidFill>
                <a:schemeClr val="accent2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83" name="Google Shape;83;p18"/>
          <p:cNvSpPr txBox="1"/>
          <p:nvPr/>
        </p:nvSpPr>
        <p:spPr>
          <a:xfrm rot="-5400000">
            <a:off x="-1464689" y="4544195"/>
            <a:ext cx="36000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109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  <a:t>Workshop Comercial || </a:t>
            </a:r>
            <a:r>
              <a:rPr lang="en-US" sz="1300" b="0" i="0" u="none" strike="noStrike" cap="none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  <a:t>Sankhya RH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8" title="Logo Sankhya RH - Colo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84002" y="286558"/>
            <a:ext cx="1626537" cy="27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801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" type="tx">
  <p:cSld name="TITLE_AND_BODY">
    <p:bg>
      <p:bgPr>
        <a:solidFill>
          <a:srgbClr val="EDEDED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/>
          <p:nvPr/>
        </p:nvSpPr>
        <p:spPr>
          <a:xfrm>
            <a:off x="-21280" y="0"/>
            <a:ext cx="735300" cy="8258400"/>
          </a:xfrm>
          <a:prstGeom prst="rect">
            <a:avLst/>
          </a:prstGeom>
          <a:solidFill>
            <a:srgbClr val="2E3C50"/>
          </a:solidFill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9" title="Logo Sankhya RH - Colo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84002" y="286558"/>
            <a:ext cx="1626537" cy="27082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13555932" y="7461146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cxnSp>
        <p:nvCxnSpPr>
          <p:cNvPr id="89" name="Google Shape;89;p19"/>
          <p:cNvCxnSpPr/>
          <p:nvPr/>
        </p:nvCxnSpPr>
        <p:spPr>
          <a:xfrm>
            <a:off x="720000" y="-23400"/>
            <a:ext cx="0" cy="8299800"/>
          </a:xfrm>
          <a:prstGeom prst="straightConnector1">
            <a:avLst/>
          </a:prstGeom>
          <a:noFill/>
          <a:ln w="203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0" name="Google Shape;90;p19"/>
          <p:cNvGrpSpPr/>
          <p:nvPr/>
        </p:nvGrpSpPr>
        <p:grpSpPr>
          <a:xfrm rot="-5400000">
            <a:off x="-531800" y="368121"/>
            <a:ext cx="1805200" cy="379200"/>
            <a:chOff x="-282025" y="0"/>
            <a:chExt cx="1128250" cy="237000"/>
          </a:xfrm>
        </p:grpSpPr>
        <p:sp>
          <p:nvSpPr>
            <p:cNvPr id="91" name="Google Shape;91;p19"/>
            <p:cNvSpPr/>
            <p:nvPr/>
          </p:nvSpPr>
          <p:spPr>
            <a:xfrm>
              <a:off x="389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9"/>
            <p:cNvSpPr/>
            <p:nvPr/>
          </p:nvSpPr>
          <p:spPr>
            <a:xfrm>
              <a:off x="50200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9"/>
            <p:cNvSpPr/>
            <p:nvPr/>
          </p:nvSpPr>
          <p:spPr>
            <a:xfrm>
              <a:off x="-282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19"/>
          <p:cNvSpPr txBox="1"/>
          <p:nvPr/>
        </p:nvSpPr>
        <p:spPr>
          <a:xfrm rot="-5400000">
            <a:off x="-609067" y="6664460"/>
            <a:ext cx="18888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50" tIns="9925" rIns="19850" bIns="9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JULHO/2025</a:t>
            </a:r>
            <a:endParaRPr sz="1300" b="0" i="0" u="none" strike="noStrike" cap="non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5" name="Google Shape;95;p19"/>
          <p:cNvSpPr txBox="1"/>
          <p:nvPr/>
        </p:nvSpPr>
        <p:spPr>
          <a:xfrm rot="-5400000">
            <a:off x="-1464689" y="4544195"/>
            <a:ext cx="36000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109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  <a:t>Workshop Comercial || </a:t>
            </a:r>
            <a:r>
              <a:rPr lang="en-US" sz="1300" b="0" i="0" u="none" strike="noStrike" cap="none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  <a:t>Sankhya RH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9" title="A5383 -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6550" y="-28800"/>
            <a:ext cx="15115464" cy="825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">
  <p:cSld name="TITLE_AND_BODY_2">
    <p:bg>
      <p:bgPr>
        <a:solidFill>
          <a:srgbClr val="EDEDED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/>
          <p:nvPr/>
        </p:nvSpPr>
        <p:spPr>
          <a:xfrm>
            <a:off x="-10477" y="-28800"/>
            <a:ext cx="14651400" cy="8258400"/>
          </a:xfrm>
          <a:prstGeom prst="rect">
            <a:avLst/>
          </a:prstGeom>
          <a:solidFill>
            <a:srgbClr val="2E3C50"/>
          </a:solidFill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13555932" y="7461146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100" name="Google Shape;100;p20" title="Logo Sankhya RH - Branco.png"/>
          <p:cNvPicPr preferRelativeResize="0"/>
          <p:nvPr/>
        </p:nvPicPr>
        <p:blipFill rotWithShape="1">
          <a:blip r:embed="rId2">
            <a:alphaModFix/>
          </a:blip>
          <a:srcRect l="-4191" r="-1640"/>
          <a:stretch/>
        </p:blipFill>
        <p:spPr>
          <a:xfrm>
            <a:off x="12284160" y="268484"/>
            <a:ext cx="1905838" cy="29987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/>
          <p:nvPr/>
        </p:nvSpPr>
        <p:spPr>
          <a:xfrm>
            <a:off x="-43520" y="0"/>
            <a:ext cx="735300" cy="8258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p20"/>
          <p:cNvGrpSpPr/>
          <p:nvPr/>
        </p:nvGrpSpPr>
        <p:grpSpPr>
          <a:xfrm rot="-5400000">
            <a:off x="-531800" y="368121"/>
            <a:ext cx="1805200" cy="379200"/>
            <a:chOff x="-282025" y="0"/>
            <a:chExt cx="1128250" cy="237000"/>
          </a:xfrm>
        </p:grpSpPr>
        <p:sp>
          <p:nvSpPr>
            <p:cNvPr id="103" name="Google Shape;103;p20"/>
            <p:cNvSpPr/>
            <p:nvPr/>
          </p:nvSpPr>
          <p:spPr>
            <a:xfrm>
              <a:off x="389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0"/>
            <p:cNvSpPr/>
            <p:nvPr/>
          </p:nvSpPr>
          <p:spPr>
            <a:xfrm>
              <a:off x="50200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0"/>
            <p:cNvSpPr/>
            <p:nvPr/>
          </p:nvSpPr>
          <p:spPr>
            <a:xfrm>
              <a:off x="-282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20"/>
          <p:cNvSpPr txBox="1"/>
          <p:nvPr/>
        </p:nvSpPr>
        <p:spPr>
          <a:xfrm rot="-5400000">
            <a:off x="-609067" y="6664460"/>
            <a:ext cx="18888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50" tIns="9925" rIns="19850" bIns="9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chemeClr val="accent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JULHO/2025</a:t>
            </a:r>
            <a:endParaRPr sz="1300" b="0" i="0" u="none" strike="noStrike" cap="none">
              <a:solidFill>
                <a:schemeClr val="accent2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 rot="-5400000">
            <a:off x="-1464689" y="4544195"/>
            <a:ext cx="36000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109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  <a:t>Workshop Comercial || </a:t>
            </a:r>
            <a:r>
              <a:rPr lang="en-US" sz="1300" b="0" i="0" u="none" strike="noStrike" cap="none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  <a:t>Sankhya RH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">
          <p15:clr>
            <a:srgbClr val="E46962"/>
          </p15:clr>
        </p15:guide>
        <p15:guide id="2" pos="7801">
          <p15:clr>
            <a:srgbClr val="E46962"/>
          </p15:clr>
        </p15:guide>
        <p15:guide id="3" pos="8981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zio - Verde">
  <p:cSld name="TITLE_1">
    <p:bg>
      <p:bgPr>
        <a:solidFill>
          <a:srgbClr val="66CC66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sldNum" idx="12"/>
          </p:nvPr>
        </p:nvSpPr>
        <p:spPr>
          <a:xfrm>
            <a:off x="13555932" y="7461146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10" name="Google Shape;110;p21"/>
          <p:cNvSpPr/>
          <p:nvPr/>
        </p:nvSpPr>
        <p:spPr>
          <a:xfrm>
            <a:off x="-147600" y="-58560"/>
            <a:ext cx="14925600" cy="8288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" name="Google Shape;111;p21"/>
          <p:cNvCxnSpPr/>
          <p:nvPr/>
        </p:nvCxnSpPr>
        <p:spPr>
          <a:xfrm>
            <a:off x="720000" y="-23400"/>
            <a:ext cx="0" cy="8299800"/>
          </a:xfrm>
          <a:prstGeom prst="straightConnector1">
            <a:avLst/>
          </a:prstGeom>
          <a:noFill/>
          <a:ln w="20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2" name="Google Shape;112;p21"/>
          <p:cNvGrpSpPr/>
          <p:nvPr/>
        </p:nvGrpSpPr>
        <p:grpSpPr>
          <a:xfrm rot="-5400000">
            <a:off x="-531800" y="368121"/>
            <a:ext cx="1805200" cy="379200"/>
            <a:chOff x="-282025" y="0"/>
            <a:chExt cx="1128250" cy="237000"/>
          </a:xfrm>
        </p:grpSpPr>
        <p:sp>
          <p:nvSpPr>
            <p:cNvPr id="113" name="Google Shape;113;p21"/>
            <p:cNvSpPr/>
            <p:nvPr/>
          </p:nvSpPr>
          <p:spPr>
            <a:xfrm>
              <a:off x="389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1"/>
            <p:cNvSpPr/>
            <p:nvPr/>
          </p:nvSpPr>
          <p:spPr>
            <a:xfrm>
              <a:off x="50200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1"/>
            <p:cNvSpPr/>
            <p:nvPr/>
          </p:nvSpPr>
          <p:spPr>
            <a:xfrm>
              <a:off x="-282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6" name="Google Shape;116;p21" title="Logo Sankhya RH - Branco.png"/>
          <p:cNvPicPr preferRelativeResize="0"/>
          <p:nvPr/>
        </p:nvPicPr>
        <p:blipFill rotWithShape="1">
          <a:blip r:embed="rId2">
            <a:alphaModFix/>
          </a:blip>
          <a:srcRect l="-4191" r="-1640"/>
          <a:stretch/>
        </p:blipFill>
        <p:spPr>
          <a:xfrm>
            <a:off x="12284160" y="268484"/>
            <a:ext cx="1905838" cy="29987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 rot="-5400000">
            <a:off x="-609067" y="6664460"/>
            <a:ext cx="18888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50" tIns="9925" rIns="19850" bIns="9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JULHO/2025</a:t>
            </a:r>
            <a:endParaRPr sz="1300" b="0" i="0" u="none" strike="noStrike" cap="non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 rot="-5400000">
            <a:off x="-1464689" y="4544195"/>
            <a:ext cx="36000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109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Workshop Comercial || </a:t>
            </a:r>
            <a:r>
              <a:rPr lang="en-US" sz="13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Sankhya RH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zio - Verde 1">
  <p:cSld name="TITLE_1_2">
    <p:bg>
      <p:bgPr>
        <a:solidFill>
          <a:srgbClr val="66CC66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xfrm>
            <a:off x="13555932" y="7461146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21" name="Google Shape;121;p22"/>
          <p:cNvSpPr/>
          <p:nvPr/>
        </p:nvSpPr>
        <p:spPr>
          <a:xfrm>
            <a:off x="-147600" y="-58560"/>
            <a:ext cx="14925600" cy="8288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" name="Google Shape;122;p22"/>
          <p:cNvCxnSpPr/>
          <p:nvPr/>
        </p:nvCxnSpPr>
        <p:spPr>
          <a:xfrm>
            <a:off x="720000" y="-23400"/>
            <a:ext cx="0" cy="8299800"/>
          </a:xfrm>
          <a:prstGeom prst="straightConnector1">
            <a:avLst/>
          </a:prstGeom>
          <a:noFill/>
          <a:ln w="20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3" name="Google Shape;123;p22"/>
          <p:cNvGrpSpPr/>
          <p:nvPr/>
        </p:nvGrpSpPr>
        <p:grpSpPr>
          <a:xfrm rot="-5400000">
            <a:off x="-531800" y="368121"/>
            <a:ext cx="1805200" cy="379200"/>
            <a:chOff x="-282025" y="0"/>
            <a:chExt cx="1128250" cy="237000"/>
          </a:xfrm>
        </p:grpSpPr>
        <p:sp>
          <p:nvSpPr>
            <p:cNvPr id="124" name="Google Shape;124;p22"/>
            <p:cNvSpPr/>
            <p:nvPr/>
          </p:nvSpPr>
          <p:spPr>
            <a:xfrm>
              <a:off x="389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2"/>
            <p:cNvSpPr/>
            <p:nvPr/>
          </p:nvSpPr>
          <p:spPr>
            <a:xfrm>
              <a:off x="50200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2"/>
            <p:cNvSpPr/>
            <p:nvPr/>
          </p:nvSpPr>
          <p:spPr>
            <a:xfrm>
              <a:off x="-282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7" name="Google Shape;127;p22" title="Logo Sankhya RH - Colo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84002" y="286558"/>
            <a:ext cx="1626537" cy="27082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 rot="-5400000">
            <a:off x="-609067" y="6664460"/>
            <a:ext cx="18888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50" tIns="9925" rIns="19850" bIns="9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chemeClr val="accent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JULHO/2025</a:t>
            </a:r>
            <a:endParaRPr sz="1300" b="0" i="0" u="none" strike="noStrike" cap="none">
              <a:solidFill>
                <a:schemeClr val="accent2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 rot="-5400000">
            <a:off x="-1464689" y="4544195"/>
            <a:ext cx="36000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109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accent2"/>
                </a:solidFill>
                <a:latin typeface="Work Sans"/>
                <a:ea typeface="Work Sans"/>
                <a:cs typeface="Work Sans"/>
                <a:sym typeface="Work Sans"/>
              </a:rPr>
              <a:t>Workshop Comercial || </a:t>
            </a:r>
            <a:r>
              <a:rPr lang="en-US" sz="1300" b="0" i="0" u="none" strike="noStrike" cap="none">
                <a:solidFill>
                  <a:schemeClr val="accent2"/>
                </a:solidFill>
                <a:latin typeface="Work Sans"/>
                <a:ea typeface="Work Sans"/>
                <a:cs typeface="Work Sans"/>
                <a:sym typeface="Work Sans"/>
              </a:rPr>
              <a:t>Sankhya RH</a:t>
            </a:r>
            <a:endParaRPr sz="18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zio - Verde 1 2">
  <p:cSld name="TITLE_1_2_2">
    <p:bg>
      <p:bgPr>
        <a:solidFill>
          <a:srgbClr val="66CC66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sldNum" idx="12"/>
          </p:nvPr>
        </p:nvSpPr>
        <p:spPr>
          <a:xfrm>
            <a:off x="13555932" y="7461146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32" name="Google Shape;132;p23"/>
          <p:cNvSpPr/>
          <p:nvPr/>
        </p:nvSpPr>
        <p:spPr>
          <a:xfrm>
            <a:off x="-147600" y="-58560"/>
            <a:ext cx="14925600" cy="8288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3" name="Google Shape;133;p23" title="Logo Sankhya RH - Colo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84002" y="286558"/>
            <a:ext cx="1626537" cy="270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p23"/>
          <p:cNvCxnSpPr/>
          <p:nvPr/>
        </p:nvCxnSpPr>
        <p:spPr>
          <a:xfrm>
            <a:off x="720000" y="-23400"/>
            <a:ext cx="0" cy="8299800"/>
          </a:xfrm>
          <a:prstGeom prst="straightConnector1">
            <a:avLst/>
          </a:prstGeom>
          <a:noFill/>
          <a:ln w="203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5" name="Google Shape;135;p23"/>
          <p:cNvGrpSpPr/>
          <p:nvPr/>
        </p:nvGrpSpPr>
        <p:grpSpPr>
          <a:xfrm rot="-5400000">
            <a:off x="-531800" y="368121"/>
            <a:ext cx="1805200" cy="379200"/>
            <a:chOff x="-282025" y="0"/>
            <a:chExt cx="1128250" cy="237000"/>
          </a:xfrm>
        </p:grpSpPr>
        <p:sp>
          <p:nvSpPr>
            <p:cNvPr id="136" name="Google Shape;136;p23"/>
            <p:cNvSpPr/>
            <p:nvPr/>
          </p:nvSpPr>
          <p:spPr>
            <a:xfrm>
              <a:off x="389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3"/>
            <p:cNvSpPr/>
            <p:nvPr/>
          </p:nvSpPr>
          <p:spPr>
            <a:xfrm>
              <a:off x="50200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3"/>
            <p:cNvSpPr/>
            <p:nvPr/>
          </p:nvSpPr>
          <p:spPr>
            <a:xfrm>
              <a:off x="-282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23"/>
          <p:cNvSpPr txBox="1"/>
          <p:nvPr/>
        </p:nvSpPr>
        <p:spPr>
          <a:xfrm rot="-5400000">
            <a:off x="-609067" y="6664460"/>
            <a:ext cx="18888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50" tIns="9925" rIns="19850" bIns="9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chemeClr val="accent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JULHO/2025</a:t>
            </a:r>
            <a:endParaRPr sz="1300" b="0" i="0" u="none" strike="noStrike" cap="none">
              <a:solidFill>
                <a:schemeClr val="accent2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 rot="-5400000">
            <a:off x="-1464689" y="4544195"/>
            <a:ext cx="36000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109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accent2"/>
                </a:solidFill>
                <a:latin typeface="Work Sans"/>
                <a:ea typeface="Work Sans"/>
                <a:cs typeface="Work Sans"/>
                <a:sym typeface="Work Sans"/>
              </a:rPr>
              <a:t>Workshop Comercial || </a:t>
            </a:r>
            <a:r>
              <a:rPr lang="en-US" sz="1300" b="0" i="0" u="none" strike="noStrike" cap="none">
                <a:solidFill>
                  <a:schemeClr val="accent2"/>
                </a:solidFill>
                <a:latin typeface="Work Sans"/>
                <a:ea typeface="Work Sans"/>
                <a:cs typeface="Work Sans"/>
                <a:sym typeface="Work Sans"/>
              </a:rPr>
              <a:t>Sankhya RH</a:t>
            </a:r>
            <a:endParaRPr sz="18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zio - Verde 1 1">
  <p:cSld name="TITLE_1_2_1">
    <p:bg>
      <p:bgPr>
        <a:solidFill>
          <a:srgbClr val="66CC66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13555932" y="7461146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43" name="Google Shape;143;p24"/>
          <p:cNvSpPr/>
          <p:nvPr/>
        </p:nvSpPr>
        <p:spPr>
          <a:xfrm>
            <a:off x="-147600" y="-58560"/>
            <a:ext cx="14925600" cy="828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" name="Google Shape;144;p24"/>
          <p:cNvCxnSpPr/>
          <p:nvPr/>
        </p:nvCxnSpPr>
        <p:spPr>
          <a:xfrm>
            <a:off x="720000" y="-23400"/>
            <a:ext cx="0" cy="8299800"/>
          </a:xfrm>
          <a:prstGeom prst="straightConnector1">
            <a:avLst/>
          </a:prstGeom>
          <a:noFill/>
          <a:ln w="20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5" name="Google Shape;145;p24"/>
          <p:cNvGrpSpPr/>
          <p:nvPr/>
        </p:nvGrpSpPr>
        <p:grpSpPr>
          <a:xfrm rot="-5400000">
            <a:off x="-531800" y="368121"/>
            <a:ext cx="1805200" cy="379200"/>
            <a:chOff x="-282025" y="0"/>
            <a:chExt cx="1128250" cy="237000"/>
          </a:xfrm>
        </p:grpSpPr>
        <p:sp>
          <p:nvSpPr>
            <p:cNvPr id="146" name="Google Shape;146;p24"/>
            <p:cNvSpPr/>
            <p:nvPr/>
          </p:nvSpPr>
          <p:spPr>
            <a:xfrm>
              <a:off x="389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highlight>
                  <a:schemeClr val="accent3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4"/>
            <p:cNvSpPr/>
            <p:nvPr/>
          </p:nvSpPr>
          <p:spPr>
            <a:xfrm>
              <a:off x="50200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highlight>
                  <a:schemeClr val="accent3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4"/>
            <p:cNvSpPr/>
            <p:nvPr/>
          </p:nvSpPr>
          <p:spPr>
            <a:xfrm>
              <a:off x="-282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highlight>
                  <a:schemeClr val="accent3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9" name="Google Shape;149;p24" title="Logo Sankhya RH - Branco.png"/>
          <p:cNvPicPr preferRelativeResize="0"/>
          <p:nvPr/>
        </p:nvPicPr>
        <p:blipFill rotWithShape="1">
          <a:blip r:embed="rId2">
            <a:alphaModFix/>
          </a:blip>
          <a:srcRect l="-4191" r="-1640"/>
          <a:stretch/>
        </p:blipFill>
        <p:spPr>
          <a:xfrm>
            <a:off x="12284160" y="268484"/>
            <a:ext cx="1905838" cy="2998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24"/>
          <p:cNvCxnSpPr/>
          <p:nvPr/>
        </p:nvCxnSpPr>
        <p:spPr>
          <a:xfrm>
            <a:off x="720000" y="-23400"/>
            <a:ext cx="0" cy="8299800"/>
          </a:xfrm>
          <a:prstGeom prst="straightConnector1">
            <a:avLst/>
          </a:prstGeom>
          <a:noFill/>
          <a:ln w="203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" name="Google Shape;151;p24"/>
          <p:cNvSpPr txBox="1"/>
          <p:nvPr/>
        </p:nvSpPr>
        <p:spPr>
          <a:xfrm rot="-5400000">
            <a:off x="-609067" y="6664460"/>
            <a:ext cx="18888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50" tIns="9925" rIns="19850" bIns="9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chemeClr val="accent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JULHO/2025</a:t>
            </a:r>
            <a:endParaRPr sz="1300" b="0" i="0" u="none" strike="noStrike" cap="none">
              <a:solidFill>
                <a:schemeClr val="accent2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 rot="-5400000">
            <a:off x="-1464689" y="4544195"/>
            <a:ext cx="36000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109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Workshop Comercial || </a:t>
            </a:r>
            <a:r>
              <a:rPr lang="en-US" sz="13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Sankhya RH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zio - Azul">
  <p:cSld name="TITLE_1_1">
    <p:bg>
      <p:bgPr>
        <a:solidFill>
          <a:srgbClr val="2E3C50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>
            <a:spLocks noGrp="1"/>
          </p:cNvSpPr>
          <p:nvPr>
            <p:ph type="sldNum" idx="12"/>
          </p:nvPr>
        </p:nvSpPr>
        <p:spPr>
          <a:xfrm>
            <a:off x="13555932" y="7461146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155" name="Google Shape;155;p25" title="Logo Sankhya RH - Branco.png"/>
          <p:cNvPicPr preferRelativeResize="0"/>
          <p:nvPr/>
        </p:nvPicPr>
        <p:blipFill rotWithShape="1">
          <a:blip r:embed="rId2">
            <a:alphaModFix/>
          </a:blip>
          <a:srcRect l="-4191" r="-1640"/>
          <a:stretch/>
        </p:blipFill>
        <p:spPr>
          <a:xfrm>
            <a:off x="12284160" y="268484"/>
            <a:ext cx="1905838" cy="2998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25"/>
          <p:cNvCxnSpPr/>
          <p:nvPr/>
        </p:nvCxnSpPr>
        <p:spPr>
          <a:xfrm>
            <a:off x="720000" y="-23400"/>
            <a:ext cx="0" cy="8299800"/>
          </a:xfrm>
          <a:prstGeom prst="straightConnector1">
            <a:avLst/>
          </a:prstGeom>
          <a:noFill/>
          <a:ln w="203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57" name="Google Shape;157;p25"/>
          <p:cNvGrpSpPr/>
          <p:nvPr/>
        </p:nvGrpSpPr>
        <p:grpSpPr>
          <a:xfrm rot="-5400000">
            <a:off x="-531800" y="368121"/>
            <a:ext cx="1805200" cy="379200"/>
            <a:chOff x="-282025" y="0"/>
            <a:chExt cx="1128250" cy="237000"/>
          </a:xfrm>
        </p:grpSpPr>
        <p:sp>
          <p:nvSpPr>
            <p:cNvPr id="158" name="Google Shape;158;p25"/>
            <p:cNvSpPr/>
            <p:nvPr/>
          </p:nvSpPr>
          <p:spPr>
            <a:xfrm>
              <a:off x="389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5"/>
            <p:cNvSpPr/>
            <p:nvPr/>
          </p:nvSpPr>
          <p:spPr>
            <a:xfrm>
              <a:off x="50200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5"/>
            <p:cNvSpPr/>
            <p:nvPr/>
          </p:nvSpPr>
          <p:spPr>
            <a:xfrm>
              <a:off x="-282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0 branco">
  <p:cSld name="TITLE_AND_BODY_1_1_1_1">
    <p:bg>
      <p:bgPr>
        <a:solidFill>
          <a:srgbClr val="2E3C50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>
            <a:spLocks noGrp="1"/>
          </p:cNvSpPr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 SemiBold"/>
              <a:buChar char="●"/>
              <a:defRPr sz="22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○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■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●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○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■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●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○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■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body" idx="1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>
            <a:lvl1pPr marL="457200" marR="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○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■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○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■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○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■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64" name="Google Shape;164;p26"/>
          <p:cNvSpPr txBox="1">
            <a:spLocks noGrp="1"/>
          </p:cNvSpPr>
          <p:nvPr>
            <p:ph type="sldNum" idx="12"/>
          </p:nvPr>
        </p:nvSpPr>
        <p:spPr>
          <a:xfrm>
            <a:off x="13555932" y="7461146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165" name="Google Shape;165;p26" title="Logo Sankhya RH - Colo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84002" y="286558"/>
            <a:ext cx="1626537" cy="27082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6"/>
          <p:cNvSpPr/>
          <p:nvPr/>
        </p:nvSpPr>
        <p:spPr>
          <a:xfrm>
            <a:off x="-71268" y="-23760"/>
            <a:ext cx="14812200" cy="8312700"/>
          </a:xfrm>
          <a:prstGeom prst="rect">
            <a:avLst/>
          </a:prstGeom>
          <a:solidFill>
            <a:schemeClr val="lt1"/>
          </a:solidFill>
          <a:ln w="203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25" tIns="109725" rIns="109725" bIns="109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26" title="Logo Sankhya RH - Col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84002" y="286558"/>
            <a:ext cx="1626537" cy="27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801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0 cinza">
  <p:cSld name="TITLE_AND_BODY_1_1_1_1_1">
    <p:bg>
      <p:bgPr>
        <a:solidFill>
          <a:srgbClr val="2E3C50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>
            <a:spLocks noGrp="1"/>
          </p:cNvSpPr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 SemiBold"/>
              <a:buChar char="●"/>
              <a:defRPr sz="22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○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■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●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○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■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●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○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Work Sans"/>
              <a:buChar char="■"/>
              <a:defRPr sz="22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170" name="Google Shape;170;p27"/>
          <p:cNvSpPr txBox="1">
            <a:spLocks noGrp="1"/>
          </p:cNvSpPr>
          <p:nvPr>
            <p:ph type="body" idx="1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>
            <a:lvl1pPr marL="457200" marR="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○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■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○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■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○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■"/>
              <a:defRPr sz="2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1" name="Google Shape;171;p27"/>
          <p:cNvSpPr txBox="1">
            <a:spLocks noGrp="1"/>
          </p:cNvSpPr>
          <p:nvPr>
            <p:ph type="sldNum" idx="12"/>
          </p:nvPr>
        </p:nvSpPr>
        <p:spPr>
          <a:xfrm>
            <a:off x="13555932" y="7461146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172" name="Google Shape;172;p27" title="Logo Sankhya RH - Colo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84002" y="286558"/>
            <a:ext cx="1626537" cy="270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7"/>
          <p:cNvSpPr/>
          <p:nvPr/>
        </p:nvSpPr>
        <p:spPr>
          <a:xfrm>
            <a:off x="-71268" y="-23760"/>
            <a:ext cx="14812200" cy="8312700"/>
          </a:xfrm>
          <a:prstGeom prst="rect">
            <a:avLst/>
          </a:prstGeom>
          <a:solidFill>
            <a:srgbClr val="EDEDED"/>
          </a:solidFill>
          <a:ln w="203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25" tIns="109725" rIns="109725" bIns="109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4" name="Google Shape;174;p27" title="Logo Sankhya RH - Col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84002" y="286558"/>
            <a:ext cx="1626537" cy="27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801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zio - Verde 1 1 2">
  <p:cSld name="TITLE_1_2_1_2">
    <p:bg>
      <p:bgPr>
        <a:solidFill>
          <a:srgbClr val="66CC66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8" title="fundo telemedicina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453683" y="-23400"/>
            <a:ext cx="15662474" cy="8297719"/>
          </a:xfrm>
          <a:prstGeom prst="rect">
            <a:avLst/>
          </a:prstGeom>
          <a:solidFill>
            <a:srgbClr val="229FE0"/>
          </a:solidFill>
          <a:ln>
            <a:noFill/>
          </a:ln>
        </p:spPr>
      </p:pic>
      <p:pic>
        <p:nvPicPr>
          <p:cNvPr id="177" name="Google Shape;177;p28" title="Logo Sankhya RH - Branco.png"/>
          <p:cNvPicPr preferRelativeResize="0"/>
          <p:nvPr/>
        </p:nvPicPr>
        <p:blipFill rotWithShape="1">
          <a:blip r:embed="rId3">
            <a:alphaModFix/>
          </a:blip>
          <a:srcRect l="-4191" r="-1640"/>
          <a:stretch/>
        </p:blipFill>
        <p:spPr>
          <a:xfrm>
            <a:off x="12284160" y="268484"/>
            <a:ext cx="1905838" cy="2998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28"/>
          <p:cNvCxnSpPr/>
          <p:nvPr/>
        </p:nvCxnSpPr>
        <p:spPr>
          <a:xfrm>
            <a:off x="720000" y="-23400"/>
            <a:ext cx="0" cy="8299800"/>
          </a:xfrm>
          <a:prstGeom prst="straightConnector1">
            <a:avLst/>
          </a:prstGeom>
          <a:noFill/>
          <a:ln w="20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79" name="Google Shape;179;p28"/>
          <p:cNvGrpSpPr/>
          <p:nvPr/>
        </p:nvGrpSpPr>
        <p:grpSpPr>
          <a:xfrm rot="-5400000">
            <a:off x="-531800" y="368121"/>
            <a:ext cx="1805200" cy="379200"/>
            <a:chOff x="-282025" y="0"/>
            <a:chExt cx="1128250" cy="237000"/>
          </a:xfrm>
        </p:grpSpPr>
        <p:sp>
          <p:nvSpPr>
            <p:cNvPr id="180" name="Google Shape;180;p28"/>
            <p:cNvSpPr/>
            <p:nvPr/>
          </p:nvSpPr>
          <p:spPr>
            <a:xfrm>
              <a:off x="389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8"/>
            <p:cNvSpPr/>
            <p:nvPr/>
          </p:nvSpPr>
          <p:spPr>
            <a:xfrm>
              <a:off x="50200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8"/>
            <p:cNvSpPr/>
            <p:nvPr/>
          </p:nvSpPr>
          <p:spPr>
            <a:xfrm>
              <a:off x="-282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28"/>
          <p:cNvSpPr txBox="1"/>
          <p:nvPr/>
        </p:nvSpPr>
        <p:spPr>
          <a:xfrm rot="-5400000">
            <a:off x="-609067" y="6664460"/>
            <a:ext cx="18888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50" tIns="9925" rIns="19850" bIns="9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JULHO/2025</a:t>
            </a:r>
            <a:endParaRPr sz="1300" b="0" i="0" u="none" strike="noStrike" cap="non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 rot="-5400000">
            <a:off x="-1464689" y="4544195"/>
            <a:ext cx="36000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109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Workshop Comercial || </a:t>
            </a:r>
            <a:r>
              <a:rPr lang="en-US" sz="13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Sankhya RH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8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zio - Verde 1 2 1">
  <p:cSld name="TITLE_1_2_2_1">
    <p:bg>
      <p:bgPr>
        <a:solidFill>
          <a:srgbClr val="66CC66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>
            <a:spLocks noGrp="1"/>
          </p:cNvSpPr>
          <p:nvPr>
            <p:ph type="sldNum" idx="12"/>
          </p:nvPr>
        </p:nvSpPr>
        <p:spPr>
          <a:xfrm>
            <a:off x="13555932" y="7461146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187" name="Google Shape;187;p29" title="Logo Sankhya RH - Colo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84002" y="286558"/>
            <a:ext cx="1626537" cy="27082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9"/>
          <p:cNvSpPr/>
          <p:nvPr/>
        </p:nvSpPr>
        <p:spPr>
          <a:xfrm>
            <a:off x="-147600" y="-58560"/>
            <a:ext cx="14925600" cy="8288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" name="Google Shape;189;p29"/>
          <p:cNvCxnSpPr/>
          <p:nvPr/>
        </p:nvCxnSpPr>
        <p:spPr>
          <a:xfrm>
            <a:off x="720000" y="-225600"/>
            <a:ext cx="0" cy="8502300"/>
          </a:xfrm>
          <a:prstGeom prst="straightConnector1">
            <a:avLst/>
          </a:prstGeom>
          <a:noFill/>
          <a:ln w="20325" cap="flat" cmpd="sng">
            <a:solidFill>
              <a:srgbClr val="229FE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90" name="Google Shape;190;p29"/>
          <p:cNvGrpSpPr/>
          <p:nvPr/>
        </p:nvGrpSpPr>
        <p:grpSpPr>
          <a:xfrm rot="-5400000">
            <a:off x="-531800" y="368121"/>
            <a:ext cx="1805200" cy="379200"/>
            <a:chOff x="-282025" y="0"/>
            <a:chExt cx="1128250" cy="237000"/>
          </a:xfrm>
        </p:grpSpPr>
        <p:sp>
          <p:nvSpPr>
            <p:cNvPr id="191" name="Google Shape;191;p29"/>
            <p:cNvSpPr/>
            <p:nvPr/>
          </p:nvSpPr>
          <p:spPr>
            <a:xfrm>
              <a:off x="389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rgbClr val="229FE0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9"/>
            <p:cNvSpPr/>
            <p:nvPr/>
          </p:nvSpPr>
          <p:spPr>
            <a:xfrm>
              <a:off x="50200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rgbClr val="229FE0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9"/>
            <p:cNvSpPr/>
            <p:nvPr/>
          </p:nvSpPr>
          <p:spPr>
            <a:xfrm>
              <a:off x="-282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rgbClr val="229FE0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29"/>
          <p:cNvSpPr txBox="1"/>
          <p:nvPr/>
        </p:nvSpPr>
        <p:spPr>
          <a:xfrm rot="-5400000">
            <a:off x="-609067" y="6664460"/>
            <a:ext cx="18888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50" tIns="9925" rIns="19850" bIns="9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rgbClr val="229FE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JULHO/2025</a:t>
            </a:r>
            <a:endParaRPr sz="1300" b="0" i="0" u="none" strike="noStrike" cap="none">
              <a:solidFill>
                <a:srgbClr val="229FE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95" name="Google Shape;195;p29"/>
          <p:cNvSpPr txBox="1"/>
          <p:nvPr/>
        </p:nvSpPr>
        <p:spPr>
          <a:xfrm rot="-5400000">
            <a:off x="-1464689" y="4544195"/>
            <a:ext cx="36000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109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29FE0"/>
                </a:solidFill>
                <a:latin typeface="Work Sans"/>
                <a:ea typeface="Work Sans"/>
                <a:cs typeface="Work Sans"/>
                <a:sym typeface="Work Sans"/>
              </a:rPr>
              <a:t>Workshop Comercial || </a:t>
            </a:r>
            <a:r>
              <a:rPr lang="en-US" sz="1300" b="0" i="0" u="none" strike="noStrike" cap="none">
                <a:solidFill>
                  <a:srgbClr val="229FE0"/>
                </a:solidFill>
                <a:latin typeface="Work Sans"/>
                <a:ea typeface="Work Sans"/>
                <a:cs typeface="Work Sans"/>
                <a:sym typeface="Work Sans"/>
              </a:rPr>
              <a:t>Sankhya RH</a:t>
            </a:r>
            <a:endParaRPr sz="1800" b="0" i="0" u="none" strike="noStrike" cap="none">
              <a:solidFill>
                <a:srgbClr val="229FE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29" title="Logo Sankhya RH - Colo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84002" y="286558"/>
            <a:ext cx="1626537" cy="27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8816">
          <p15:clr>
            <a:srgbClr val="E46962"/>
          </p15:clr>
        </p15:guide>
        <p15:guide id="2" pos="454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zio - Verde 1 1 1">
  <p:cSld name="TITLE_1_2_1_1">
    <p:bg>
      <p:bgPr>
        <a:solidFill>
          <a:srgbClr val="66CC66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0" title="Prancheta 1@4x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5102"/>
            <a:ext cx="14751468" cy="829772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0"/>
          <p:cNvSpPr txBox="1">
            <a:spLocks noGrp="1"/>
          </p:cNvSpPr>
          <p:nvPr>
            <p:ph type="sldNum" idx="12"/>
          </p:nvPr>
        </p:nvSpPr>
        <p:spPr>
          <a:xfrm>
            <a:off x="13555932" y="7461146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cxnSp>
        <p:nvCxnSpPr>
          <p:cNvPr id="200" name="Google Shape;200;p30"/>
          <p:cNvCxnSpPr/>
          <p:nvPr/>
        </p:nvCxnSpPr>
        <p:spPr>
          <a:xfrm>
            <a:off x="720000" y="-23400"/>
            <a:ext cx="0" cy="8299800"/>
          </a:xfrm>
          <a:prstGeom prst="straightConnector1">
            <a:avLst/>
          </a:prstGeom>
          <a:noFill/>
          <a:ln w="20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01" name="Google Shape;201;p30"/>
          <p:cNvGrpSpPr/>
          <p:nvPr/>
        </p:nvGrpSpPr>
        <p:grpSpPr>
          <a:xfrm rot="-5400000">
            <a:off x="-531800" y="368121"/>
            <a:ext cx="1805200" cy="379200"/>
            <a:chOff x="-282025" y="0"/>
            <a:chExt cx="1128250" cy="237000"/>
          </a:xfrm>
        </p:grpSpPr>
        <p:sp>
          <p:nvSpPr>
            <p:cNvPr id="202" name="Google Shape;202;p30"/>
            <p:cNvSpPr/>
            <p:nvPr/>
          </p:nvSpPr>
          <p:spPr>
            <a:xfrm>
              <a:off x="389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30"/>
            <p:cNvSpPr/>
            <p:nvPr/>
          </p:nvSpPr>
          <p:spPr>
            <a:xfrm>
              <a:off x="50200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0"/>
            <p:cNvSpPr/>
            <p:nvPr/>
          </p:nvSpPr>
          <p:spPr>
            <a:xfrm>
              <a:off x="-282025" y="0"/>
              <a:ext cx="457200" cy="237000"/>
            </a:xfrm>
            <a:prstGeom prst="parallelogram">
              <a:avLst>
                <a:gd name="adj" fmla="val 9101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5" name="Google Shape;205;p30" title="Logo Sankhya RH - Branco.png"/>
          <p:cNvPicPr preferRelativeResize="0"/>
          <p:nvPr/>
        </p:nvPicPr>
        <p:blipFill rotWithShape="1">
          <a:blip r:embed="rId3">
            <a:alphaModFix/>
          </a:blip>
          <a:srcRect l="-4191" r="-1640"/>
          <a:stretch/>
        </p:blipFill>
        <p:spPr>
          <a:xfrm>
            <a:off x="12284160" y="268484"/>
            <a:ext cx="1905838" cy="29987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/>
        </p:nvSpPr>
        <p:spPr>
          <a:xfrm rot="-5400000">
            <a:off x="-609067" y="6664460"/>
            <a:ext cx="18888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50" tIns="9925" rIns="19850" bIns="9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JULHO/2025</a:t>
            </a:r>
            <a:endParaRPr sz="1300" b="0" i="0" u="none" strike="noStrike" cap="non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207" name="Google Shape;207;p30"/>
          <p:cNvSpPr txBox="1"/>
          <p:nvPr/>
        </p:nvSpPr>
        <p:spPr>
          <a:xfrm rot="-5400000">
            <a:off x="-1464689" y="4544195"/>
            <a:ext cx="36000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109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Workshop Comercial || </a:t>
            </a:r>
            <a:r>
              <a:rPr lang="en-US" sz="13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Sankhya RH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">
  <p:cSld name="TITLE_3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ctrTitle"/>
          </p:nvPr>
        </p:nvSpPr>
        <p:spPr>
          <a:xfrm>
            <a:off x="498733" y="1191320"/>
            <a:ext cx="13632900" cy="3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00"/>
              <a:buFont typeface="Arial"/>
              <a:buChar char="●"/>
              <a:defRPr sz="8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00"/>
              <a:buFont typeface="Arial"/>
              <a:buChar char="○"/>
              <a:defRPr sz="8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00"/>
              <a:buFont typeface="Arial"/>
              <a:buChar char="■"/>
              <a:defRPr sz="8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00"/>
              <a:buFont typeface="Arial"/>
              <a:buChar char="●"/>
              <a:defRPr sz="8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00"/>
              <a:buFont typeface="Arial"/>
              <a:buChar char="○"/>
              <a:defRPr sz="8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00"/>
              <a:buFont typeface="Arial"/>
              <a:buChar char="■"/>
              <a:defRPr sz="8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00"/>
              <a:buFont typeface="Arial"/>
              <a:buChar char="●"/>
              <a:defRPr sz="8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00"/>
              <a:buFont typeface="Arial"/>
              <a:buChar char="○"/>
              <a:defRPr sz="8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00"/>
              <a:buFont typeface="Arial"/>
              <a:buChar char="■"/>
              <a:defRPr sz="8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subTitle" idx="1"/>
          </p:nvPr>
        </p:nvSpPr>
        <p:spPr>
          <a:xfrm>
            <a:off x="498720" y="4534600"/>
            <a:ext cx="13632900" cy="12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31"/>
          <p:cNvSpPr txBox="1">
            <a:spLocks noGrp="1"/>
          </p:cNvSpPr>
          <p:nvPr>
            <p:ph type="sldNum" idx="12"/>
          </p:nvPr>
        </p:nvSpPr>
        <p:spPr>
          <a:xfrm>
            <a:off x="13555932" y="7461146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>
            <a:spLocks noGrp="1"/>
          </p:cNvSpPr>
          <p:nvPr>
            <p:ph type="title"/>
          </p:nvPr>
        </p:nvSpPr>
        <p:spPr>
          <a:xfrm>
            <a:off x="1776207" y="989065"/>
            <a:ext cx="6124800" cy="1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5900" b="0" i="0" u="none" strike="noStrike" cap="none">
                <a:solidFill>
                  <a:srgbClr val="66CC6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" name="Google Shape;214;p32"/>
          <p:cNvSpPr txBox="1">
            <a:spLocks noGrp="1"/>
          </p:cNvSpPr>
          <p:nvPr>
            <p:ph type="body" idx="1"/>
          </p:nvPr>
        </p:nvSpPr>
        <p:spPr>
          <a:xfrm>
            <a:off x="731519" y="1892808"/>
            <a:ext cx="13167300" cy="5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" name="Google Shape;215;p32"/>
          <p:cNvSpPr txBox="1">
            <a:spLocks noGrp="1"/>
          </p:cNvSpPr>
          <p:nvPr>
            <p:ph type="ftr" idx="11"/>
          </p:nvPr>
        </p:nvSpPr>
        <p:spPr>
          <a:xfrm>
            <a:off x="4974336" y="7653528"/>
            <a:ext cx="46815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" name="Google Shape;216;p32"/>
          <p:cNvSpPr txBox="1">
            <a:spLocks noGrp="1"/>
          </p:cNvSpPr>
          <p:nvPr>
            <p:ph type="dt" idx="10"/>
          </p:nvPr>
        </p:nvSpPr>
        <p:spPr>
          <a:xfrm>
            <a:off x="731519" y="7653528"/>
            <a:ext cx="33654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" name="Google Shape;217;p32"/>
          <p:cNvSpPr txBox="1">
            <a:spLocks noGrp="1"/>
          </p:cNvSpPr>
          <p:nvPr>
            <p:ph type="sldNum" idx="12"/>
          </p:nvPr>
        </p:nvSpPr>
        <p:spPr>
          <a:xfrm>
            <a:off x="10533889" y="7653528"/>
            <a:ext cx="3365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OBJECT_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>
            <a:spLocks noGrp="1"/>
          </p:cNvSpPr>
          <p:nvPr>
            <p:ph type="title"/>
          </p:nvPr>
        </p:nvSpPr>
        <p:spPr>
          <a:xfrm>
            <a:off x="731522" y="329566"/>
            <a:ext cx="13167300" cy="13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1097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libri"/>
              <a:buNone/>
              <a:defRPr sz="7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33"/>
          <p:cNvSpPr txBox="1">
            <a:spLocks noGrp="1"/>
          </p:cNvSpPr>
          <p:nvPr>
            <p:ph type="body" idx="1"/>
          </p:nvPr>
        </p:nvSpPr>
        <p:spPr>
          <a:xfrm>
            <a:off x="731522" y="1920245"/>
            <a:ext cx="13167300" cy="5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109725" anchor="t" anchorCtr="0">
            <a:noAutofit/>
          </a:bodyPr>
          <a:lstStyle>
            <a:lvl1pPr marL="457200" marR="0" lvl="0" indent="-55245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ial"/>
              <a:buChar char="•"/>
              <a:defRPr sz="5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143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Char char="–"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699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  <a:defRPr sz="3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1" name="Google Shape;221;p33"/>
          <p:cNvSpPr txBox="1">
            <a:spLocks noGrp="1"/>
          </p:cNvSpPr>
          <p:nvPr>
            <p:ph type="dt" idx="10"/>
          </p:nvPr>
        </p:nvSpPr>
        <p:spPr>
          <a:xfrm>
            <a:off x="731522" y="7627635"/>
            <a:ext cx="3413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1097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2" name="Google Shape;222;p33"/>
          <p:cNvSpPr txBox="1">
            <a:spLocks noGrp="1"/>
          </p:cNvSpPr>
          <p:nvPr>
            <p:ph type="ftr" idx="11"/>
          </p:nvPr>
        </p:nvSpPr>
        <p:spPr>
          <a:xfrm>
            <a:off x="4998725" y="7627635"/>
            <a:ext cx="4632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1097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3" name="Google Shape;223;p33"/>
          <p:cNvSpPr txBox="1">
            <a:spLocks noGrp="1"/>
          </p:cNvSpPr>
          <p:nvPr>
            <p:ph type="sldNum" idx="12"/>
          </p:nvPr>
        </p:nvSpPr>
        <p:spPr>
          <a:xfrm>
            <a:off x="10485131" y="7627635"/>
            <a:ext cx="3413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50" rIns="146275" bIns="73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4">
  <p:cSld name="TITLE_4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>
            <a:spLocks noGrp="1"/>
          </p:cNvSpPr>
          <p:nvPr>
            <p:ph type="ctrTitle"/>
          </p:nvPr>
        </p:nvSpPr>
        <p:spPr>
          <a:xfrm>
            <a:off x="498733" y="1191320"/>
            <a:ext cx="13632900" cy="3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300"/>
              <a:buChar char="●"/>
              <a:defRPr sz="8300"/>
            </a:lvl1pPr>
            <a:lvl2pPr lvl="1" algn="ctr">
              <a:spcBef>
                <a:spcPts val="0"/>
              </a:spcBef>
              <a:spcAft>
                <a:spcPts val="0"/>
              </a:spcAft>
              <a:buSzPts val="8300"/>
              <a:buChar char="○"/>
              <a:defRPr sz="8300"/>
            </a:lvl2pPr>
            <a:lvl3pPr lvl="2" algn="ctr">
              <a:spcBef>
                <a:spcPts val="0"/>
              </a:spcBef>
              <a:spcAft>
                <a:spcPts val="0"/>
              </a:spcAft>
              <a:buSzPts val="8300"/>
              <a:buChar char="■"/>
              <a:defRPr sz="8300"/>
            </a:lvl3pPr>
            <a:lvl4pPr lvl="3" algn="ctr">
              <a:spcBef>
                <a:spcPts val="0"/>
              </a:spcBef>
              <a:spcAft>
                <a:spcPts val="0"/>
              </a:spcAft>
              <a:buSzPts val="8300"/>
              <a:buChar char="●"/>
              <a:defRPr sz="8300"/>
            </a:lvl4pPr>
            <a:lvl5pPr lvl="4" algn="ctr">
              <a:spcBef>
                <a:spcPts val="0"/>
              </a:spcBef>
              <a:spcAft>
                <a:spcPts val="0"/>
              </a:spcAft>
              <a:buSzPts val="8300"/>
              <a:buChar char="○"/>
              <a:defRPr sz="8300"/>
            </a:lvl5pPr>
            <a:lvl6pPr lvl="5" algn="ctr">
              <a:spcBef>
                <a:spcPts val="0"/>
              </a:spcBef>
              <a:spcAft>
                <a:spcPts val="0"/>
              </a:spcAft>
              <a:buSzPts val="8300"/>
              <a:buChar char="■"/>
              <a:defRPr sz="8300"/>
            </a:lvl6pPr>
            <a:lvl7pPr lvl="6" algn="ctr">
              <a:spcBef>
                <a:spcPts val="0"/>
              </a:spcBef>
              <a:spcAft>
                <a:spcPts val="0"/>
              </a:spcAft>
              <a:buSzPts val="8300"/>
              <a:buChar char="●"/>
              <a:defRPr sz="8300"/>
            </a:lvl7pPr>
            <a:lvl8pPr lvl="7" algn="ctr">
              <a:spcBef>
                <a:spcPts val="0"/>
              </a:spcBef>
              <a:spcAft>
                <a:spcPts val="0"/>
              </a:spcAft>
              <a:buSzPts val="8300"/>
              <a:buChar char="○"/>
              <a:defRPr sz="8300"/>
            </a:lvl8pPr>
            <a:lvl9pPr lvl="8" algn="ctr">
              <a:spcBef>
                <a:spcPts val="0"/>
              </a:spcBef>
              <a:spcAft>
                <a:spcPts val="0"/>
              </a:spcAft>
              <a:buSzPts val="8300"/>
              <a:buChar char="■"/>
              <a:defRPr sz="8300"/>
            </a:lvl9pPr>
          </a:lstStyle>
          <a:p>
            <a:endParaRPr/>
          </a:p>
        </p:txBody>
      </p:sp>
      <p:sp>
        <p:nvSpPr>
          <p:cNvPr id="226" name="Google Shape;226;p34"/>
          <p:cNvSpPr txBox="1">
            <a:spLocks noGrp="1"/>
          </p:cNvSpPr>
          <p:nvPr>
            <p:ph type="subTitle" idx="1"/>
          </p:nvPr>
        </p:nvSpPr>
        <p:spPr>
          <a:xfrm>
            <a:off x="498720" y="4534600"/>
            <a:ext cx="13632900" cy="12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227" name="Google Shape;227;p34"/>
          <p:cNvSpPr txBox="1">
            <a:spLocks noGrp="1"/>
          </p:cNvSpPr>
          <p:nvPr>
            <p:ph type="sldNum" idx="12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spcFirstLastPara="1" wrap="square" lIns="146275" tIns="146275" rIns="146275" bIns="1462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54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EDEDED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13555932" y="7461146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9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2.png"/><Relationship Id="rId5" Type="http://schemas.openxmlformats.org/officeDocument/2006/relationships/image" Target="../media/image24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g"/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jpg"/><Relationship Id="rId11" Type="http://schemas.openxmlformats.org/officeDocument/2006/relationships/image" Target="../media/image59.png"/><Relationship Id="rId5" Type="http://schemas.openxmlformats.org/officeDocument/2006/relationships/image" Target="../media/image8.png"/><Relationship Id="rId10" Type="http://schemas.openxmlformats.org/officeDocument/2006/relationships/image" Target="../media/image58.png"/><Relationship Id="rId4" Type="http://schemas.openxmlformats.org/officeDocument/2006/relationships/image" Target="../media/image53.png"/><Relationship Id="rId9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3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6.png"/><Relationship Id="rId4" Type="http://schemas.openxmlformats.org/officeDocument/2006/relationships/image" Target="../media/image71.png"/><Relationship Id="rId9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5" title="A5383 - 2.png"/>
          <p:cNvPicPr preferRelativeResize="0"/>
          <p:nvPr/>
        </p:nvPicPr>
        <p:blipFill rotWithShape="1">
          <a:blip r:embed="rId3">
            <a:alphaModFix/>
          </a:blip>
          <a:srcRect l="10" r="20"/>
          <a:stretch/>
        </p:blipFill>
        <p:spPr>
          <a:xfrm>
            <a:off x="-381000" y="0"/>
            <a:ext cx="15058435" cy="822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-3059350" y="5978876"/>
            <a:ext cx="2500450" cy="9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5"/>
          <p:cNvSpPr txBox="1"/>
          <p:nvPr/>
        </p:nvSpPr>
        <p:spPr>
          <a:xfrm>
            <a:off x="734251" y="1594975"/>
            <a:ext cx="4784100" cy="49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350" tIns="95350" rIns="95350" bIns="953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16" b="1">
                <a:solidFill>
                  <a:srgbClr val="66CC66"/>
                </a:solidFill>
                <a:latin typeface="Work Sans"/>
                <a:ea typeface="Work Sans"/>
                <a:cs typeface="Work Sans"/>
                <a:sym typeface="Work Sans"/>
              </a:rPr>
              <a:t>Soluções especialistas, integradas,</a:t>
            </a:r>
            <a:r>
              <a:rPr lang="en-US" sz="4516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sz="4516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16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para cada etapa </a:t>
            </a:r>
            <a:endParaRPr sz="4516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16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da jornada do colaborador.</a:t>
            </a:r>
            <a:endParaRPr sz="4516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1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 txBox="1"/>
          <p:nvPr/>
        </p:nvSpPr>
        <p:spPr>
          <a:xfrm>
            <a:off x="680488" y="970573"/>
            <a:ext cx="5043300" cy="18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850" tIns="109850" rIns="109850" bIns="10985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86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Integração</a:t>
            </a:r>
            <a:r>
              <a:rPr lang="en-US" sz="6586" b="1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sz="6586" b="1">
              <a:solidFill>
                <a:schemeClr val="accent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86" b="1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  <a:t>Nativa</a:t>
            </a:r>
            <a:endParaRPr sz="4784" b="1">
              <a:solidFill>
                <a:schemeClr val="accent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784" b="1">
              <a:solidFill>
                <a:schemeClr val="accent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42" name="Google Shape;242;p36"/>
          <p:cNvSpPr/>
          <p:nvPr/>
        </p:nvSpPr>
        <p:spPr>
          <a:xfrm>
            <a:off x="6848600" y="2870125"/>
            <a:ext cx="7281000" cy="4303200"/>
          </a:xfrm>
          <a:prstGeom prst="roundRect">
            <a:avLst>
              <a:gd name="adj" fmla="val 2701"/>
            </a:avLst>
          </a:prstGeom>
          <a:solidFill>
            <a:srgbClr val="091523"/>
          </a:solidFill>
          <a:ln w="23825" cap="flat" cmpd="sng">
            <a:solidFill>
              <a:srgbClr val="59646E"/>
            </a:solidFill>
            <a:prstDash val="solid"/>
            <a:round/>
            <a:headEnd type="none" w="sm" len="sm"/>
            <a:tailEnd type="none" w="sm" len="sm"/>
          </a:ln>
          <a:effectLst>
            <a:outerShdw blurRad="457200" dist="180975" dir="5400000" algn="bl" rotWithShape="0">
              <a:srgbClr val="000000">
                <a:alpha val="64000"/>
              </a:srgbClr>
            </a:outerShdw>
          </a:effectLst>
        </p:spPr>
        <p:txBody>
          <a:bodyPr spcFirstLastPara="1" wrap="square" lIns="76125" tIns="76125" rIns="76125" bIns="76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5"/>
              <a:buFont typeface="Arial"/>
              <a:buNone/>
            </a:pPr>
            <a:endParaRPr sz="116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36" title="navega_workspace.GIF"/>
          <p:cNvPicPr preferRelativeResize="0"/>
          <p:nvPr/>
        </p:nvPicPr>
        <p:blipFill rotWithShape="1">
          <a:blip r:embed="rId3">
            <a:alphaModFix/>
          </a:blip>
          <a:srcRect r="418"/>
          <a:stretch/>
        </p:blipFill>
        <p:spPr>
          <a:xfrm>
            <a:off x="7038752" y="3024553"/>
            <a:ext cx="6899194" cy="3896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0424" y="1131427"/>
            <a:ext cx="2526425" cy="99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6"/>
          <p:cNvSpPr txBox="1"/>
          <p:nvPr/>
        </p:nvSpPr>
        <p:spPr>
          <a:xfrm>
            <a:off x="2163025" y="3071825"/>
            <a:ext cx="3407400" cy="9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4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Integrações </a:t>
            </a:r>
            <a:r>
              <a:rPr lang="en-US" sz="2724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com times focados</a:t>
            </a:r>
            <a:endParaRPr sz="1700"/>
          </a:p>
        </p:txBody>
      </p:sp>
      <p:sp>
        <p:nvSpPr>
          <p:cNvPr id="246" name="Google Shape;246;p36"/>
          <p:cNvSpPr txBox="1"/>
          <p:nvPr/>
        </p:nvSpPr>
        <p:spPr>
          <a:xfrm>
            <a:off x="2163025" y="4570188"/>
            <a:ext cx="3407400" cy="9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4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Navegação fluida </a:t>
            </a:r>
            <a:r>
              <a:rPr lang="en-US" sz="2724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entre sistemas</a:t>
            </a:r>
            <a:endParaRPr sz="1700"/>
          </a:p>
        </p:txBody>
      </p:sp>
      <p:sp>
        <p:nvSpPr>
          <p:cNvPr id="247" name="Google Shape;247;p36"/>
          <p:cNvSpPr txBox="1"/>
          <p:nvPr/>
        </p:nvSpPr>
        <p:spPr>
          <a:xfrm>
            <a:off x="2163025" y="6144750"/>
            <a:ext cx="3407400" cy="9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4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Equipes</a:t>
            </a:r>
            <a:r>
              <a:rPr lang="en-US" sz="2724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além de sistemas</a:t>
            </a:r>
            <a:endParaRPr sz="1700"/>
          </a:p>
        </p:txBody>
      </p:sp>
      <p:pic>
        <p:nvPicPr>
          <p:cNvPr id="248" name="Google Shape;248;p36" title="business-teamwork_1761286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7500" y="6248175"/>
            <a:ext cx="732451" cy="73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6" title="process_5956646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7500" y="4673625"/>
            <a:ext cx="732451" cy="73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6" title="business-teamwork_17612865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7500" y="3175275"/>
            <a:ext cx="732451" cy="7324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6"/>
          <p:cNvCxnSpPr/>
          <p:nvPr/>
        </p:nvCxnSpPr>
        <p:spPr>
          <a:xfrm>
            <a:off x="1148100" y="4299975"/>
            <a:ext cx="43971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36"/>
          <p:cNvCxnSpPr/>
          <p:nvPr/>
        </p:nvCxnSpPr>
        <p:spPr>
          <a:xfrm>
            <a:off x="1148100" y="5806050"/>
            <a:ext cx="43971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53" name="Google Shape;253;p36"/>
          <p:cNvSpPr txBox="1"/>
          <p:nvPr/>
        </p:nvSpPr>
        <p:spPr>
          <a:xfrm>
            <a:off x="8202650" y="1044338"/>
            <a:ext cx="6074100" cy="11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2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Mais que uma simples parceria: </a:t>
            </a:r>
            <a:r>
              <a:rPr lang="en-US" sz="3202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um ecossistema completo</a:t>
            </a:r>
            <a:endParaRPr sz="7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0321" y="6219400"/>
            <a:ext cx="13125560" cy="201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893360" y="1353800"/>
            <a:ext cx="2155240" cy="84984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7"/>
          <p:cNvSpPr txBox="1"/>
          <p:nvPr/>
        </p:nvSpPr>
        <p:spPr>
          <a:xfrm>
            <a:off x="1691953" y="910223"/>
            <a:ext cx="12011400" cy="9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C859"/>
                </a:solidFill>
                <a:latin typeface="Work Sans"/>
                <a:ea typeface="Work Sans"/>
                <a:cs typeface="Work Sans"/>
                <a:sym typeface="Work Sans"/>
              </a:rPr>
              <a:t>MAIS DE </a:t>
            </a:r>
            <a:r>
              <a:rPr lang="en-US" sz="3400" b="1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3000 </a:t>
            </a:r>
            <a:r>
              <a:rPr lang="en-US" sz="2100" b="1">
                <a:solidFill>
                  <a:srgbClr val="00C859"/>
                </a:solidFill>
                <a:latin typeface="Work Sans"/>
                <a:ea typeface="Work Sans"/>
                <a:cs typeface="Work Sans"/>
                <a:sym typeface="Work Sans"/>
              </a:rPr>
              <a:t>CLIENTES UTILIZAM NOSSAS SOLUÇÕES E APROVAM NOSSOS MÉTODOS</a:t>
            </a:r>
            <a:endParaRPr sz="2100" b="1">
              <a:solidFill>
                <a:srgbClr val="00C859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61" name="Google Shape;261;p37"/>
          <p:cNvGrpSpPr/>
          <p:nvPr/>
        </p:nvGrpSpPr>
        <p:grpSpPr>
          <a:xfrm>
            <a:off x="1197520" y="2553835"/>
            <a:ext cx="12769440" cy="4709760"/>
            <a:chOff x="646350" y="1497525"/>
            <a:chExt cx="7980900" cy="2943600"/>
          </a:xfrm>
        </p:grpSpPr>
        <p:sp>
          <p:nvSpPr>
            <p:cNvPr id="262" name="Google Shape;262;p37"/>
            <p:cNvSpPr/>
            <p:nvPr/>
          </p:nvSpPr>
          <p:spPr>
            <a:xfrm>
              <a:off x="646350" y="1497525"/>
              <a:ext cx="7980900" cy="2943600"/>
            </a:xfrm>
            <a:prstGeom prst="roundRect">
              <a:avLst>
                <a:gd name="adj" fmla="val 412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63" name="Google Shape;263;p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20910" y="1644233"/>
              <a:ext cx="7614790" cy="27362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4" name="Google Shape;264;p37"/>
          <p:cNvSpPr txBox="1"/>
          <p:nvPr/>
        </p:nvSpPr>
        <p:spPr>
          <a:xfrm>
            <a:off x="1691953" y="2170936"/>
            <a:ext cx="120114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E3C50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FINANCEIRO           ALIMENTÍCIO             EDUCAÇÃO                     SAÚDE                     TECNOLOGIA                  VAREJO                    INDÚSTRIA</a:t>
            </a:r>
            <a:endParaRPr sz="600">
              <a:solidFill>
                <a:srgbClr val="2E3C50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pic>
        <p:nvPicPr>
          <p:cNvPr id="265" name="Google Shape;265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0520" y="5092441"/>
            <a:ext cx="1982800" cy="650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"/>
          <p:cNvSpPr txBox="1"/>
          <p:nvPr/>
        </p:nvSpPr>
        <p:spPr>
          <a:xfrm>
            <a:off x="705778" y="2074388"/>
            <a:ext cx="69207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675" tIns="112675" rIns="112675" bIns="11267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76" i="1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Especialização</a:t>
            </a:r>
            <a:r>
              <a:rPr lang="en-US" sz="7576">
                <a:solidFill>
                  <a:schemeClr val="accent3"/>
                </a:solidFill>
                <a:latin typeface="Work Sans Thin"/>
                <a:ea typeface="Work Sans Thin"/>
                <a:cs typeface="Work Sans Thin"/>
                <a:sym typeface="Work Sans Thin"/>
              </a:rPr>
              <a:t> </a:t>
            </a:r>
            <a:endParaRPr sz="7576" b="1">
              <a:solidFill>
                <a:schemeClr val="accent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9094950" y="1470500"/>
            <a:ext cx="4733700" cy="3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975" tIns="80975" rIns="80975" bIns="80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308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Esqueça módulos genéricos. Aqui você conta com </a:t>
            </a:r>
            <a:r>
              <a:rPr lang="en-US" sz="3080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empresas especialistas, vivas, atuando todos os dias </a:t>
            </a:r>
            <a:r>
              <a:rPr lang="en-US" sz="308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para entregar resultado real ao seu RH.</a:t>
            </a:r>
            <a:endParaRPr sz="308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60">
              <a:solidFill>
                <a:schemeClr val="lt1"/>
              </a:solidFill>
            </a:endParaRPr>
          </a:p>
        </p:txBody>
      </p:sp>
      <p:sp>
        <p:nvSpPr>
          <p:cNvPr id="273" name="Google Shape;273;p38"/>
          <p:cNvSpPr txBox="1"/>
          <p:nvPr/>
        </p:nvSpPr>
        <p:spPr>
          <a:xfrm>
            <a:off x="9094950" y="5660725"/>
            <a:ext cx="5150700" cy="10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975" tIns="80975" rIns="80975" bIns="80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80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Estruturas completas </a:t>
            </a:r>
            <a:r>
              <a:rPr lang="en-US" sz="308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dedicadas a cada produto</a:t>
            </a:r>
            <a:endParaRPr sz="308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80"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74" name="Google Shape;274;p38"/>
          <p:cNvSpPr txBox="1"/>
          <p:nvPr/>
        </p:nvSpPr>
        <p:spPr>
          <a:xfrm>
            <a:off x="590900" y="3154427"/>
            <a:ext cx="7283700" cy="27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775" tIns="93775" rIns="93775" bIns="9377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616" b="1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  <a:t>REAL</a:t>
            </a:r>
            <a:endParaRPr sz="20206"/>
          </a:p>
        </p:txBody>
      </p:sp>
      <p:pic>
        <p:nvPicPr>
          <p:cNvPr id="275" name="Google Shape;27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4300" y="1546700"/>
            <a:ext cx="512150" cy="51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4300" y="5772600"/>
            <a:ext cx="512150" cy="512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38"/>
          <p:cNvCxnSpPr/>
          <p:nvPr/>
        </p:nvCxnSpPr>
        <p:spPr>
          <a:xfrm>
            <a:off x="8539500" y="5313000"/>
            <a:ext cx="54462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9" title="grafico jornada@2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72250" y="-1322300"/>
            <a:ext cx="17688474" cy="1001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9"/>
          <p:cNvSpPr txBox="1"/>
          <p:nvPr/>
        </p:nvSpPr>
        <p:spPr>
          <a:xfrm>
            <a:off x="5607725" y="2552694"/>
            <a:ext cx="4667400" cy="13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16" b="1">
                <a:solidFill>
                  <a:schemeClr val="accent2"/>
                </a:solidFill>
                <a:latin typeface="Work Sans"/>
                <a:ea typeface="Work Sans"/>
                <a:cs typeface="Work Sans"/>
                <a:sym typeface="Work Sans"/>
              </a:rPr>
              <a:t>Soluções especialistas, integradas,</a:t>
            </a:r>
            <a:r>
              <a:rPr lang="en-US" sz="2416">
                <a:solidFill>
                  <a:schemeClr val="accent2"/>
                </a:solidFill>
                <a:latin typeface="Work Sans"/>
                <a:ea typeface="Work Sans"/>
                <a:cs typeface="Work Sans"/>
                <a:sym typeface="Work Sans"/>
              </a:rPr>
              <a:t> para cada etapa da jornada do colaborador.</a:t>
            </a:r>
            <a:endParaRPr sz="2416">
              <a:solidFill>
                <a:schemeClr val="accent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85" name="Google Shape;285;p39"/>
          <p:cNvSpPr txBox="1"/>
          <p:nvPr/>
        </p:nvSpPr>
        <p:spPr>
          <a:xfrm>
            <a:off x="5607725" y="591775"/>
            <a:ext cx="5561100" cy="15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850" tIns="109850" rIns="109850" bIns="10985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86">
                <a:solidFill>
                  <a:schemeClr val="dk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Jornada</a:t>
            </a:r>
            <a:r>
              <a:rPr lang="en-US" sz="5086" b="1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5086">
                <a:solidFill>
                  <a:schemeClr val="dk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do</a:t>
            </a:r>
            <a:r>
              <a:rPr lang="en-US" sz="6586" b="1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  <a:t> colaborador</a:t>
            </a:r>
            <a:endParaRPr sz="4784" b="1">
              <a:solidFill>
                <a:schemeClr val="accent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784" b="1">
              <a:solidFill>
                <a:schemeClr val="accent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86" name="Google Shape;286;p39"/>
          <p:cNvCxnSpPr/>
          <p:nvPr/>
        </p:nvCxnSpPr>
        <p:spPr>
          <a:xfrm>
            <a:off x="5702900" y="2475132"/>
            <a:ext cx="41772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287" name="Google Shape;287;p39" title="Logo Sankhya RH - Col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610" y="1319250"/>
            <a:ext cx="4231700" cy="7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27557" y="2327906"/>
            <a:ext cx="1055250" cy="41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1357" y="2327906"/>
            <a:ext cx="1055250" cy="41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14782" y="2327906"/>
            <a:ext cx="1055250" cy="416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0"/>
          <p:cNvSpPr/>
          <p:nvPr/>
        </p:nvSpPr>
        <p:spPr>
          <a:xfrm>
            <a:off x="686507" y="1641950"/>
            <a:ext cx="4209000" cy="5372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00013" dist="571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40"/>
          <p:cNvSpPr/>
          <p:nvPr/>
        </p:nvSpPr>
        <p:spPr>
          <a:xfrm>
            <a:off x="978100" y="1906555"/>
            <a:ext cx="3625800" cy="1321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66CC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40"/>
          <p:cNvSpPr/>
          <p:nvPr/>
        </p:nvSpPr>
        <p:spPr>
          <a:xfrm>
            <a:off x="5271957" y="1641950"/>
            <a:ext cx="4209000" cy="5372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00013" dist="571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40"/>
          <p:cNvSpPr/>
          <p:nvPr/>
        </p:nvSpPr>
        <p:spPr>
          <a:xfrm>
            <a:off x="9857407" y="1641950"/>
            <a:ext cx="4209000" cy="5372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00013" dist="571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40"/>
          <p:cNvSpPr/>
          <p:nvPr/>
        </p:nvSpPr>
        <p:spPr>
          <a:xfrm>
            <a:off x="1099451" y="3652628"/>
            <a:ext cx="29370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3049"/>
              </a:buClr>
              <a:buSzPts val="1778"/>
              <a:buFont typeface="Poppins"/>
              <a:buNone/>
            </a:pPr>
            <a: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Recrutamento</a:t>
            </a:r>
            <a:b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e seleção</a:t>
            </a:r>
            <a:endParaRPr sz="2752" b="1" i="0" u="none" strike="noStrike" cap="none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01" name="Google Shape;301;p40"/>
          <p:cNvSpPr/>
          <p:nvPr/>
        </p:nvSpPr>
        <p:spPr>
          <a:xfrm>
            <a:off x="1099451" y="5050750"/>
            <a:ext cx="319860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4">
                <a:solidFill>
                  <a:srgbClr val="083049"/>
                </a:solidFill>
                <a:latin typeface="Roboto"/>
                <a:ea typeface="Roboto"/>
                <a:cs typeface="Roboto"/>
                <a:sym typeface="Roboto"/>
              </a:rPr>
              <a:t>Identificação de Talentos com fit cultural e alta performance com a </a:t>
            </a:r>
            <a:r>
              <a:rPr lang="en-US" sz="1994" b="1">
                <a:solidFill>
                  <a:srgbClr val="083049"/>
                </a:solidFill>
                <a:latin typeface="Roboto"/>
                <a:ea typeface="Roboto"/>
                <a:cs typeface="Roboto"/>
                <a:sym typeface="Roboto"/>
              </a:rPr>
              <a:t>Mindsight.</a:t>
            </a:r>
            <a:endParaRPr sz="2094" b="1">
              <a:solidFill>
                <a:srgbClr val="0830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40"/>
          <p:cNvSpPr/>
          <p:nvPr/>
        </p:nvSpPr>
        <p:spPr>
          <a:xfrm>
            <a:off x="5702900" y="3652628"/>
            <a:ext cx="3357000" cy="10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3049"/>
              </a:buClr>
              <a:buSzPts val="1778"/>
              <a:buFont typeface="Poppins"/>
              <a:buNone/>
            </a:pPr>
            <a:r>
              <a:rPr lang="en-US" sz="24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Admissão Digital, Saúde Ocupacional e assinatura eletrônica</a:t>
            </a:r>
            <a:endParaRPr sz="2452" b="1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03" name="Google Shape;303;p40"/>
          <p:cNvSpPr/>
          <p:nvPr/>
        </p:nvSpPr>
        <p:spPr>
          <a:xfrm>
            <a:off x="5702900" y="5050750"/>
            <a:ext cx="301770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4">
                <a:solidFill>
                  <a:srgbClr val="083049"/>
                </a:solidFill>
                <a:latin typeface="Roboto"/>
                <a:ea typeface="Roboto"/>
                <a:cs typeface="Roboto"/>
                <a:sym typeface="Roboto"/>
              </a:rPr>
              <a:t>Processos admissionais ágeis e seguros com gestão integrada de saúde pela </a:t>
            </a:r>
            <a:r>
              <a:rPr lang="en-US" sz="1994" b="1">
                <a:solidFill>
                  <a:srgbClr val="083049"/>
                </a:solidFill>
                <a:latin typeface="Roboto"/>
                <a:ea typeface="Roboto"/>
                <a:cs typeface="Roboto"/>
                <a:sym typeface="Roboto"/>
              </a:rPr>
              <a:t>Vixting</a:t>
            </a:r>
            <a:r>
              <a:rPr lang="en-US" sz="2094" b="1">
                <a:solidFill>
                  <a:srgbClr val="08304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94" b="1">
              <a:solidFill>
                <a:srgbClr val="08304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94">
              <a:solidFill>
                <a:srgbClr val="0830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40"/>
          <p:cNvSpPr/>
          <p:nvPr/>
        </p:nvSpPr>
        <p:spPr>
          <a:xfrm>
            <a:off x="10348276" y="3652628"/>
            <a:ext cx="2937000" cy="12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3049"/>
              </a:buClr>
              <a:buSzPts val="1778"/>
              <a:buFont typeface="Poppins"/>
              <a:buNone/>
            </a:pPr>
            <a: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Segurança</a:t>
            </a:r>
            <a:b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&amp; Saúde no Trabalho</a:t>
            </a:r>
            <a:endParaRPr sz="2752" b="1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05" name="Google Shape;305;p40"/>
          <p:cNvSpPr/>
          <p:nvPr/>
        </p:nvSpPr>
        <p:spPr>
          <a:xfrm>
            <a:off x="10348282" y="5050750"/>
            <a:ext cx="31986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4">
                <a:solidFill>
                  <a:srgbClr val="083049"/>
                </a:solidFill>
                <a:latin typeface="Roboto"/>
                <a:ea typeface="Roboto"/>
                <a:cs typeface="Roboto"/>
                <a:sym typeface="Roboto"/>
              </a:rPr>
              <a:t>Gestão preventiva e integrada de riscos ocupacionais para garantir conformidade legal</a:t>
            </a:r>
            <a:r>
              <a:rPr lang="en-US" sz="2094">
                <a:solidFill>
                  <a:srgbClr val="08304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94">
              <a:solidFill>
                <a:srgbClr val="08304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94">
              <a:solidFill>
                <a:srgbClr val="0830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6" name="Google Shape;306;p40" title="Prancheta 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1250" y="1958755"/>
            <a:ext cx="1217400" cy="12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0"/>
          <p:cNvSpPr txBox="1"/>
          <p:nvPr/>
        </p:nvSpPr>
        <p:spPr>
          <a:xfrm>
            <a:off x="686507" y="606650"/>
            <a:ext cx="133716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n-US" sz="4200">
                <a:solidFill>
                  <a:srgbClr val="233D54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Do </a:t>
            </a:r>
            <a:r>
              <a:rPr lang="en-US" sz="4200" b="1">
                <a:solidFill>
                  <a:srgbClr val="233D54"/>
                </a:solidFill>
                <a:latin typeface="Work Sans"/>
                <a:ea typeface="Work Sans"/>
                <a:cs typeface="Work Sans"/>
                <a:sym typeface="Work Sans"/>
              </a:rPr>
              <a:t>recrutamento</a:t>
            </a:r>
            <a:r>
              <a:rPr lang="en-US" sz="4200">
                <a:solidFill>
                  <a:srgbClr val="233D54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ao </a:t>
            </a:r>
            <a:r>
              <a:rPr lang="en-US" sz="4200" b="1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  <a:t>desenvolvimento</a:t>
            </a:r>
            <a:endParaRPr sz="4200" b="1" i="0" u="none" strike="noStrike" cap="none">
              <a:solidFill>
                <a:schemeClr val="accent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08" name="Google Shape;308;p40"/>
          <p:cNvSpPr/>
          <p:nvPr/>
        </p:nvSpPr>
        <p:spPr>
          <a:xfrm>
            <a:off x="1417675" y="2019448"/>
            <a:ext cx="829500" cy="12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3049"/>
              </a:buClr>
              <a:buSzPts val="1778"/>
              <a:buFont typeface="Poppins"/>
              <a:buNone/>
            </a:pPr>
            <a:r>
              <a:rPr lang="en-US" sz="9200" b="1" i="1">
                <a:solidFill>
                  <a:srgbClr val="EFEFEF"/>
                </a:solidFill>
                <a:latin typeface="Work Sans"/>
                <a:ea typeface="Work Sans"/>
                <a:cs typeface="Work Sans"/>
                <a:sym typeface="Work Sans"/>
              </a:rPr>
              <a:t>1</a:t>
            </a:r>
            <a:endParaRPr sz="9200" b="1" i="1" u="none" strike="noStrike" cap="none">
              <a:solidFill>
                <a:srgbClr val="EFEFE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09" name="Google Shape;309;p40"/>
          <p:cNvSpPr/>
          <p:nvPr/>
        </p:nvSpPr>
        <p:spPr>
          <a:xfrm>
            <a:off x="5489300" y="1906555"/>
            <a:ext cx="3625800" cy="1321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66CC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0" name="Google Shape;310;p40" title="Prancheta 6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42450" y="1958755"/>
            <a:ext cx="1217400" cy="12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0"/>
          <p:cNvSpPr/>
          <p:nvPr/>
        </p:nvSpPr>
        <p:spPr>
          <a:xfrm>
            <a:off x="5928875" y="2019448"/>
            <a:ext cx="829500" cy="12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3049"/>
              </a:buClr>
              <a:buSzPts val="1778"/>
              <a:buFont typeface="Poppins"/>
              <a:buNone/>
            </a:pPr>
            <a:r>
              <a:rPr lang="en-US" sz="9200" b="1" i="1">
                <a:solidFill>
                  <a:srgbClr val="EFEFEF"/>
                </a:solidFill>
                <a:latin typeface="Work Sans"/>
                <a:ea typeface="Work Sans"/>
                <a:cs typeface="Work Sans"/>
                <a:sym typeface="Work Sans"/>
              </a:rPr>
              <a:t>2</a:t>
            </a:r>
            <a:endParaRPr sz="9200" b="1" i="1" u="none" strike="noStrike" cap="none">
              <a:solidFill>
                <a:srgbClr val="EFEFE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12" name="Google Shape;312;p40"/>
          <p:cNvSpPr/>
          <p:nvPr/>
        </p:nvSpPr>
        <p:spPr>
          <a:xfrm>
            <a:off x="10149000" y="1906555"/>
            <a:ext cx="3625800" cy="1321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66CC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3" name="Google Shape;313;p40" title="Prancheta 6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502150" y="1958755"/>
            <a:ext cx="1217400" cy="12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0"/>
          <p:cNvSpPr/>
          <p:nvPr/>
        </p:nvSpPr>
        <p:spPr>
          <a:xfrm>
            <a:off x="10588575" y="2019448"/>
            <a:ext cx="829500" cy="12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3049"/>
              </a:buClr>
              <a:buSzPts val="1778"/>
              <a:buFont typeface="Poppins"/>
              <a:buNone/>
            </a:pPr>
            <a:r>
              <a:rPr lang="en-US" sz="9200" b="1" i="1">
                <a:solidFill>
                  <a:srgbClr val="EFEFEF"/>
                </a:solidFill>
                <a:latin typeface="Work Sans"/>
                <a:ea typeface="Work Sans"/>
                <a:cs typeface="Work Sans"/>
                <a:sym typeface="Work Sans"/>
              </a:rPr>
              <a:t>3</a:t>
            </a:r>
            <a:endParaRPr sz="9200" b="1" i="1" u="none" strike="noStrike" cap="none">
              <a:solidFill>
                <a:srgbClr val="EFEFE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15" name="Google Shape;315;p40"/>
          <p:cNvSpPr/>
          <p:nvPr/>
        </p:nvSpPr>
        <p:spPr>
          <a:xfrm>
            <a:off x="4551350" y="7359550"/>
            <a:ext cx="1690200" cy="416100"/>
          </a:xfrm>
          <a:prstGeom prst="roundRect">
            <a:avLst>
              <a:gd name="adj" fmla="val 50000"/>
            </a:avLst>
          </a:prstGeom>
          <a:noFill/>
          <a:ln w="8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575" tIns="83575" rIns="83575" bIns="83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191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Atração</a:t>
            </a:r>
            <a:endParaRPr sz="118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40"/>
          <p:cNvSpPr/>
          <p:nvPr/>
        </p:nvSpPr>
        <p:spPr>
          <a:xfrm>
            <a:off x="6352387" y="7359550"/>
            <a:ext cx="1690200" cy="416100"/>
          </a:xfrm>
          <a:prstGeom prst="roundRect">
            <a:avLst>
              <a:gd name="adj" fmla="val 50000"/>
            </a:avLst>
          </a:prstGeom>
          <a:noFill/>
          <a:ln w="8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575" tIns="83575" rIns="83575" bIns="83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Entrada</a:t>
            </a:r>
            <a:endParaRPr sz="118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0"/>
          <p:cNvSpPr/>
          <p:nvPr/>
        </p:nvSpPr>
        <p:spPr>
          <a:xfrm>
            <a:off x="8153424" y="7359550"/>
            <a:ext cx="2237400" cy="416100"/>
          </a:xfrm>
          <a:prstGeom prst="roundRect">
            <a:avLst>
              <a:gd name="adj" fmla="val 50000"/>
            </a:avLst>
          </a:prstGeom>
          <a:noFill/>
          <a:ln w="8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575" tIns="83575" rIns="83575" bIns="83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Conformidade</a:t>
            </a:r>
            <a:endParaRPr sz="118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7143" y="2327906"/>
            <a:ext cx="1055250" cy="41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1357" y="2327906"/>
            <a:ext cx="1055250" cy="41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14782" y="2327906"/>
            <a:ext cx="1055250" cy="41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74807" y="2327906"/>
            <a:ext cx="1055250" cy="416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1"/>
          <p:cNvSpPr/>
          <p:nvPr/>
        </p:nvSpPr>
        <p:spPr>
          <a:xfrm>
            <a:off x="686507" y="1641950"/>
            <a:ext cx="4209000" cy="5372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00013" dist="571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1"/>
          <p:cNvSpPr/>
          <p:nvPr/>
        </p:nvSpPr>
        <p:spPr>
          <a:xfrm>
            <a:off x="978100" y="1906555"/>
            <a:ext cx="3625800" cy="1321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66CC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1"/>
          <p:cNvSpPr/>
          <p:nvPr/>
        </p:nvSpPr>
        <p:spPr>
          <a:xfrm>
            <a:off x="5271957" y="1641950"/>
            <a:ext cx="4209000" cy="5372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00013" dist="571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1"/>
          <p:cNvSpPr/>
          <p:nvPr/>
        </p:nvSpPr>
        <p:spPr>
          <a:xfrm>
            <a:off x="9857407" y="1641950"/>
            <a:ext cx="4209000" cy="5372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00013" dist="571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1" name="Google Shape;331;p41" title="Prancheta 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1250" y="1958755"/>
            <a:ext cx="1217400" cy="12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1"/>
          <p:cNvSpPr txBox="1"/>
          <p:nvPr/>
        </p:nvSpPr>
        <p:spPr>
          <a:xfrm>
            <a:off x="690657" y="569225"/>
            <a:ext cx="133716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n-US" sz="4200">
                <a:solidFill>
                  <a:srgbClr val="233D54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Do </a:t>
            </a:r>
            <a:r>
              <a:rPr lang="en-US" sz="4200" b="1">
                <a:solidFill>
                  <a:srgbClr val="233D54"/>
                </a:solidFill>
                <a:latin typeface="Work Sans"/>
                <a:ea typeface="Work Sans"/>
                <a:cs typeface="Work Sans"/>
                <a:sym typeface="Work Sans"/>
              </a:rPr>
              <a:t>recrutamento</a:t>
            </a:r>
            <a:r>
              <a:rPr lang="en-US" sz="4200">
                <a:solidFill>
                  <a:srgbClr val="233D54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ao </a:t>
            </a:r>
            <a:r>
              <a:rPr lang="en-US" sz="4200" b="1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  <a:t>desenvolvimento</a:t>
            </a:r>
            <a:endParaRPr sz="4200" b="1" i="0" u="none" strike="noStrike" cap="none">
              <a:solidFill>
                <a:schemeClr val="accent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33" name="Google Shape;333;p41"/>
          <p:cNvSpPr/>
          <p:nvPr/>
        </p:nvSpPr>
        <p:spPr>
          <a:xfrm>
            <a:off x="1417675" y="2019448"/>
            <a:ext cx="829500" cy="12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3049"/>
              </a:buClr>
              <a:buSzPts val="1778"/>
              <a:buFont typeface="Poppins"/>
              <a:buNone/>
            </a:pPr>
            <a:r>
              <a:rPr lang="en-US" sz="9200" b="1" i="1">
                <a:solidFill>
                  <a:srgbClr val="EFEFEF"/>
                </a:solidFill>
                <a:latin typeface="Work Sans"/>
                <a:ea typeface="Work Sans"/>
                <a:cs typeface="Work Sans"/>
                <a:sym typeface="Work Sans"/>
              </a:rPr>
              <a:t>4</a:t>
            </a:r>
            <a:endParaRPr sz="9200" b="1" i="1" u="none" strike="noStrike" cap="none">
              <a:solidFill>
                <a:srgbClr val="EFEFE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34" name="Google Shape;334;p41"/>
          <p:cNvSpPr/>
          <p:nvPr/>
        </p:nvSpPr>
        <p:spPr>
          <a:xfrm>
            <a:off x="5489300" y="1906555"/>
            <a:ext cx="3625800" cy="1321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66CC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5" name="Google Shape;335;p41" title="Prancheta 7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42450" y="1958755"/>
            <a:ext cx="1217400" cy="12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1"/>
          <p:cNvSpPr/>
          <p:nvPr/>
        </p:nvSpPr>
        <p:spPr>
          <a:xfrm>
            <a:off x="5928875" y="2019448"/>
            <a:ext cx="829500" cy="12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3049"/>
              </a:buClr>
              <a:buSzPts val="1778"/>
              <a:buFont typeface="Poppins"/>
              <a:buNone/>
            </a:pPr>
            <a:r>
              <a:rPr lang="en-US" sz="9200" b="1" i="1">
                <a:solidFill>
                  <a:srgbClr val="EFEFEF"/>
                </a:solidFill>
                <a:latin typeface="Work Sans"/>
                <a:ea typeface="Work Sans"/>
                <a:cs typeface="Work Sans"/>
                <a:sym typeface="Work Sans"/>
              </a:rPr>
              <a:t>5</a:t>
            </a:r>
            <a:endParaRPr sz="9200" b="1" i="1" u="none" strike="noStrike" cap="none">
              <a:solidFill>
                <a:srgbClr val="EFEFE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37" name="Google Shape;337;p41"/>
          <p:cNvSpPr/>
          <p:nvPr/>
        </p:nvSpPr>
        <p:spPr>
          <a:xfrm>
            <a:off x="10149000" y="1906555"/>
            <a:ext cx="3625800" cy="1321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66CC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8" name="Google Shape;338;p41" title="Prancheta 8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502150" y="1958755"/>
            <a:ext cx="1217400" cy="12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1"/>
          <p:cNvSpPr/>
          <p:nvPr/>
        </p:nvSpPr>
        <p:spPr>
          <a:xfrm>
            <a:off x="10588575" y="2019448"/>
            <a:ext cx="829500" cy="12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3049"/>
              </a:buClr>
              <a:buSzPts val="1778"/>
              <a:buFont typeface="Poppins"/>
              <a:buNone/>
            </a:pPr>
            <a:r>
              <a:rPr lang="en-US" sz="9200" b="1" i="1">
                <a:solidFill>
                  <a:srgbClr val="EFEFEF"/>
                </a:solidFill>
                <a:latin typeface="Work Sans"/>
                <a:ea typeface="Work Sans"/>
                <a:cs typeface="Work Sans"/>
                <a:sym typeface="Work Sans"/>
              </a:rPr>
              <a:t>6</a:t>
            </a:r>
            <a:endParaRPr sz="9200" b="1" i="1" u="none" strike="noStrike" cap="none">
              <a:solidFill>
                <a:srgbClr val="EFEFE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40" name="Google Shape;340;p41"/>
          <p:cNvSpPr/>
          <p:nvPr/>
        </p:nvSpPr>
        <p:spPr>
          <a:xfrm>
            <a:off x="1106625" y="3599825"/>
            <a:ext cx="3441900" cy="8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Folha de</a:t>
            </a:r>
            <a:b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Pagamento</a:t>
            </a:r>
            <a:endParaRPr sz="2400" b="1">
              <a:solidFill>
                <a:schemeClr val="dk2"/>
              </a:solidFill>
              <a:highlight>
                <a:schemeClr val="accent5"/>
              </a:highlight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41" name="Google Shape;341;p41"/>
          <p:cNvSpPr/>
          <p:nvPr/>
        </p:nvSpPr>
        <p:spPr>
          <a:xfrm>
            <a:off x="1106625" y="4603675"/>
            <a:ext cx="3441900" cy="20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4">
                <a:solidFill>
                  <a:srgbClr val="083049"/>
                </a:solidFill>
                <a:latin typeface="Roboto"/>
                <a:ea typeface="Roboto"/>
                <a:cs typeface="Roboto"/>
                <a:sym typeface="Roboto"/>
              </a:rPr>
              <a:t>O Pessoas+ é um sistema de folha de pagamento integrado que transforma a jornada do colaborador de ponta a ponta. Ele automatiza rotinas do Departamento Pessoal e gera dados estratégicos para uma gestão mais eficiente.</a:t>
            </a:r>
            <a:endParaRPr sz="1294">
              <a:solidFill>
                <a:srgbClr val="0830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41"/>
          <p:cNvSpPr/>
          <p:nvPr/>
        </p:nvSpPr>
        <p:spPr>
          <a:xfrm>
            <a:off x="5733950" y="3599825"/>
            <a:ext cx="2930700" cy="8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Gestão de Ponto</a:t>
            </a:r>
            <a:b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e Jornada</a:t>
            </a:r>
            <a:endParaRPr sz="2400" b="1">
              <a:solidFill>
                <a:schemeClr val="dk2"/>
              </a:solidFill>
              <a:highlight>
                <a:schemeClr val="accent5"/>
              </a:highlight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43" name="Google Shape;343;p41"/>
          <p:cNvSpPr/>
          <p:nvPr/>
        </p:nvSpPr>
        <p:spPr>
          <a:xfrm>
            <a:off x="5733950" y="4603675"/>
            <a:ext cx="3166200" cy="20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4">
                <a:solidFill>
                  <a:srgbClr val="083049"/>
                </a:solidFill>
                <a:latin typeface="Roboto"/>
                <a:ea typeface="Roboto"/>
                <a:cs typeface="Roboto"/>
                <a:sym typeface="Roboto"/>
              </a:rPr>
              <a:t>Gestão completa da jornada de trabalho com a </a:t>
            </a:r>
            <a:r>
              <a:rPr lang="en-US" sz="1994" b="1">
                <a:solidFill>
                  <a:srgbClr val="083049"/>
                </a:solidFill>
                <a:latin typeface="Roboto"/>
                <a:ea typeface="Roboto"/>
                <a:cs typeface="Roboto"/>
                <a:sym typeface="Roboto"/>
              </a:rPr>
              <a:t>Pontotel. </a:t>
            </a:r>
            <a:r>
              <a:rPr lang="en-US" sz="1994">
                <a:solidFill>
                  <a:srgbClr val="083049"/>
                </a:solidFill>
                <a:latin typeface="Roboto"/>
                <a:ea typeface="Roboto"/>
                <a:cs typeface="Roboto"/>
                <a:sym typeface="Roboto"/>
              </a:rPr>
              <a:t>Conformidade com a legislação trabalhista e integração com a folha.</a:t>
            </a:r>
            <a:endParaRPr sz="1900">
              <a:solidFill>
                <a:srgbClr val="0830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41"/>
          <p:cNvSpPr/>
          <p:nvPr/>
        </p:nvSpPr>
        <p:spPr>
          <a:xfrm>
            <a:off x="10479975" y="3599825"/>
            <a:ext cx="25608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3049"/>
              </a:buClr>
              <a:buSzPts val="1550"/>
              <a:buFont typeface="Poppins"/>
              <a:buNone/>
            </a:pPr>
            <a: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Benefícios</a:t>
            </a:r>
            <a:endParaRPr sz="2752" b="1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3049"/>
              </a:buClr>
              <a:buSzPts val="1550"/>
              <a:buFont typeface="Poppins"/>
              <a:buNone/>
            </a:pPr>
            <a: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Flexíveis</a:t>
            </a:r>
            <a:endParaRPr sz="2400" b="1">
              <a:solidFill>
                <a:schemeClr val="dk2"/>
              </a:solidFill>
              <a:highlight>
                <a:schemeClr val="accent5"/>
              </a:highlight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45" name="Google Shape;345;p41"/>
          <p:cNvSpPr/>
          <p:nvPr/>
        </p:nvSpPr>
        <p:spPr>
          <a:xfrm>
            <a:off x="10479975" y="4603675"/>
            <a:ext cx="3228600" cy="21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4">
                <a:solidFill>
                  <a:srgbClr val="083049"/>
                </a:solidFill>
                <a:latin typeface="Roboto"/>
                <a:ea typeface="Roboto"/>
                <a:cs typeface="Roboto"/>
                <a:sym typeface="Roboto"/>
              </a:rPr>
              <a:t>Cartão de Benefícios Mastercard integrado ao ecossistema Sankhya. Gestão completa de benefícios, do eSocial à folha de pagamento, em um só fluxo.</a:t>
            </a:r>
            <a:endParaRPr sz="1994">
              <a:solidFill>
                <a:srgbClr val="0830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41"/>
          <p:cNvSpPr/>
          <p:nvPr/>
        </p:nvSpPr>
        <p:spPr>
          <a:xfrm>
            <a:off x="5173475" y="7359550"/>
            <a:ext cx="2634900" cy="416100"/>
          </a:xfrm>
          <a:prstGeom prst="roundRect">
            <a:avLst>
              <a:gd name="adj" fmla="val 50000"/>
            </a:avLst>
          </a:prstGeom>
          <a:noFill/>
          <a:ln w="8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575" tIns="83575" rIns="83575" bIns="83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1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Gestão Operacional </a:t>
            </a:r>
            <a:endParaRPr sz="118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41"/>
          <p:cNvSpPr/>
          <p:nvPr/>
        </p:nvSpPr>
        <p:spPr>
          <a:xfrm>
            <a:off x="7919137" y="7359550"/>
            <a:ext cx="1690200" cy="416100"/>
          </a:xfrm>
          <a:prstGeom prst="roundRect">
            <a:avLst>
              <a:gd name="adj" fmla="val 50000"/>
            </a:avLst>
          </a:prstGeom>
          <a:noFill/>
          <a:ln w="8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575" tIns="83575" rIns="83575" bIns="83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Experiência</a:t>
            </a:r>
            <a:endParaRPr sz="191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" y="2327906"/>
            <a:ext cx="1055250" cy="41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1357" y="2327906"/>
            <a:ext cx="1055250" cy="41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14782" y="2327906"/>
            <a:ext cx="1055250" cy="416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2"/>
          <p:cNvSpPr/>
          <p:nvPr/>
        </p:nvSpPr>
        <p:spPr>
          <a:xfrm>
            <a:off x="686507" y="1641950"/>
            <a:ext cx="4209000" cy="5372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00013" dist="571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42"/>
          <p:cNvSpPr/>
          <p:nvPr/>
        </p:nvSpPr>
        <p:spPr>
          <a:xfrm>
            <a:off x="978100" y="1906555"/>
            <a:ext cx="3625800" cy="1321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66CC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42"/>
          <p:cNvSpPr/>
          <p:nvPr/>
        </p:nvSpPr>
        <p:spPr>
          <a:xfrm>
            <a:off x="5271957" y="1641950"/>
            <a:ext cx="4209000" cy="5372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00013" dist="571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2"/>
          <p:cNvSpPr/>
          <p:nvPr/>
        </p:nvSpPr>
        <p:spPr>
          <a:xfrm>
            <a:off x="9857407" y="1641950"/>
            <a:ext cx="4209000" cy="5372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100013" dist="571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0" name="Google Shape;360;p42" title="Prancheta 8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1250" y="1958755"/>
            <a:ext cx="1217400" cy="12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2"/>
          <p:cNvSpPr/>
          <p:nvPr/>
        </p:nvSpPr>
        <p:spPr>
          <a:xfrm>
            <a:off x="1417675" y="2019448"/>
            <a:ext cx="829500" cy="12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3049"/>
              </a:buClr>
              <a:buSzPts val="1778"/>
              <a:buFont typeface="Poppins"/>
              <a:buNone/>
            </a:pPr>
            <a:r>
              <a:rPr lang="en-US" sz="9200" b="1" i="1">
                <a:solidFill>
                  <a:srgbClr val="EFEFEF"/>
                </a:solidFill>
                <a:latin typeface="Work Sans"/>
                <a:ea typeface="Work Sans"/>
                <a:cs typeface="Work Sans"/>
                <a:sym typeface="Work Sans"/>
              </a:rPr>
              <a:t>7</a:t>
            </a:r>
            <a:endParaRPr sz="9200" b="1" i="1" u="none" strike="noStrike" cap="none">
              <a:solidFill>
                <a:srgbClr val="EFEFE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62" name="Google Shape;362;p42"/>
          <p:cNvSpPr/>
          <p:nvPr/>
        </p:nvSpPr>
        <p:spPr>
          <a:xfrm>
            <a:off x="5489300" y="1906555"/>
            <a:ext cx="3625800" cy="1321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66CC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3" name="Google Shape;363;p42" title="Prancheta 5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42450" y="1958755"/>
            <a:ext cx="1217400" cy="12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2"/>
          <p:cNvSpPr/>
          <p:nvPr/>
        </p:nvSpPr>
        <p:spPr>
          <a:xfrm>
            <a:off x="5928875" y="2019448"/>
            <a:ext cx="829500" cy="12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3049"/>
              </a:buClr>
              <a:buSzPts val="1778"/>
              <a:buFont typeface="Poppins"/>
              <a:buNone/>
            </a:pPr>
            <a:r>
              <a:rPr lang="en-US" sz="9200" b="1" i="1">
                <a:solidFill>
                  <a:srgbClr val="EFEFEF"/>
                </a:solidFill>
                <a:latin typeface="Work Sans"/>
                <a:ea typeface="Work Sans"/>
                <a:cs typeface="Work Sans"/>
                <a:sym typeface="Work Sans"/>
              </a:rPr>
              <a:t>8</a:t>
            </a:r>
            <a:endParaRPr sz="9200" b="1" i="1" u="none" strike="noStrike" cap="none">
              <a:solidFill>
                <a:srgbClr val="EFEFE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65" name="Google Shape;365;p42"/>
          <p:cNvSpPr/>
          <p:nvPr/>
        </p:nvSpPr>
        <p:spPr>
          <a:xfrm>
            <a:off x="10149000" y="1906555"/>
            <a:ext cx="3625800" cy="1321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66CC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6" name="Google Shape;366;p42" title="Prancheta 5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502150" y="1958755"/>
            <a:ext cx="1217400" cy="12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2"/>
          <p:cNvSpPr/>
          <p:nvPr/>
        </p:nvSpPr>
        <p:spPr>
          <a:xfrm>
            <a:off x="10588575" y="2019448"/>
            <a:ext cx="829500" cy="12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3049"/>
              </a:buClr>
              <a:buSzPts val="1778"/>
              <a:buFont typeface="Poppins"/>
              <a:buNone/>
            </a:pPr>
            <a:r>
              <a:rPr lang="en-US" sz="9200" b="1" i="1">
                <a:solidFill>
                  <a:srgbClr val="EFEFEF"/>
                </a:solidFill>
                <a:latin typeface="Work Sans"/>
                <a:ea typeface="Work Sans"/>
                <a:cs typeface="Work Sans"/>
                <a:sym typeface="Work Sans"/>
              </a:rPr>
              <a:t>9</a:t>
            </a:r>
            <a:endParaRPr sz="9200" b="1" i="1" u="none" strike="noStrike" cap="none">
              <a:solidFill>
                <a:srgbClr val="EFEFE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68" name="Google Shape;368;p42"/>
          <p:cNvSpPr/>
          <p:nvPr/>
        </p:nvSpPr>
        <p:spPr>
          <a:xfrm>
            <a:off x="1131450" y="3868988"/>
            <a:ext cx="31314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Educação Corporativa</a:t>
            </a:r>
            <a:endParaRPr sz="2752" b="1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69" name="Google Shape;369;p42"/>
          <p:cNvSpPr/>
          <p:nvPr/>
        </p:nvSpPr>
        <p:spPr>
          <a:xfrm>
            <a:off x="1114050" y="5007610"/>
            <a:ext cx="3166200" cy="20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4">
                <a:solidFill>
                  <a:srgbClr val="083049"/>
                </a:solidFill>
                <a:latin typeface="Roboto"/>
                <a:ea typeface="Roboto"/>
                <a:cs typeface="Roboto"/>
                <a:sym typeface="Roboto"/>
              </a:rPr>
              <a:t>Trilha de aprendizagem contínua para certificação e engajamento das equipes com o </a:t>
            </a:r>
            <a:r>
              <a:rPr lang="en-US" sz="1994" b="1">
                <a:solidFill>
                  <a:srgbClr val="083049"/>
                </a:solidFill>
                <a:latin typeface="Roboto"/>
                <a:ea typeface="Roboto"/>
                <a:cs typeface="Roboto"/>
                <a:sym typeface="Roboto"/>
              </a:rPr>
              <a:t>Sankhya LMS</a:t>
            </a:r>
            <a:endParaRPr sz="1994" b="1">
              <a:solidFill>
                <a:srgbClr val="08304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94">
              <a:solidFill>
                <a:srgbClr val="08304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94">
              <a:solidFill>
                <a:srgbClr val="0830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42"/>
          <p:cNvSpPr/>
          <p:nvPr/>
        </p:nvSpPr>
        <p:spPr>
          <a:xfrm>
            <a:off x="5707500" y="3868988"/>
            <a:ext cx="25608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Performance</a:t>
            </a:r>
            <a:b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e Engajamento</a:t>
            </a:r>
            <a:endParaRPr sz="2752" b="1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71" name="Google Shape;371;p42"/>
          <p:cNvSpPr/>
          <p:nvPr/>
        </p:nvSpPr>
        <p:spPr>
          <a:xfrm>
            <a:off x="5707525" y="5007600"/>
            <a:ext cx="3352200" cy="20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4">
                <a:solidFill>
                  <a:srgbClr val="083049"/>
                </a:solidFill>
                <a:latin typeface="Roboto"/>
                <a:ea typeface="Roboto"/>
                <a:cs typeface="Roboto"/>
                <a:sym typeface="Roboto"/>
              </a:rPr>
              <a:t>Gerencie a performance e o desenvolvimento dos colaboradores com decisões estratégicas baseadas em dados com a Mindsight</a:t>
            </a:r>
            <a:endParaRPr sz="1994" b="1">
              <a:solidFill>
                <a:srgbClr val="0830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42"/>
          <p:cNvSpPr/>
          <p:nvPr/>
        </p:nvSpPr>
        <p:spPr>
          <a:xfrm>
            <a:off x="10252650" y="3868988"/>
            <a:ext cx="25608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People</a:t>
            </a:r>
            <a:b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n-US" sz="2752" b="1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Analytics &amp; IA</a:t>
            </a:r>
            <a:endParaRPr sz="2752" b="1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73" name="Google Shape;373;p42"/>
          <p:cNvSpPr/>
          <p:nvPr/>
        </p:nvSpPr>
        <p:spPr>
          <a:xfrm>
            <a:off x="10252650" y="5007600"/>
            <a:ext cx="3466800" cy="20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94">
                <a:solidFill>
                  <a:srgbClr val="083049"/>
                </a:solidFill>
                <a:latin typeface="Roboto"/>
                <a:ea typeface="Roboto"/>
                <a:cs typeface="Roboto"/>
                <a:sym typeface="Roboto"/>
              </a:rPr>
              <a:t>Transforme dados de pessoas em insights estratégicos para decisões mais inteligentes com a Mindsight.</a:t>
            </a:r>
            <a:endParaRPr sz="1994">
              <a:solidFill>
                <a:srgbClr val="08304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94">
              <a:solidFill>
                <a:srgbClr val="0830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42"/>
          <p:cNvSpPr/>
          <p:nvPr/>
        </p:nvSpPr>
        <p:spPr>
          <a:xfrm>
            <a:off x="5173475" y="7359550"/>
            <a:ext cx="2634900" cy="416100"/>
          </a:xfrm>
          <a:prstGeom prst="roundRect">
            <a:avLst>
              <a:gd name="adj" fmla="val 50000"/>
            </a:avLst>
          </a:prstGeom>
          <a:noFill/>
          <a:ln w="8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575" tIns="83575" rIns="83575" bIns="83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1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Desenvolvimento</a:t>
            </a:r>
            <a:endParaRPr sz="118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42"/>
          <p:cNvSpPr/>
          <p:nvPr/>
        </p:nvSpPr>
        <p:spPr>
          <a:xfrm>
            <a:off x="7919125" y="7359550"/>
            <a:ext cx="2042100" cy="416100"/>
          </a:xfrm>
          <a:prstGeom prst="roundRect">
            <a:avLst>
              <a:gd name="adj" fmla="val 50000"/>
            </a:avLst>
          </a:prstGeom>
          <a:noFill/>
          <a:ln w="8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83575" rIns="83575" bIns="83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 sz="191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42"/>
          <p:cNvSpPr txBox="1"/>
          <p:nvPr/>
        </p:nvSpPr>
        <p:spPr>
          <a:xfrm>
            <a:off x="690657" y="569225"/>
            <a:ext cx="133716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n-US" sz="4200">
                <a:solidFill>
                  <a:srgbClr val="233D54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Do </a:t>
            </a:r>
            <a:r>
              <a:rPr lang="en-US" sz="4200" b="1">
                <a:solidFill>
                  <a:srgbClr val="233D54"/>
                </a:solidFill>
                <a:latin typeface="Work Sans"/>
                <a:ea typeface="Work Sans"/>
                <a:cs typeface="Work Sans"/>
                <a:sym typeface="Work Sans"/>
              </a:rPr>
              <a:t>recrutamento</a:t>
            </a:r>
            <a:r>
              <a:rPr lang="en-US" sz="4200">
                <a:solidFill>
                  <a:srgbClr val="233D54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ao </a:t>
            </a:r>
            <a:r>
              <a:rPr lang="en-US" sz="4200" b="1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  <a:t>desenvolvimento</a:t>
            </a:r>
            <a:endParaRPr sz="4200" b="1" i="0" u="none" strike="noStrike" cap="none">
              <a:solidFill>
                <a:schemeClr val="accent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1787825" y="0"/>
            <a:ext cx="4278000" cy="4102500"/>
          </a:xfrm>
          <a:prstGeom prst="rect">
            <a:avLst/>
          </a:prstGeom>
          <a:solidFill>
            <a:srgbClr val="7321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3"/>
          <p:cNvSpPr/>
          <p:nvPr/>
        </p:nvSpPr>
        <p:spPr>
          <a:xfrm>
            <a:off x="1787825" y="4102500"/>
            <a:ext cx="4278000" cy="4199100"/>
          </a:xfrm>
          <a:prstGeom prst="rect">
            <a:avLst/>
          </a:prstGeom>
          <a:solidFill>
            <a:srgbClr val="0830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43"/>
          <p:cNvSpPr/>
          <p:nvPr/>
        </p:nvSpPr>
        <p:spPr>
          <a:xfrm>
            <a:off x="6012773" y="0"/>
            <a:ext cx="4278000" cy="4102500"/>
          </a:xfrm>
          <a:prstGeom prst="rect">
            <a:avLst/>
          </a:prstGeom>
          <a:solidFill>
            <a:srgbClr val="FDCC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43"/>
          <p:cNvSpPr/>
          <p:nvPr/>
        </p:nvSpPr>
        <p:spPr>
          <a:xfrm>
            <a:off x="6012776" y="4102500"/>
            <a:ext cx="4278000" cy="4199100"/>
          </a:xfrm>
          <a:prstGeom prst="rect">
            <a:avLst/>
          </a:prstGeom>
          <a:solidFill>
            <a:srgbClr val="339A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43"/>
          <p:cNvSpPr/>
          <p:nvPr/>
        </p:nvSpPr>
        <p:spPr>
          <a:xfrm>
            <a:off x="10290750" y="0"/>
            <a:ext cx="4402500" cy="4102500"/>
          </a:xfrm>
          <a:prstGeom prst="rect">
            <a:avLst/>
          </a:prstGeom>
          <a:solidFill>
            <a:srgbClr val="66C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43"/>
          <p:cNvSpPr/>
          <p:nvPr/>
        </p:nvSpPr>
        <p:spPr>
          <a:xfrm>
            <a:off x="10290756" y="4102500"/>
            <a:ext cx="4402500" cy="4199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43"/>
          <p:cNvSpPr txBox="1"/>
          <p:nvPr/>
        </p:nvSpPr>
        <p:spPr>
          <a:xfrm rot="-5400000">
            <a:off x="-2943920" y="3243000"/>
            <a:ext cx="75972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n-US" sz="6500">
                <a:solidFill>
                  <a:srgbClr val="233D54"/>
                </a:solidFill>
                <a:latin typeface="Work Sans"/>
                <a:ea typeface="Work Sans"/>
                <a:cs typeface="Work Sans"/>
                <a:sym typeface="Work Sans"/>
              </a:rPr>
              <a:t>Nossas</a:t>
            </a:r>
            <a:r>
              <a:rPr lang="en-US" sz="6500" b="1">
                <a:solidFill>
                  <a:srgbClr val="233D54"/>
                </a:solidFill>
                <a:latin typeface="Work Sans"/>
                <a:ea typeface="Work Sans"/>
                <a:cs typeface="Work Sans"/>
                <a:sym typeface="Work Sans"/>
              </a:rPr>
              <a:t> soluções</a:t>
            </a:r>
            <a:endParaRPr sz="6500" b="1" i="0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89" name="Google Shape;389;p43"/>
          <p:cNvSpPr/>
          <p:nvPr/>
        </p:nvSpPr>
        <p:spPr>
          <a:xfrm>
            <a:off x="2351025" y="2482631"/>
            <a:ext cx="3065400" cy="10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"/>
              <a:buFont typeface="Arial"/>
              <a:buNone/>
            </a:pPr>
            <a:r>
              <a:rPr lang="en-US" sz="158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 recrutamento à gestão contínua de talentos: tudo que você precisa para selecionar, desenvolver e tomar decisões embasadas sobre gente.</a:t>
            </a:r>
            <a:endParaRPr sz="158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8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43"/>
          <p:cNvSpPr/>
          <p:nvPr/>
        </p:nvSpPr>
        <p:spPr>
          <a:xfrm>
            <a:off x="6601100" y="2482623"/>
            <a:ext cx="31422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2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completa da frequência dos colaboradores, integrado à folha e aderente à legislação, mesmo em jornadas complexas.</a:t>
            </a:r>
            <a:endParaRPr sz="1582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43"/>
          <p:cNvSpPr/>
          <p:nvPr/>
        </p:nvSpPr>
        <p:spPr>
          <a:xfrm>
            <a:off x="2351025" y="5859525"/>
            <a:ext cx="3142200" cy="10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Folha de pagamento automatizada, com gestão de processos diários. Sistema completo com conformidade legal e integração com ERP.</a:t>
            </a:r>
            <a:endParaRPr sz="158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43"/>
          <p:cNvSpPr/>
          <p:nvPr/>
        </p:nvSpPr>
        <p:spPr>
          <a:xfrm>
            <a:off x="6601097" y="5859528"/>
            <a:ext cx="3282900" cy="10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"/>
              <a:buFont typeface="Arial"/>
              <a:buNone/>
            </a:pPr>
            <a:r>
              <a:rPr lang="en-US" sz="158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Plataforma digital que simplifica Admissão, Gestão de SST e Assinatura eletrônica.</a:t>
            </a:r>
            <a:endParaRPr sz="158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Totalmente integrada ao ERP Sankhya e ao eSocial.</a:t>
            </a:r>
            <a:endParaRPr sz="158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43"/>
          <p:cNvSpPr/>
          <p:nvPr/>
        </p:nvSpPr>
        <p:spPr>
          <a:xfrm>
            <a:off x="10810400" y="2482650"/>
            <a:ext cx="32829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2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Um ecossistema de benefícios completo para sua empresa com garantia de segurança jurídica e conformidade com o PAT. </a:t>
            </a:r>
            <a:endParaRPr sz="1582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2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Cartão benefícios flexível e bandeira Mastercard.</a:t>
            </a:r>
            <a:endParaRPr sz="1582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82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43"/>
          <p:cNvSpPr/>
          <p:nvPr/>
        </p:nvSpPr>
        <p:spPr>
          <a:xfrm>
            <a:off x="10810408" y="5859528"/>
            <a:ext cx="3282900" cy="10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Plataforma completa de gestão de aprendizado que simplifica o acesso para alunos, facilita o acompanhamento por gestores, padroniza trilhas por cargos e é integrado à Mindsight . </a:t>
            </a:r>
            <a:endParaRPr sz="158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5" name="Google Shape;395;p43" title="Mindsight_LogoPrincipal_Branco.png"/>
          <p:cNvPicPr preferRelativeResize="0"/>
          <p:nvPr/>
        </p:nvPicPr>
        <p:blipFill rotWithShape="1">
          <a:blip r:embed="rId3">
            <a:alphaModFix/>
          </a:blip>
          <a:srcRect l="-4523" r="-5524"/>
          <a:stretch/>
        </p:blipFill>
        <p:spPr>
          <a:xfrm>
            <a:off x="2276220" y="1541901"/>
            <a:ext cx="2708507" cy="56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3" title="Logo_Vixting_branco_by_sankhya.png"/>
          <p:cNvPicPr preferRelativeResize="0"/>
          <p:nvPr/>
        </p:nvPicPr>
        <p:blipFill rotWithShape="1">
          <a:blip r:embed="rId4">
            <a:alphaModFix/>
          </a:blip>
          <a:srcRect b="22246"/>
          <a:stretch/>
        </p:blipFill>
        <p:spPr>
          <a:xfrm>
            <a:off x="6601100" y="4981792"/>
            <a:ext cx="2152515" cy="504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3" title="pessoas+branca.png"/>
          <p:cNvPicPr preferRelativeResize="0"/>
          <p:nvPr/>
        </p:nvPicPr>
        <p:blipFill rotWithShape="1">
          <a:blip r:embed="rId5">
            <a:alphaModFix/>
          </a:blip>
          <a:srcRect l="11171" t="22985" r="10052" b="26163"/>
          <a:stretch/>
        </p:blipFill>
        <p:spPr>
          <a:xfrm>
            <a:off x="2351026" y="4892431"/>
            <a:ext cx="2708500" cy="68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3" title="Ativo 30@4x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1099" y="1541912"/>
            <a:ext cx="2438526" cy="620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3" title="Ativo 3@4x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10400" y="1566125"/>
            <a:ext cx="3434050" cy="39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3" title="Ativo 4@4x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810400" y="5046769"/>
            <a:ext cx="2438525" cy="37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44" title="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5600" y="144850"/>
            <a:ext cx="5971174" cy="597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4" title="Prancheta 4@4x.png"/>
          <p:cNvPicPr preferRelativeResize="0"/>
          <p:nvPr/>
        </p:nvPicPr>
        <p:blipFill rotWithShape="1">
          <a:blip r:embed="rId4">
            <a:alphaModFix/>
          </a:blip>
          <a:srcRect l="5880" t="6670" r="-5880" b="-6670"/>
          <a:stretch/>
        </p:blipFill>
        <p:spPr>
          <a:xfrm>
            <a:off x="9715526" y="-1143001"/>
            <a:ext cx="10536300" cy="929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4" title="Mindsight_LogoPrincipal_Branco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0425" y="800100"/>
            <a:ext cx="4288773" cy="981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4" title="young-man-glasses-using-laptop-typing-isolated-blue-background-online-technology.png"/>
          <p:cNvPicPr preferRelativeResize="0"/>
          <p:nvPr/>
        </p:nvPicPr>
        <p:blipFill rotWithShape="1">
          <a:blip r:embed="rId6">
            <a:alphaModFix/>
          </a:blip>
          <a:srcRect l="12273"/>
          <a:stretch/>
        </p:blipFill>
        <p:spPr>
          <a:xfrm>
            <a:off x="3833019" y="-89075"/>
            <a:ext cx="10949330" cy="831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4" title="Mindsight_Simbolo_FundoGradient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212852" y="1950051"/>
            <a:ext cx="1800900" cy="1812600"/>
          </a:xfrm>
          <a:prstGeom prst="roundRect">
            <a:avLst>
              <a:gd name="adj" fmla="val 12957"/>
            </a:avLst>
          </a:prstGeom>
          <a:noFill/>
          <a:ln>
            <a:noFill/>
          </a:ln>
          <a:effectLst>
            <a:outerShdw blurRad="517684" dist="142109" dir="5400000" algn="bl" rotWithShape="0">
              <a:srgbClr val="000000">
                <a:alpha val="52160"/>
              </a:srgbClr>
            </a:outerShdw>
          </a:effectLst>
        </p:spPr>
      </p:pic>
      <p:pic>
        <p:nvPicPr>
          <p:cNvPr id="411" name="Google Shape;411;p44" title="Cérebro rox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95601" y="2423350"/>
            <a:ext cx="1934172" cy="1249501"/>
          </a:xfrm>
          <a:prstGeom prst="rect">
            <a:avLst/>
          </a:prstGeom>
          <a:noFill/>
          <a:ln>
            <a:noFill/>
          </a:ln>
          <a:effectLst>
            <a:outerShdw blurRad="228390" dist="30452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12" name="Google Shape;412;p44" title="check v2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649622" y="5494144"/>
            <a:ext cx="1578123" cy="1575620"/>
          </a:xfrm>
          <a:prstGeom prst="rect">
            <a:avLst/>
          </a:prstGeom>
          <a:noFill/>
          <a:ln>
            <a:noFill/>
          </a:ln>
          <a:effectLst>
            <a:outerShdw blurRad="228390" dist="30452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13" name="Google Shape;413;p44"/>
          <p:cNvSpPr txBox="1"/>
          <p:nvPr/>
        </p:nvSpPr>
        <p:spPr>
          <a:xfrm>
            <a:off x="740425" y="2316113"/>
            <a:ext cx="4885500" cy="16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3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4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Soluções robustas para </a:t>
            </a:r>
            <a:r>
              <a:rPr lang="en-US" sz="3600" b="1" i="0" u="none" strike="noStrike" cap="none">
                <a:solidFill>
                  <a:srgbClr val="A1FD41"/>
                </a:solidFill>
                <a:latin typeface="Work Sans"/>
                <a:ea typeface="Work Sans"/>
                <a:cs typeface="Work Sans"/>
                <a:sym typeface="Work Sans"/>
              </a:rPr>
              <a:t>maximizar </a:t>
            </a:r>
            <a:endParaRPr sz="3600" b="1" i="0" u="none" strike="noStrike" cap="none">
              <a:solidFill>
                <a:srgbClr val="A1FD4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4"/>
              <a:buFont typeface="Arial"/>
              <a:buNone/>
            </a:pPr>
            <a:r>
              <a:rPr lang="en-US" sz="3600" b="1" i="0" u="none" strike="noStrike" cap="none">
                <a:solidFill>
                  <a:srgbClr val="A1FD41"/>
                </a:solidFill>
                <a:latin typeface="Work Sans"/>
                <a:ea typeface="Work Sans"/>
                <a:cs typeface="Work Sans"/>
                <a:sym typeface="Work Sans"/>
              </a:rPr>
              <a:t>o capital humano</a:t>
            </a:r>
            <a:endParaRPr sz="3600" b="1" i="0" u="none" strike="noStrike" cap="none">
              <a:solidFill>
                <a:srgbClr val="A1FD4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14" name="Google Shape;414;p44"/>
          <p:cNvSpPr txBox="1"/>
          <p:nvPr/>
        </p:nvSpPr>
        <p:spPr>
          <a:xfrm>
            <a:off x="740425" y="4800600"/>
            <a:ext cx="3540900" cy="19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875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8"/>
              <a:buFont typeface="Arial"/>
              <a:buNone/>
            </a:pPr>
            <a:r>
              <a:rPr lang="en-US" sz="18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 recrutamento à gestão contínua de talentos. Tudo o que você precisa para selecionar, desenvolver e tomar decisões embasadas sobre gente.</a:t>
            </a:r>
            <a:endParaRPr sz="180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C31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" name="Google Shape;420;p45"/>
          <p:cNvGrpSpPr/>
          <p:nvPr/>
        </p:nvGrpSpPr>
        <p:grpSpPr>
          <a:xfrm>
            <a:off x="9227806" y="4569425"/>
            <a:ext cx="273586" cy="1183830"/>
            <a:chOff x="8449825" y="3316450"/>
            <a:chExt cx="419675" cy="1183830"/>
          </a:xfrm>
        </p:grpSpPr>
        <p:sp>
          <p:nvSpPr>
            <p:cNvPr id="421" name="Google Shape;421;p45"/>
            <p:cNvSpPr/>
            <p:nvPr/>
          </p:nvSpPr>
          <p:spPr>
            <a:xfrm>
              <a:off x="8449825" y="3316450"/>
              <a:ext cx="150300" cy="952500"/>
            </a:xfrm>
            <a:prstGeom prst="rect">
              <a:avLst/>
            </a:prstGeom>
            <a:solidFill>
              <a:srgbClr val="FDE0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22" name="Google Shape;422;p45"/>
            <p:cNvSpPr/>
            <p:nvPr/>
          </p:nvSpPr>
          <p:spPr>
            <a:xfrm>
              <a:off x="8719200" y="4109680"/>
              <a:ext cx="150300" cy="390600"/>
            </a:xfrm>
            <a:prstGeom prst="rect">
              <a:avLst/>
            </a:prstGeom>
            <a:solidFill>
              <a:srgbClr val="E89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pic>
        <p:nvPicPr>
          <p:cNvPr id="423" name="Google Shape;423;p45" title="Vector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54662" y="12"/>
            <a:ext cx="2075750" cy="469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5" title="Frame 34.png"/>
          <p:cNvPicPr preferRelativeResize="0"/>
          <p:nvPr/>
        </p:nvPicPr>
        <p:blipFill rotWithShape="1">
          <a:blip r:embed="rId4">
            <a:alphaModFix/>
          </a:blip>
          <a:srcRect l="2226" r="2245" b="20899"/>
          <a:stretch/>
        </p:blipFill>
        <p:spPr>
          <a:xfrm>
            <a:off x="7509550" y="5611125"/>
            <a:ext cx="7120848" cy="261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5" title="3d9684f7-811b-4bfa-970c-95b80b34a885.png"/>
          <p:cNvPicPr preferRelativeResize="0"/>
          <p:nvPr/>
        </p:nvPicPr>
        <p:blipFill rotWithShape="1">
          <a:blip r:embed="rId5">
            <a:alphaModFix/>
          </a:blip>
          <a:srcRect l="31643" t="14388" r="31830" b="30925"/>
          <a:stretch/>
        </p:blipFill>
        <p:spPr>
          <a:xfrm>
            <a:off x="9421625" y="1357350"/>
            <a:ext cx="4590397" cy="6872248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5"/>
          <p:cNvSpPr txBox="1"/>
          <p:nvPr/>
        </p:nvSpPr>
        <p:spPr>
          <a:xfrm>
            <a:off x="740425" y="2354400"/>
            <a:ext cx="4962600" cy="16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3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4"/>
              <a:buFont typeface="Arial"/>
              <a:buNone/>
            </a:pPr>
            <a:r>
              <a:rPr lang="en-US" sz="3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Gestão de ponto</a:t>
            </a:r>
            <a:br>
              <a:rPr lang="en-US" sz="3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n-US" sz="3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 jornada </a:t>
            </a:r>
            <a:r>
              <a:rPr lang="en-US" sz="36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precisa, segura e escalável.</a:t>
            </a:r>
            <a:endParaRPr sz="3600" b="1">
              <a:solidFill>
                <a:srgbClr val="233D54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27" name="Google Shape;427;p45"/>
          <p:cNvSpPr txBox="1"/>
          <p:nvPr/>
        </p:nvSpPr>
        <p:spPr>
          <a:xfrm>
            <a:off x="740425" y="4800600"/>
            <a:ext cx="4079100" cy="19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875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Ponto e frequência dos colaboradores integrada à folha, em conformidade com a legislação vigente, preparada para operar em qualquer modelo de jornada.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45" title="Logo Pontotel p.png"/>
          <p:cNvPicPr preferRelativeResize="0"/>
          <p:nvPr/>
        </p:nvPicPr>
        <p:blipFill rotWithShape="1">
          <a:blip r:embed="rId6">
            <a:alphaModFix/>
          </a:blip>
          <a:srcRect l="288" r="288"/>
          <a:stretch/>
        </p:blipFill>
        <p:spPr>
          <a:xfrm>
            <a:off x="740425" y="800100"/>
            <a:ext cx="4311301" cy="11030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9" name="Google Shape;429;p45"/>
          <p:cNvGrpSpPr/>
          <p:nvPr/>
        </p:nvGrpSpPr>
        <p:grpSpPr>
          <a:xfrm>
            <a:off x="7596517" y="4035289"/>
            <a:ext cx="1541736" cy="722692"/>
            <a:chOff x="6768025" y="4441135"/>
            <a:chExt cx="2019300" cy="946800"/>
          </a:xfrm>
        </p:grpSpPr>
        <p:sp>
          <p:nvSpPr>
            <p:cNvPr id="430" name="Google Shape;430;p45"/>
            <p:cNvSpPr/>
            <p:nvPr/>
          </p:nvSpPr>
          <p:spPr>
            <a:xfrm>
              <a:off x="6768025" y="4441135"/>
              <a:ext cx="2019300" cy="946800"/>
            </a:xfrm>
            <a:prstGeom prst="roundRect">
              <a:avLst>
                <a:gd name="adj" fmla="val 9965"/>
              </a:avLst>
            </a:prstGeom>
            <a:solidFill>
              <a:schemeClr val="lt1"/>
            </a:solidFill>
            <a:ln>
              <a:noFill/>
            </a:ln>
            <a:effectLst>
              <a:outerShdw blurRad="39723" dist="85725" dir="27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63525" tIns="63525" rIns="63525" bIns="63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73"/>
            </a:p>
          </p:txBody>
        </p:sp>
        <p:pic>
          <p:nvPicPr>
            <p:cNvPr id="431" name="Google Shape;431;p45" title="Group 130290.png"/>
            <p:cNvPicPr preferRelativeResize="0"/>
            <p:nvPr/>
          </p:nvPicPr>
          <p:blipFill rotWithShape="1">
            <a:blip r:embed="rId7">
              <a:alphaModFix/>
            </a:blip>
            <a:srcRect t="10" b="20"/>
            <a:stretch/>
          </p:blipFill>
          <p:spPr>
            <a:xfrm>
              <a:off x="6952674" y="4625204"/>
              <a:ext cx="1650116" cy="5788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2" name="Google Shape;432;p45"/>
          <p:cNvGrpSpPr/>
          <p:nvPr/>
        </p:nvGrpSpPr>
        <p:grpSpPr>
          <a:xfrm>
            <a:off x="7596525" y="806325"/>
            <a:ext cx="2186100" cy="3082500"/>
            <a:chOff x="7515900" y="800100"/>
            <a:chExt cx="2186100" cy="3082500"/>
          </a:xfrm>
        </p:grpSpPr>
        <p:sp>
          <p:nvSpPr>
            <p:cNvPr id="433" name="Google Shape;433;p45"/>
            <p:cNvSpPr/>
            <p:nvPr/>
          </p:nvSpPr>
          <p:spPr>
            <a:xfrm>
              <a:off x="7515900" y="800100"/>
              <a:ext cx="2186100" cy="3082500"/>
            </a:xfrm>
            <a:prstGeom prst="roundRect">
              <a:avLst>
                <a:gd name="adj" fmla="val 4481"/>
              </a:avLst>
            </a:prstGeom>
            <a:solidFill>
              <a:schemeClr val="lt1"/>
            </a:solidFill>
            <a:ln>
              <a:noFill/>
            </a:ln>
            <a:effectLst>
              <a:outerShdw blurRad="52029" dist="86714" dir="27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83225" tIns="83225" rIns="83225" bIns="832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75"/>
            </a:p>
          </p:txBody>
        </p:sp>
        <p:grpSp>
          <p:nvGrpSpPr>
            <p:cNvPr id="434" name="Google Shape;434;p45"/>
            <p:cNvGrpSpPr/>
            <p:nvPr/>
          </p:nvGrpSpPr>
          <p:grpSpPr>
            <a:xfrm>
              <a:off x="7585283" y="869472"/>
              <a:ext cx="2047200" cy="1939200"/>
              <a:chOff x="7585283" y="869472"/>
              <a:chExt cx="2047200" cy="1939200"/>
            </a:xfrm>
          </p:grpSpPr>
          <p:pic>
            <p:nvPicPr>
              <p:cNvPr id="435" name="Google Shape;435;p45" title="front-view-smiley-arab-woman-posing-indoors.jpg"/>
              <p:cNvPicPr preferRelativeResize="0"/>
              <p:nvPr/>
            </p:nvPicPr>
            <p:blipFill rotWithShape="1">
              <a:blip r:embed="rId8">
                <a:alphaModFix/>
              </a:blip>
              <a:srcRect l="40478" t="18970" r="36224" b="47968"/>
              <a:stretch/>
            </p:blipFill>
            <p:spPr>
              <a:xfrm>
                <a:off x="7585283" y="869472"/>
                <a:ext cx="2047200" cy="1939200"/>
              </a:xfrm>
              <a:prstGeom prst="roundRect">
                <a:avLst>
                  <a:gd name="adj" fmla="val 3295"/>
                </a:avLst>
              </a:prstGeom>
              <a:noFill/>
              <a:ln>
                <a:noFill/>
              </a:ln>
            </p:spPr>
          </p:pic>
          <p:pic>
            <p:nvPicPr>
              <p:cNvPr id="436" name="Google Shape;436;p45" title="Vector 12.png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654650" y="938843"/>
                <a:ext cx="246168" cy="2461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7" name="Google Shape;437;p45" title="Vector 12.png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 rot="5400000">
                <a:off x="9317014" y="938843"/>
                <a:ext cx="246168" cy="2461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8" name="Google Shape;438;p45" title="Vector 12.png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 rot="10800000">
                <a:off x="9317014" y="2493051"/>
                <a:ext cx="246168" cy="2461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9" name="Google Shape;439;p45" title="Vector 12.png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 rot="-5400000">
                <a:off x="7654650" y="2493051"/>
                <a:ext cx="246168" cy="2461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40" name="Google Shape;440;p45"/>
            <p:cNvSpPr txBox="1"/>
            <p:nvPr/>
          </p:nvSpPr>
          <p:spPr>
            <a:xfrm>
              <a:off x="7654575" y="2930025"/>
              <a:ext cx="1908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Ponto batido por:</a:t>
              </a:r>
              <a:r>
                <a:rPr lang="en-US" sz="800">
                  <a:solidFill>
                    <a:schemeClr val="dk1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 </a:t>
              </a:r>
              <a:r>
                <a:rPr lang="en-US" sz="800">
                  <a:solidFill>
                    <a:srgbClr val="434343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smartphone</a:t>
              </a:r>
              <a:br>
                <a:rPr lang="en-US" sz="800">
                  <a:solidFill>
                    <a:srgbClr val="434343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</a:br>
              <a:r>
                <a:rPr lang="en-US" sz="800" b="1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Local:</a:t>
              </a:r>
              <a:r>
                <a:rPr lang="en-US" sz="800">
                  <a:solidFill>
                    <a:schemeClr val="dk1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 </a:t>
              </a:r>
              <a:r>
                <a:rPr lang="en-US" sz="800">
                  <a:solidFill>
                    <a:srgbClr val="434343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Av. Rebouças, 2516 - Pinheiros,</a:t>
              </a:r>
              <a:br>
                <a:rPr lang="en-US" sz="800">
                  <a:solidFill>
                    <a:srgbClr val="434343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</a:br>
              <a:r>
                <a:rPr lang="en-US" sz="800">
                  <a:solidFill>
                    <a:srgbClr val="434343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São Paulo</a:t>
              </a:r>
              <a:br>
                <a:rPr lang="en-US" sz="800">
                  <a:solidFill>
                    <a:schemeClr val="dk1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</a:br>
              <a:r>
                <a:rPr lang="en-US" sz="800" b="1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Fuso Horário:</a:t>
              </a:r>
              <a:r>
                <a:rPr lang="en-US" sz="800">
                  <a:solidFill>
                    <a:schemeClr val="dk1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 </a:t>
              </a:r>
              <a:r>
                <a:rPr lang="en-US" sz="800">
                  <a:solidFill>
                    <a:srgbClr val="434343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Brasília</a:t>
              </a:r>
              <a:br>
                <a:rPr lang="en-US" sz="800">
                  <a:solidFill>
                    <a:srgbClr val="434343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</a:br>
              <a:r>
                <a:rPr lang="en-US" sz="800" b="1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Tipo de Marcação:</a:t>
              </a:r>
              <a:r>
                <a:rPr lang="en-US" sz="800">
                  <a:solidFill>
                    <a:schemeClr val="dk1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 </a:t>
              </a:r>
              <a:r>
                <a:rPr lang="en-US" sz="800">
                  <a:solidFill>
                    <a:srgbClr val="434343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Offline</a:t>
              </a:r>
              <a:br>
                <a:rPr lang="en-US" sz="800">
                  <a:solidFill>
                    <a:schemeClr val="dk1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</a:br>
              <a:r>
                <a:rPr lang="en-US" sz="800" b="1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Biometria:</a:t>
              </a:r>
              <a:r>
                <a:rPr lang="en-US" sz="800">
                  <a:solidFill>
                    <a:schemeClr val="dk1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 </a:t>
              </a:r>
              <a:r>
                <a:rPr lang="en-US" sz="800">
                  <a:solidFill>
                    <a:srgbClr val="434343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Rosto detectado e reconhecido</a:t>
              </a:r>
              <a:endParaRPr sz="800">
                <a:solidFill>
                  <a:srgbClr val="434343"/>
                </a:solidFill>
                <a:latin typeface="Hanken Grotesk Light"/>
                <a:ea typeface="Hanken Grotesk Light"/>
                <a:cs typeface="Hanken Grotesk Light"/>
                <a:sym typeface="Hanken Grotesk Light"/>
              </a:endParaRPr>
            </a:p>
          </p:txBody>
        </p:sp>
      </p:grpSp>
      <p:grpSp>
        <p:nvGrpSpPr>
          <p:cNvPr id="441" name="Google Shape;441;p45"/>
          <p:cNvGrpSpPr/>
          <p:nvPr/>
        </p:nvGrpSpPr>
        <p:grpSpPr>
          <a:xfrm>
            <a:off x="9626100" y="807603"/>
            <a:ext cx="2608850" cy="1059484"/>
            <a:chOff x="9886600" y="602003"/>
            <a:chExt cx="2608850" cy="1059484"/>
          </a:xfrm>
        </p:grpSpPr>
        <p:sp>
          <p:nvSpPr>
            <p:cNvPr id="442" name="Google Shape;442;p45"/>
            <p:cNvSpPr/>
            <p:nvPr/>
          </p:nvSpPr>
          <p:spPr>
            <a:xfrm>
              <a:off x="10442550" y="602003"/>
              <a:ext cx="2052900" cy="425100"/>
            </a:xfrm>
            <a:prstGeom prst="roundRect">
              <a:avLst>
                <a:gd name="adj" fmla="val 22468"/>
              </a:avLst>
            </a:prstGeom>
            <a:solidFill>
              <a:srgbClr val="79397D"/>
            </a:solidFill>
            <a:ln>
              <a:noFill/>
            </a:ln>
          </p:spPr>
          <p:txBody>
            <a:bodyPr spcFirstLastPara="1" wrap="square" lIns="83225" tIns="83225" rIns="83225" bIns="832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48" b="1">
                  <a:solidFill>
                    <a:schemeClr val="lt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Rosto reconhecido</a:t>
              </a:r>
              <a:endParaRPr sz="1548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43" name="Google Shape;443;p45"/>
            <p:cNvSpPr/>
            <p:nvPr/>
          </p:nvSpPr>
          <p:spPr>
            <a:xfrm>
              <a:off x="10143084" y="857836"/>
              <a:ext cx="199500" cy="199500"/>
            </a:xfrm>
            <a:prstGeom prst="ellipse">
              <a:avLst/>
            </a:prstGeom>
            <a:solidFill>
              <a:srgbClr val="FDE083"/>
            </a:solidFill>
            <a:ln>
              <a:noFill/>
            </a:ln>
          </p:spPr>
          <p:txBody>
            <a:bodyPr spcFirstLastPara="1" wrap="square" lIns="83225" tIns="83225" rIns="83225" bIns="832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75"/>
            </a:p>
          </p:txBody>
        </p:sp>
        <p:grpSp>
          <p:nvGrpSpPr>
            <p:cNvPr id="444" name="Google Shape;444;p45"/>
            <p:cNvGrpSpPr/>
            <p:nvPr/>
          </p:nvGrpSpPr>
          <p:grpSpPr>
            <a:xfrm>
              <a:off x="9886600" y="1185711"/>
              <a:ext cx="475775" cy="475775"/>
              <a:chOff x="7340036" y="2395594"/>
              <a:chExt cx="522600" cy="522600"/>
            </a:xfrm>
          </p:grpSpPr>
          <p:sp>
            <p:nvSpPr>
              <p:cNvPr id="445" name="Google Shape;445;p45"/>
              <p:cNvSpPr/>
              <p:nvPr/>
            </p:nvSpPr>
            <p:spPr>
              <a:xfrm>
                <a:off x="7340036" y="2395594"/>
                <a:ext cx="522600" cy="522600"/>
              </a:xfrm>
              <a:prstGeom prst="ellipse">
                <a:avLst/>
              </a:prstGeom>
              <a:solidFill>
                <a:srgbClr val="E89F00"/>
              </a:solidFill>
              <a:ln>
                <a:noFill/>
              </a:ln>
            </p:spPr>
            <p:txBody>
              <a:bodyPr spcFirstLastPara="1" wrap="square" lIns="83225" tIns="83225" rIns="83225" bIns="832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75"/>
              </a:p>
            </p:txBody>
          </p:sp>
          <p:pic>
            <p:nvPicPr>
              <p:cNvPr id="446" name="Google Shape;446;p45" title="Vector.png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7466131" y="2554081"/>
                <a:ext cx="270400" cy="205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FE0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6"/>
          <p:cNvSpPr txBox="1"/>
          <p:nvPr/>
        </p:nvSpPr>
        <p:spPr>
          <a:xfrm>
            <a:off x="776284" y="2339181"/>
            <a:ext cx="5274300" cy="16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3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Tecnologia que </a:t>
            </a:r>
            <a:r>
              <a:rPr lang="en-US" sz="3600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simplifica processos </a:t>
            </a:r>
            <a:endParaRPr sz="3600"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 cuida de pessoas</a:t>
            </a:r>
            <a:endParaRPr sz="36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53" name="Google Shape;453;p46"/>
          <p:cNvSpPr txBox="1"/>
          <p:nvPr/>
        </p:nvSpPr>
        <p:spPr>
          <a:xfrm>
            <a:off x="776275" y="4289475"/>
            <a:ext cx="50487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875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 </a:t>
            </a:r>
            <a:r>
              <a:rPr lang="en-US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Admissão Digital à Saúde e Segurança do Trabalho</a:t>
            </a:r>
            <a:r>
              <a:rPr lang="en-U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passando pela </a:t>
            </a:r>
            <a:r>
              <a:rPr lang="en-US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Assinatura Eletrônica</a:t>
            </a:r>
            <a:r>
              <a:rPr lang="en-U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 Vixting conecta processos, elimina a papelada e integra sistemas para tornar o RH mais ágil, seguro e eficiente.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Garantindo conformidade e promovendo bem-estar contínuo aos colaboradores.</a:t>
            </a:r>
            <a:endParaRPr sz="27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4" name="Google Shape;454;p46" title="Logo_Vixting_branco_Uma_empresa_grupo_Sankhya.png"/>
          <p:cNvPicPr preferRelativeResize="0"/>
          <p:nvPr/>
        </p:nvPicPr>
        <p:blipFill rotWithShape="1">
          <a:blip r:embed="rId3">
            <a:alphaModFix/>
          </a:blip>
          <a:srcRect r="32084"/>
          <a:stretch/>
        </p:blipFill>
        <p:spPr>
          <a:xfrm>
            <a:off x="740425" y="800100"/>
            <a:ext cx="4428349" cy="87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6" title="03.png"/>
          <p:cNvPicPr preferRelativeResize="0"/>
          <p:nvPr/>
        </p:nvPicPr>
        <p:blipFill rotWithShape="1">
          <a:blip r:embed="rId4">
            <a:alphaModFix amt="29000"/>
          </a:blip>
          <a:srcRect/>
          <a:stretch/>
        </p:blipFill>
        <p:spPr>
          <a:xfrm>
            <a:off x="6797550" y="2728388"/>
            <a:ext cx="6098374" cy="609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6" title="ilustracao-calendario-s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1950" y="2339175"/>
            <a:ext cx="2336391" cy="1950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6" title="ilustracao-cartao-s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18397" y="1571758"/>
            <a:ext cx="2030077" cy="1950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6" title="#019cde (1).png"/>
          <p:cNvPicPr preferRelativeResize="0"/>
          <p:nvPr/>
        </p:nvPicPr>
        <p:blipFill rotWithShape="1">
          <a:blip r:embed="rId7">
            <a:alphaModFix/>
          </a:blip>
          <a:srcRect l="50082"/>
          <a:stretch/>
        </p:blipFill>
        <p:spPr>
          <a:xfrm>
            <a:off x="8352362" y="143700"/>
            <a:ext cx="7175448" cy="808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46" title="vix2.gif"/>
          <p:cNvPicPr preferRelativeResize="0"/>
          <p:nvPr/>
        </p:nvPicPr>
        <p:blipFill rotWithShape="1">
          <a:blip r:embed="rId8">
            <a:alphaModFix/>
          </a:blip>
          <a:srcRect t="13114" b="11991"/>
          <a:stretch/>
        </p:blipFill>
        <p:spPr>
          <a:xfrm>
            <a:off x="6033488" y="5080450"/>
            <a:ext cx="3242325" cy="2428300"/>
          </a:xfrm>
          <a:prstGeom prst="rect">
            <a:avLst/>
          </a:prstGeom>
          <a:noFill/>
          <a:ln>
            <a:noFill/>
          </a:ln>
          <a:effectLst>
            <a:outerShdw blurRad="314325" dist="295275" dir="5400000" algn="bl" rotWithShape="0">
              <a:srgbClr val="2E3C50">
                <a:alpha val="50000"/>
              </a:srgbClr>
            </a:outerShdw>
          </a:effectLst>
        </p:spPr>
      </p:pic>
      <p:pic>
        <p:nvPicPr>
          <p:cNvPr id="460" name="Google Shape;460;p46" title="saud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657931">
            <a:off x="8255684" y="2262654"/>
            <a:ext cx="1866305" cy="1866343"/>
          </a:xfrm>
          <a:prstGeom prst="rect">
            <a:avLst/>
          </a:prstGeom>
          <a:noFill/>
          <a:ln>
            <a:noFill/>
          </a:ln>
          <a:effectLst>
            <a:outerShdw blurRad="314325" dist="295275" dir="5400000" algn="bl" rotWithShape="0">
              <a:srgbClr val="2E3C50">
                <a:alpha val="50000"/>
              </a:srgbClr>
            </a:outerShdw>
          </a:effectLst>
        </p:spPr>
      </p:pic>
      <p:pic>
        <p:nvPicPr>
          <p:cNvPr id="461" name="Google Shape;461;p46" title="#019cde (2).png"/>
          <p:cNvPicPr preferRelativeResize="0"/>
          <p:nvPr/>
        </p:nvPicPr>
        <p:blipFill rotWithShape="1">
          <a:blip r:embed="rId10">
            <a:alphaModFix/>
          </a:blip>
          <a:srcRect l="34708" t="26275" r="32617" b="22064"/>
          <a:stretch/>
        </p:blipFill>
        <p:spPr>
          <a:xfrm rot="353785">
            <a:off x="10994238" y="5284301"/>
            <a:ext cx="1723472" cy="153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47"/>
          <p:cNvPicPr preferRelativeResize="0"/>
          <p:nvPr/>
        </p:nvPicPr>
        <p:blipFill rotWithShape="1">
          <a:blip r:embed="rId3">
            <a:alphaModFix/>
          </a:blip>
          <a:srcRect l="1951" t="2563" r="1923"/>
          <a:stretch/>
        </p:blipFill>
        <p:spPr>
          <a:xfrm>
            <a:off x="9354125" y="731200"/>
            <a:ext cx="4038300" cy="2610300"/>
          </a:xfrm>
          <a:prstGeom prst="roundRect">
            <a:avLst>
              <a:gd name="adj" fmla="val 14414"/>
            </a:avLst>
          </a:prstGeom>
          <a:noFill/>
          <a:ln>
            <a:noFill/>
          </a:ln>
          <a:effectLst>
            <a:outerShdw blurRad="357188" dist="285750" dir="5400000" algn="bl" rotWithShape="0">
              <a:srgbClr val="000000">
                <a:alpha val="72000"/>
              </a:srgbClr>
            </a:outerShdw>
          </a:effectLst>
        </p:spPr>
      </p:pic>
      <p:sp>
        <p:nvSpPr>
          <p:cNvPr id="468" name="Google Shape;468;p47"/>
          <p:cNvSpPr txBox="1"/>
          <p:nvPr/>
        </p:nvSpPr>
        <p:spPr>
          <a:xfrm>
            <a:off x="740425" y="2342150"/>
            <a:ext cx="4630200" cy="16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3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233D54"/>
                </a:solidFill>
                <a:latin typeface="Work Sans"/>
                <a:ea typeface="Work Sans"/>
                <a:cs typeface="Work Sans"/>
                <a:sym typeface="Work Sans"/>
              </a:rPr>
              <a:t>Folha de pagamento integrada, </a:t>
            </a:r>
            <a:r>
              <a:rPr lang="en-US" sz="3600" b="1">
                <a:solidFill>
                  <a:srgbClr val="233D54"/>
                </a:solidFill>
                <a:latin typeface="Work Sans"/>
                <a:ea typeface="Work Sans"/>
                <a:cs typeface="Work Sans"/>
                <a:sym typeface="Work Sans"/>
              </a:rPr>
              <a:t>segura</a:t>
            </a:r>
            <a:br>
              <a:rPr lang="en-US" sz="3600" b="1">
                <a:solidFill>
                  <a:srgbClr val="233D54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n-US" sz="3600" b="1">
                <a:solidFill>
                  <a:srgbClr val="233D54"/>
                </a:solidFill>
                <a:latin typeface="Work Sans"/>
                <a:ea typeface="Work Sans"/>
                <a:cs typeface="Work Sans"/>
                <a:sym typeface="Work Sans"/>
              </a:rPr>
              <a:t>e em conformidade</a:t>
            </a:r>
            <a:endParaRPr sz="3600" b="1">
              <a:solidFill>
                <a:srgbClr val="233D54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69" name="Google Shape;469;p47"/>
          <p:cNvSpPr txBox="1"/>
          <p:nvPr/>
        </p:nvSpPr>
        <p:spPr>
          <a:xfrm>
            <a:off x="740425" y="4800600"/>
            <a:ext cx="3857700" cy="15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875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Automatize a folha de pagamento, reduza retrabalhos e aumente o controle com total conformidade</a:t>
            </a:r>
            <a:br>
              <a:rPr lang="en-U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 integração nativa ao ERP</a:t>
            </a:r>
            <a:r>
              <a:rPr lang="en-US" sz="20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20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70" name="Google Shape;470;p47" title="pessoas+_oficial.png"/>
          <p:cNvPicPr preferRelativeResize="0"/>
          <p:nvPr/>
        </p:nvPicPr>
        <p:blipFill rotWithShape="1">
          <a:blip r:embed="rId4">
            <a:alphaModFix/>
          </a:blip>
          <a:srcRect l="10885" t="21369" r="12192" b="23556"/>
          <a:stretch/>
        </p:blipFill>
        <p:spPr>
          <a:xfrm>
            <a:off x="650550" y="666950"/>
            <a:ext cx="5109873" cy="143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82961" y="5712479"/>
            <a:ext cx="2942552" cy="11602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2" name="Google Shape;472;p47"/>
          <p:cNvGrpSpPr/>
          <p:nvPr/>
        </p:nvGrpSpPr>
        <p:grpSpPr>
          <a:xfrm>
            <a:off x="5522851" y="2376078"/>
            <a:ext cx="6582660" cy="3833889"/>
            <a:chOff x="3726536" y="1895472"/>
            <a:chExt cx="5756590" cy="3352767"/>
          </a:xfrm>
        </p:grpSpPr>
        <p:grpSp>
          <p:nvGrpSpPr>
            <p:cNvPr id="473" name="Google Shape;473;p47"/>
            <p:cNvGrpSpPr/>
            <p:nvPr/>
          </p:nvGrpSpPr>
          <p:grpSpPr>
            <a:xfrm>
              <a:off x="3726536" y="1895472"/>
              <a:ext cx="5756590" cy="3352767"/>
              <a:chOff x="2632251" y="1208207"/>
              <a:chExt cx="6435539" cy="3747784"/>
            </a:xfrm>
          </p:grpSpPr>
          <p:sp>
            <p:nvSpPr>
              <p:cNvPr id="474" name="Google Shape;474;p47"/>
              <p:cNvSpPr/>
              <p:nvPr/>
            </p:nvSpPr>
            <p:spPr>
              <a:xfrm>
                <a:off x="3354550" y="1672700"/>
                <a:ext cx="4797300" cy="2818800"/>
              </a:xfrm>
              <a:prstGeom prst="roundRect">
                <a:avLst>
                  <a:gd name="adj" fmla="val 0"/>
                </a:avLst>
              </a:prstGeom>
              <a:solidFill>
                <a:srgbClr val="18222B"/>
              </a:solidFill>
              <a:ln>
                <a:noFill/>
              </a:ln>
            </p:spPr>
            <p:txBody>
              <a:bodyPr spcFirstLastPara="1" wrap="square" lIns="142100" tIns="142100" rIns="142100" bIns="1421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76"/>
                  <a:buFont typeface="Arial"/>
                  <a:buNone/>
                </a:pPr>
                <a:endParaRPr sz="217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75" name="Google Shape;475;p47"/>
              <p:cNvPicPr preferRelativeResize="0"/>
              <p:nvPr/>
            </p:nvPicPr>
            <p:blipFill rotWithShape="1">
              <a:blip r:embed="rId6">
                <a:alphaModFix/>
              </a:blip>
              <a:srcRect b="71576"/>
              <a:stretch/>
            </p:blipFill>
            <p:spPr>
              <a:xfrm>
                <a:off x="3404800" y="1477549"/>
                <a:ext cx="4712398" cy="6407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6" name="Google Shape;476;p47"/>
              <p:cNvPicPr preferRelativeResize="0"/>
              <p:nvPr/>
            </p:nvPicPr>
            <p:blipFill rotWithShape="1">
              <a:blip r:embed="rId6">
                <a:alphaModFix/>
              </a:blip>
              <a:srcRect l="28097" t="16585" r="25752" b="19554"/>
              <a:stretch/>
            </p:blipFill>
            <p:spPr>
              <a:xfrm>
                <a:off x="4285325" y="1988025"/>
                <a:ext cx="3201048" cy="211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7" name="Google Shape;477;p47"/>
              <p:cNvPicPr preferRelativeResize="0"/>
              <p:nvPr/>
            </p:nvPicPr>
            <p:blipFill rotWithShape="1">
              <a:blip r:embed="rId6">
                <a:alphaModFix/>
              </a:blip>
              <a:srcRect l="95630" t="82793"/>
              <a:stretch/>
            </p:blipFill>
            <p:spPr>
              <a:xfrm>
                <a:off x="7683377" y="3677375"/>
                <a:ext cx="356926" cy="6723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8" name="Google Shape;478;p47"/>
              <p:cNvPicPr preferRelativeResize="0"/>
              <p:nvPr/>
            </p:nvPicPr>
            <p:blipFill rotWithShape="1">
              <a:blip r:embed="rId7">
                <a:alphaModFix/>
              </a:blip>
              <a:srcRect r="-2785" b="-1926"/>
              <a:stretch/>
            </p:blipFill>
            <p:spPr>
              <a:xfrm>
                <a:off x="2632251" y="1208207"/>
                <a:ext cx="6435539" cy="374778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79" name="Google Shape;479;p47" title="475277938_1282616946343919_6995310135553525183_n (2).gif"/>
            <p:cNvPicPr preferRelativeResize="0"/>
            <p:nvPr/>
          </p:nvPicPr>
          <p:blipFill rotWithShape="1">
            <a:blip r:embed="rId8">
              <a:alphaModFix/>
            </a:blip>
            <a:srcRect t="1940" r="26416" b="1998"/>
            <a:stretch/>
          </p:blipFill>
          <p:spPr>
            <a:xfrm>
              <a:off x="4398875" y="2088875"/>
              <a:ext cx="4323024" cy="2656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0" name="Google Shape;480;p47"/>
          <p:cNvGrpSpPr/>
          <p:nvPr/>
        </p:nvGrpSpPr>
        <p:grpSpPr>
          <a:xfrm>
            <a:off x="10532906" y="2874088"/>
            <a:ext cx="3681337" cy="5862417"/>
            <a:chOff x="420900" y="833951"/>
            <a:chExt cx="2285551" cy="3639670"/>
          </a:xfrm>
        </p:grpSpPr>
        <p:grpSp>
          <p:nvGrpSpPr>
            <p:cNvPr id="481" name="Google Shape;481;p47"/>
            <p:cNvGrpSpPr/>
            <p:nvPr/>
          </p:nvGrpSpPr>
          <p:grpSpPr>
            <a:xfrm>
              <a:off x="420900" y="833951"/>
              <a:ext cx="2285551" cy="3475600"/>
              <a:chOff x="420900" y="833951"/>
              <a:chExt cx="2285551" cy="3475600"/>
            </a:xfrm>
          </p:grpSpPr>
          <p:pic>
            <p:nvPicPr>
              <p:cNvPr id="482" name="Google Shape;482;p47" title="app.png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420900" y="833951"/>
                <a:ext cx="2285551" cy="3475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87577" dist="492235" dir="8640000" algn="bl" rotWithShape="0">
                  <a:srgbClr val="000000">
                    <a:alpha val="39000"/>
                  </a:srgbClr>
                </a:outerShdw>
              </a:effectLst>
            </p:spPr>
          </p:pic>
          <p:sp>
            <p:nvSpPr>
              <p:cNvPr id="483" name="Google Shape;483;p47"/>
              <p:cNvSpPr/>
              <p:nvPr/>
            </p:nvSpPr>
            <p:spPr>
              <a:xfrm>
                <a:off x="662000" y="1409700"/>
                <a:ext cx="1895400" cy="2899800"/>
              </a:xfrm>
              <a:prstGeom prst="rect">
                <a:avLst/>
              </a:prstGeom>
              <a:solidFill>
                <a:srgbClr val="EEEEEE"/>
              </a:solidFill>
              <a:ln w="16425" cap="flat" cmpd="sng">
                <a:solidFill>
                  <a:srgbClr val="EAEDE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7475" tIns="157475" rIns="157475" bIns="1574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12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84" name="Google Shape;484;p47"/>
            <p:cNvGrpSpPr/>
            <p:nvPr/>
          </p:nvGrpSpPr>
          <p:grpSpPr>
            <a:xfrm>
              <a:off x="680625" y="1481199"/>
              <a:ext cx="1845804" cy="1442118"/>
              <a:chOff x="4352925" y="361950"/>
              <a:chExt cx="1866900" cy="1458600"/>
            </a:xfrm>
          </p:grpSpPr>
          <p:sp>
            <p:nvSpPr>
              <p:cNvPr id="485" name="Google Shape;485;p47"/>
              <p:cNvSpPr/>
              <p:nvPr/>
            </p:nvSpPr>
            <p:spPr>
              <a:xfrm>
                <a:off x="4352925" y="361950"/>
                <a:ext cx="1866900" cy="1458600"/>
              </a:xfrm>
              <a:prstGeom prst="roundRect">
                <a:avLst>
                  <a:gd name="adj" fmla="val 3001"/>
                </a:avLst>
              </a:prstGeom>
              <a:solidFill>
                <a:srgbClr val="FFFFFF"/>
              </a:solidFill>
              <a:ln w="164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7475" tIns="157475" rIns="157475" bIns="1574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12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486" name="Google Shape;486;p47"/>
              <p:cNvPicPr preferRelativeResize="0"/>
              <p:nvPr/>
            </p:nvPicPr>
            <p:blipFill rotWithShape="1">
              <a:blip r:embed="rId10">
                <a:alphaModFix/>
              </a:blip>
              <a:srcRect l="2221" t="40496" r="7142" b="5212"/>
              <a:stretch/>
            </p:blipFill>
            <p:spPr>
              <a:xfrm>
                <a:off x="4445800" y="543563"/>
                <a:ext cx="1681150" cy="1095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87" name="Google Shape;487;p47"/>
            <p:cNvGrpSpPr/>
            <p:nvPr/>
          </p:nvGrpSpPr>
          <p:grpSpPr>
            <a:xfrm>
              <a:off x="680614" y="3031503"/>
              <a:ext cx="1845804" cy="1442118"/>
              <a:chOff x="6529375" y="402200"/>
              <a:chExt cx="1866900" cy="1458600"/>
            </a:xfrm>
          </p:grpSpPr>
          <p:sp>
            <p:nvSpPr>
              <p:cNvPr id="488" name="Google Shape;488;p47"/>
              <p:cNvSpPr/>
              <p:nvPr/>
            </p:nvSpPr>
            <p:spPr>
              <a:xfrm>
                <a:off x="6529375" y="402200"/>
                <a:ext cx="1866900" cy="1458600"/>
              </a:xfrm>
              <a:prstGeom prst="roundRect">
                <a:avLst>
                  <a:gd name="adj" fmla="val 3002"/>
                </a:avLst>
              </a:prstGeom>
              <a:solidFill>
                <a:srgbClr val="FFFFFF"/>
              </a:solidFill>
              <a:ln w="164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7475" tIns="157475" rIns="157475" bIns="1574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12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489" name="Google Shape;489;p47"/>
              <p:cNvPicPr preferRelativeResize="0"/>
              <p:nvPr/>
            </p:nvPicPr>
            <p:blipFill rotWithShape="1">
              <a:blip r:embed="rId11">
                <a:alphaModFix/>
              </a:blip>
              <a:srcRect l="1659" t="2292" r="8194" b="28036"/>
              <a:stretch/>
            </p:blipFill>
            <p:spPr>
              <a:xfrm>
                <a:off x="6634875" y="517325"/>
                <a:ext cx="1647800" cy="1228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490" name="Google Shape;490;p47" title="icon-business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522853" y="5204518"/>
            <a:ext cx="2003277" cy="2176137"/>
          </a:xfrm>
          <a:prstGeom prst="rect">
            <a:avLst/>
          </a:prstGeom>
          <a:noFill/>
          <a:ln>
            <a:noFill/>
          </a:ln>
          <a:effectLst>
            <a:outerShdw blurRad="536227" dist="320820" dir="7620000" algn="bl" rotWithShape="0">
              <a:srgbClr val="000000">
                <a:alpha val="31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48" title="Grafism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9400" y="1198640"/>
            <a:ext cx="1996400" cy="8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8" title="Mode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2535" y="52440"/>
            <a:ext cx="6927863" cy="8177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8" title="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62630" y="1495120"/>
            <a:ext cx="4912762" cy="57352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8"/>
          <p:cNvSpPr txBox="1"/>
          <p:nvPr/>
        </p:nvSpPr>
        <p:spPr>
          <a:xfrm>
            <a:off x="1502200" y="2354880"/>
            <a:ext cx="8354400" cy="28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6100">
                <a:solidFill>
                  <a:srgbClr val="2B3A54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O jeito inteligente</a:t>
            </a:r>
            <a:endParaRPr sz="6100">
              <a:solidFill>
                <a:srgbClr val="2B3A54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6100">
                <a:solidFill>
                  <a:srgbClr val="2B3A54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de gerir benefícios</a:t>
            </a:r>
            <a:endParaRPr sz="6100">
              <a:solidFill>
                <a:srgbClr val="2B3A54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rgbClr val="2B3A54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corporativos</a:t>
            </a:r>
            <a:endParaRPr sz="6100">
              <a:solidFill>
                <a:srgbClr val="2B3A54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499" name="Google Shape;499;p48"/>
          <p:cNvSpPr/>
          <p:nvPr/>
        </p:nvSpPr>
        <p:spPr>
          <a:xfrm>
            <a:off x="1662640" y="5238640"/>
            <a:ext cx="5621700" cy="573600"/>
          </a:xfrm>
          <a:prstGeom prst="roundRect">
            <a:avLst>
              <a:gd name="adj" fmla="val 16667"/>
            </a:avLst>
          </a:prstGeom>
          <a:solidFill>
            <a:srgbClr val="66CC66"/>
          </a:solidFill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sp>
        <p:nvSpPr>
          <p:cNvPr id="500" name="Google Shape;500;p48"/>
          <p:cNvSpPr/>
          <p:nvPr/>
        </p:nvSpPr>
        <p:spPr>
          <a:xfrm>
            <a:off x="1662640" y="5869760"/>
            <a:ext cx="4117800" cy="573600"/>
          </a:xfrm>
          <a:prstGeom prst="roundRect">
            <a:avLst>
              <a:gd name="adj" fmla="val 16667"/>
            </a:avLst>
          </a:prstGeom>
          <a:solidFill>
            <a:srgbClr val="66CC66"/>
          </a:solidFill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sp>
        <p:nvSpPr>
          <p:cNvPr id="501" name="Google Shape;501;p48"/>
          <p:cNvSpPr txBox="1"/>
          <p:nvPr/>
        </p:nvSpPr>
        <p:spPr>
          <a:xfrm>
            <a:off x="1739040" y="5164726"/>
            <a:ext cx="5576100" cy="13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Solução flexível e integrada ao ecossistema </a:t>
            </a:r>
            <a:r>
              <a:rPr lang="en-US" sz="2700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Sankhya</a:t>
            </a:r>
            <a:endParaRPr sz="2700"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502" name="Google Shape;502;p48" title="Grafismo-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9120" y="6711120"/>
            <a:ext cx="1269920" cy="973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8" title="Grafismo-3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800000">
            <a:off x="-2" y="769960"/>
            <a:ext cx="4350360" cy="51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 title="Grafismo-3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280039" y="7448120"/>
            <a:ext cx="4350360" cy="51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9"/>
          <p:cNvSpPr/>
          <p:nvPr/>
        </p:nvSpPr>
        <p:spPr>
          <a:xfrm>
            <a:off x="7557825" y="978550"/>
            <a:ext cx="5567100" cy="74796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49"/>
          <p:cNvSpPr txBox="1"/>
          <p:nvPr/>
        </p:nvSpPr>
        <p:spPr>
          <a:xfrm>
            <a:off x="740425" y="2354400"/>
            <a:ext cx="5274300" cy="16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3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233D54"/>
                </a:solidFill>
                <a:latin typeface="Work Sans"/>
                <a:ea typeface="Work Sans"/>
                <a:cs typeface="Work Sans"/>
                <a:sym typeface="Work Sans"/>
              </a:rPr>
              <a:t>Desenvolvimento contínuo </a:t>
            </a:r>
            <a:r>
              <a:rPr lang="en-US" sz="3600" b="1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  <a:t>conectado</a:t>
            </a:r>
            <a:br>
              <a:rPr lang="en-US" sz="3600" b="1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n-US" sz="3600" b="1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rPr>
              <a:t>à estratégia</a:t>
            </a:r>
            <a:endParaRPr sz="3600" b="1">
              <a:solidFill>
                <a:schemeClr val="accent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12" name="Google Shape;512;p49"/>
          <p:cNvSpPr txBox="1"/>
          <p:nvPr/>
        </p:nvSpPr>
        <p:spPr>
          <a:xfrm>
            <a:off x="740425" y="4743750"/>
            <a:ext cx="4314300" cy="15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87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Transforme treinamento</a:t>
            </a:r>
            <a:endParaRPr sz="25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em resultado real, capacite equipes, acompanhe métricas e desenvolva pessoas.</a:t>
            </a:r>
            <a:endParaRPr sz="2700">
              <a:solidFill>
                <a:srgbClr val="59646E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13" name="Google Shape;513;p49" title="Ativo 32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978" y="798435"/>
            <a:ext cx="4855767" cy="7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49"/>
          <p:cNvSpPr/>
          <p:nvPr/>
        </p:nvSpPr>
        <p:spPr>
          <a:xfrm>
            <a:off x="7064800" y="749950"/>
            <a:ext cx="5567100" cy="74796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5" name="Google Shape;515;p49" title="Boo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03075" y="289338"/>
            <a:ext cx="2649073" cy="2649073"/>
          </a:xfrm>
          <a:prstGeom prst="rect">
            <a:avLst/>
          </a:prstGeom>
          <a:noFill/>
          <a:ln>
            <a:noFill/>
          </a:ln>
          <a:effectLst>
            <a:outerShdw blurRad="442913" dist="304800" dir="5400000" algn="bl" rotWithShape="0">
              <a:srgbClr val="93C47D">
                <a:alpha val="50000"/>
              </a:srgbClr>
            </a:outerShdw>
          </a:effectLst>
        </p:spPr>
      </p:pic>
      <p:pic>
        <p:nvPicPr>
          <p:cNvPr id="516" name="Google Shape;516;p49" title="highskilled-senior-businessman-formal-suit-using-tablet.png"/>
          <p:cNvPicPr preferRelativeResize="0"/>
          <p:nvPr/>
        </p:nvPicPr>
        <p:blipFill rotWithShape="1">
          <a:blip r:embed="rId5">
            <a:alphaModFix/>
          </a:blip>
          <a:srcRect l="12730" t="6541" r="37640" b="9602"/>
          <a:stretch/>
        </p:blipFill>
        <p:spPr>
          <a:xfrm>
            <a:off x="6480331" y="93897"/>
            <a:ext cx="7318795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49" title="desempenh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16030">
            <a:off x="5569280" y="3832530"/>
            <a:ext cx="2061168" cy="2061168"/>
          </a:xfrm>
          <a:prstGeom prst="rect">
            <a:avLst/>
          </a:prstGeom>
          <a:noFill/>
          <a:ln>
            <a:noFill/>
          </a:ln>
          <a:effectLst>
            <a:outerShdw blurRad="442913" dist="304800" dir="5400000" algn="bl" rotWithShape="0">
              <a:srgbClr val="93C47D">
                <a:alpha val="50000"/>
              </a:srgbClr>
            </a:outerShdw>
          </a:effectLst>
        </p:spPr>
      </p:pic>
      <p:pic>
        <p:nvPicPr>
          <p:cNvPr id="518" name="Google Shape;518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0">
            <a:off x="13089075" y="2468102"/>
            <a:ext cx="3009075" cy="118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50"/>
          <p:cNvPicPr preferRelativeResize="0"/>
          <p:nvPr/>
        </p:nvPicPr>
        <p:blipFill rotWithShape="1">
          <a:blip r:embed="rId3">
            <a:alphaModFix/>
          </a:blip>
          <a:srcRect l="23915" t="-5604" r="23595" b="31277"/>
          <a:stretch/>
        </p:blipFill>
        <p:spPr>
          <a:xfrm>
            <a:off x="0" y="5720675"/>
            <a:ext cx="14630400" cy="250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50" title="Prancheta 1 cópia@4x.png"/>
          <p:cNvPicPr preferRelativeResize="0"/>
          <p:nvPr/>
        </p:nvPicPr>
        <p:blipFill rotWithShape="1">
          <a:blip r:embed="rId4">
            <a:alphaModFix/>
          </a:blip>
          <a:srcRect l="11377" t="23166" r="9728" b="13471"/>
          <a:stretch/>
        </p:blipFill>
        <p:spPr>
          <a:xfrm>
            <a:off x="2954475" y="2665200"/>
            <a:ext cx="8724372" cy="15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50" title="Logo_Vixting_branco_by_sankhya.png"/>
          <p:cNvPicPr preferRelativeResize="0"/>
          <p:nvPr/>
        </p:nvPicPr>
        <p:blipFill rotWithShape="1">
          <a:blip r:embed="rId5">
            <a:alphaModFix/>
          </a:blip>
          <a:srcRect l="-7019" t="-8120" r="-1630" b="23532"/>
          <a:stretch/>
        </p:blipFill>
        <p:spPr>
          <a:xfrm>
            <a:off x="9930125" y="4889401"/>
            <a:ext cx="1496550" cy="35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50" title="Logo Pontotel _ Branco.png"/>
          <p:cNvPicPr preferRelativeResize="0"/>
          <p:nvPr/>
        </p:nvPicPr>
        <p:blipFill rotWithShape="1">
          <a:blip r:embed="rId6">
            <a:alphaModFix/>
          </a:blip>
          <a:srcRect l="-6773" t="-11426" r="-4264" b="-5520"/>
          <a:stretch/>
        </p:blipFill>
        <p:spPr>
          <a:xfrm>
            <a:off x="5327675" y="4821800"/>
            <a:ext cx="1747348" cy="470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0" title="Mindsight_LogoPrincipal_Branco.png"/>
          <p:cNvPicPr preferRelativeResize="0"/>
          <p:nvPr/>
        </p:nvPicPr>
        <p:blipFill rotWithShape="1">
          <a:blip r:embed="rId7">
            <a:alphaModFix/>
          </a:blip>
          <a:srcRect l="-4523" r="-5524"/>
          <a:stretch/>
        </p:blipFill>
        <p:spPr>
          <a:xfrm>
            <a:off x="3080689" y="4880175"/>
            <a:ext cx="1807836" cy="3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50" title="pessoas+branca.png"/>
          <p:cNvPicPr preferRelativeResize="0"/>
          <p:nvPr/>
        </p:nvPicPr>
        <p:blipFill rotWithShape="1">
          <a:blip r:embed="rId8">
            <a:alphaModFix/>
          </a:blip>
          <a:srcRect l="11171" t="22985" r="10052" b="26163"/>
          <a:stretch/>
        </p:blipFill>
        <p:spPr>
          <a:xfrm>
            <a:off x="7636851" y="4840050"/>
            <a:ext cx="1867110" cy="47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50" title="Ativo 2@4x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08475" y="5722180"/>
            <a:ext cx="3126585" cy="359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50" title="Ativo 1@4x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50640" y="5714025"/>
            <a:ext cx="2448680" cy="3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2E3D4F"/>
      </a:dk2>
      <a:lt2>
        <a:srgbClr val="B5B9BD"/>
      </a:lt2>
      <a:accent1>
        <a:srgbClr val="59646E"/>
      </a:accent1>
      <a:accent2>
        <a:srgbClr val="2E3C50"/>
      </a:accent2>
      <a:accent3>
        <a:srgbClr val="67CD67"/>
      </a:accent3>
      <a:accent4>
        <a:srgbClr val="93C66E"/>
      </a:accent4>
      <a:accent5>
        <a:srgbClr val="CEE3BC"/>
      </a:accent5>
      <a:accent6>
        <a:srgbClr val="E9F3E1"/>
      </a:accent6>
      <a:hlink>
        <a:srgbClr val="F9FC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</Words>
  <Application>Microsoft Office PowerPoint</Application>
  <PresentationFormat>Personalizar</PresentationFormat>
  <Paragraphs>99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13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16</vt:i4>
      </vt:variant>
    </vt:vector>
  </HeadingPairs>
  <TitlesOfParts>
    <vt:vector size="31" baseType="lpstr">
      <vt:lpstr>Work Sans</vt:lpstr>
      <vt:lpstr>Poppins</vt:lpstr>
      <vt:lpstr>Roboto</vt:lpstr>
      <vt:lpstr>Work Sans Thin</vt:lpstr>
      <vt:lpstr>Work Sans ExtraBold</vt:lpstr>
      <vt:lpstr>Arial</vt:lpstr>
      <vt:lpstr>Work Sans Light</vt:lpstr>
      <vt:lpstr>Hanken Grotesk Light</vt:lpstr>
      <vt:lpstr>Work Sans SemiBold</vt:lpstr>
      <vt:lpstr>Calibri</vt:lpstr>
      <vt:lpstr>Work Sans Medium</vt:lpstr>
      <vt:lpstr>Hanken Grotesk</vt:lpstr>
      <vt:lpstr>Roboto Light</vt:lpstr>
      <vt:lpstr>Office Theme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Gustavo Germano Furian</cp:lastModifiedBy>
  <cp:revision>1</cp:revision>
  <dcterms:modified xsi:type="dcterms:W3CDTF">2026-05-15T17:55:08Z</dcterms:modified>
</cp:coreProperties>
</file>