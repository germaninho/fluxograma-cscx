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75" d="100"/>
          <a:sy n="75" d="100"/>
        </p:scale>
        <p:origin x="516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780174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2E415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.png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E415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1508760"/>
            <a:ext cx="5394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</a:rPr>
              <a:t>Cases da Unidade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685800" y="2039112"/>
            <a:ext cx="5394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5DCB61"/>
                </a:solidFill>
              </a:rPr>
              <a:t>Sankhya ABC Paulista 2026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94944" y="2523744"/>
            <a:ext cx="4023360" cy="73152"/>
          </a:xfrm>
          <a:prstGeom prst="rect">
            <a:avLst/>
          </a:prstGeom>
          <a:solidFill>
            <a:srgbClr val="5DCB61"/>
          </a:solidFill>
          <a:ln w="12700">
            <a:solidFill>
              <a:srgbClr val="5DCB6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 sz="2400"/>
          </a:p>
        </p:txBody>
      </p:sp>
      <p:sp>
        <p:nvSpPr>
          <p:cNvPr id="5" name="Text 3"/>
          <p:cNvSpPr/>
          <p:nvPr/>
        </p:nvSpPr>
        <p:spPr>
          <a:xfrm>
            <a:off x="685800" y="2816352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C8D1DC"/>
                </a:solidFill>
              </a:rPr>
              <a:t>Carteira de clientes • Setores • Segmentos • Narrativas de valor</a:t>
            </a: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85800" y="379476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C8D1DC"/>
                </a:solidFill>
              </a:rPr>
              <a:t>Base Segmentação de Parceiros • 23/06/2026 12:12</a:t>
            </a:r>
            <a:endParaRPr lang="en-US" sz="900" dirty="0"/>
          </a:p>
          <a:p>
            <a:pPr marL="0" indent="0">
              <a:buNone/>
            </a:pPr>
            <a:r>
              <a:rPr lang="en-US" sz="1100" dirty="0">
                <a:solidFill>
                  <a:srgbClr val="C8D1DC"/>
                </a:solidFill>
              </a:rPr>
              <a:t>Dados complementares informados pelo CS e fontes institucionais fornecidas.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7635240" y="1234440"/>
            <a:ext cx="2057400" cy="2057400"/>
          </a:xfrm>
          <a:prstGeom prst="roundRect">
            <a:avLst>
              <a:gd name="adj" fmla="val 5333"/>
            </a:avLst>
          </a:prstGeom>
          <a:solidFill>
            <a:srgbClr val="5DCB61"/>
          </a:solidFill>
          <a:ln w="12700">
            <a:solidFill>
              <a:srgbClr val="5DCB6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 sz="2400"/>
          </a:p>
        </p:txBody>
      </p:sp>
      <p:sp>
        <p:nvSpPr>
          <p:cNvPr id="8" name="Text 6"/>
          <p:cNvSpPr/>
          <p:nvPr/>
        </p:nvSpPr>
        <p:spPr>
          <a:xfrm>
            <a:off x="7635240" y="1508760"/>
            <a:ext cx="2057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CASES</a:t>
            </a:r>
            <a:endParaRPr lang="en-US" sz="2800" dirty="0"/>
          </a:p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DA</a:t>
            </a:r>
            <a:endParaRPr lang="en-US" sz="2800" dirty="0"/>
          </a:p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UNIDADE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7635240" y="2395728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2026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8732520" y="6172200"/>
            <a:ext cx="2788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50" dirty="0">
                <a:solidFill>
                  <a:srgbClr val="FFFFFF">
                    <a:alpha val="88000"/>
                  </a:srgbClr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Cases Unidade • Sankhya ABC Paulista • 1/13</a:t>
            </a:r>
            <a:endParaRPr lang="en-US" sz="800" dirty="0"/>
          </a:p>
        </p:txBody>
      </p:sp>
      <p:pic>
        <p:nvPicPr>
          <p:cNvPr id="14" name="Imagem 13">
            <a:extLst>
              <a:ext uri="{FF2B5EF4-FFF2-40B4-BE49-F238E27FC236}">
                <a16:creationId xmlns:a16="http://schemas.microsoft.com/office/drawing/2014/main" id="{427F81C2-0B4D-D31A-7923-3029E72E33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477255"/>
            <a:ext cx="2476500" cy="190144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2E415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" y="621792"/>
            <a:ext cx="5669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5DCB61"/>
                </a:solidFill>
              </a:rPr>
              <a:t>&gt;&gt;&gt;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1207008" y="525780"/>
            <a:ext cx="2560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5DCB61"/>
                </a:solidFill>
              </a:rPr>
              <a:t>CONTEXTO ANTES DOS CASES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207008" y="800100"/>
            <a:ext cx="841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</a:rPr>
              <a:t>Como ler a segmentação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777240" y="1325880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C8D1DC"/>
                </a:solidFill>
              </a:rPr>
              <a:t>A classificação CS parte da leitura de porte/faixa anual de faturamento e é enriquecida pela visão de MRR, adoção, valor comercial e estratégia de relacionamento.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77240" y="1901952"/>
            <a:ext cx="1920240" cy="1325880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 sz="1050"/>
          </a:p>
        </p:txBody>
      </p:sp>
      <p:sp>
        <p:nvSpPr>
          <p:cNvPr id="7" name="Shape 5"/>
          <p:cNvSpPr/>
          <p:nvPr/>
        </p:nvSpPr>
        <p:spPr>
          <a:xfrm>
            <a:off x="1207008" y="2071116"/>
            <a:ext cx="1143000" cy="329184"/>
          </a:xfrm>
          <a:prstGeom prst="roundRect">
            <a:avLst>
              <a:gd name="adj" fmla="val 22222"/>
            </a:avLst>
          </a:prstGeom>
          <a:solidFill>
            <a:srgbClr val="FF7328"/>
          </a:solidFill>
          <a:ln w="12700">
            <a:solidFill>
              <a:srgbClr val="FF732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 sz="1050"/>
          </a:p>
        </p:txBody>
      </p:sp>
      <p:sp>
        <p:nvSpPr>
          <p:cNvPr id="8" name="Text 6"/>
          <p:cNvSpPr/>
          <p:nvPr/>
        </p:nvSpPr>
        <p:spPr>
          <a:xfrm>
            <a:off x="1207008" y="2171700"/>
            <a:ext cx="1143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Enterprise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941832" y="2542032"/>
            <a:ext cx="159105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980" dirty="0">
                <a:solidFill>
                  <a:srgbClr val="253449"/>
                </a:solidFill>
              </a:rPr>
              <a:t>Grande porte, em geral acima de R$ 300 MM. Modelo 1 para poucos.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044952" y="1901952"/>
            <a:ext cx="1920240" cy="1325880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 sz="1050"/>
          </a:p>
        </p:txBody>
      </p:sp>
      <p:sp>
        <p:nvSpPr>
          <p:cNvPr id="11" name="Shape 9"/>
          <p:cNvSpPr/>
          <p:nvPr/>
        </p:nvSpPr>
        <p:spPr>
          <a:xfrm>
            <a:off x="3433572" y="2071116"/>
            <a:ext cx="1143000" cy="329184"/>
          </a:xfrm>
          <a:prstGeom prst="roundRect">
            <a:avLst>
              <a:gd name="adj" fmla="val 22222"/>
            </a:avLst>
          </a:prstGeom>
          <a:solidFill>
            <a:srgbClr val="5B8DDF"/>
          </a:solidFill>
          <a:ln w="12700">
            <a:solidFill>
              <a:srgbClr val="5B8DD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 sz="1050"/>
          </a:p>
        </p:txBody>
      </p:sp>
      <p:sp>
        <p:nvSpPr>
          <p:cNvPr id="12" name="Text 10"/>
          <p:cNvSpPr/>
          <p:nvPr/>
        </p:nvSpPr>
        <p:spPr>
          <a:xfrm>
            <a:off x="3433572" y="2176272"/>
            <a:ext cx="1143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Premium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3209544" y="2542032"/>
            <a:ext cx="159105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980" dirty="0">
                <a:solidFill>
                  <a:srgbClr val="253449"/>
                </a:solidFill>
              </a:rPr>
              <a:t>Maior porte e ticket relevante. Exige proximidade e fidelização.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312664" y="1901952"/>
            <a:ext cx="1920240" cy="1325880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 sz="1050"/>
          </a:p>
        </p:txBody>
      </p:sp>
      <p:sp>
        <p:nvSpPr>
          <p:cNvPr id="15" name="Shape 13"/>
          <p:cNvSpPr/>
          <p:nvPr/>
        </p:nvSpPr>
        <p:spPr>
          <a:xfrm>
            <a:off x="5701284" y="2071116"/>
            <a:ext cx="1143000" cy="329184"/>
          </a:xfrm>
          <a:prstGeom prst="roundRect">
            <a:avLst>
              <a:gd name="adj" fmla="val 22222"/>
            </a:avLst>
          </a:prstGeom>
          <a:solidFill>
            <a:srgbClr val="5DCB61"/>
          </a:solidFill>
          <a:ln w="12700">
            <a:solidFill>
              <a:srgbClr val="5DCB6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 sz="1050"/>
          </a:p>
        </p:txBody>
      </p:sp>
      <p:sp>
        <p:nvSpPr>
          <p:cNvPr id="16" name="Text 14"/>
          <p:cNvSpPr/>
          <p:nvPr/>
        </p:nvSpPr>
        <p:spPr>
          <a:xfrm>
            <a:off x="5661406" y="2171700"/>
            <a:ext cx="1143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Advocacy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477256" y="2542032"/>
            <a:ext cx="159105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980" dirty="0">
                <a:solidFill>
                  <a:srgbClr val="253449"/>
                </a:solidFill>
              </a:rPr>
              <a:t>Alto MRR e maior adoção. Bom potencial de recomendação.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7580376" y="1901952"/>
            <a:ext cx="1920240" cy="1325880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 sz="1050"/>
          </a:p>
        </p:txBody>
      </p:sp>
      <p:sp>
        <p:nvSpPr>
          <p:cNvPr id="19" name="Shape 17"/>
          <p:cNvSpPr/>
          <p:nvPr/>
        </p:nvSpPr>
        <p:spPr>
          <a:xfrm>
            <a:off x="7968996" y="2071116"/>
            <a:ext cx="1143000" cy="329184"/>
          </a:xfrm>
          <a:prstGeom prst="roundRect">
            <a:avLst>
              <a:gd name="adj" fmla="val 22222"/>
            </a:avLst>
          </a:prstGeom>
          <a:solidFill>
            <a:srgbClr val="7D4294"/>
          </a:solidFill>
          <a:ln w="12700">
            <a:solidFill>
              <a:srgbClr val="7D429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 sz="1050"/>
          </a:p>
        </p:txBody>
      </p:sp>
      <p:sp>
        <p:nvSpPr>
          <p:cNvPr id="20" name="Text 18"/>
          <p:cNvSpPr/>
          <p:nvPr/>
        </p:nvSpPr>
        <p:spPr>
          <a:xfrm>
            <a:off x="7959852" y="2171700"/>
            <a:ext cx="1143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Growth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7744968" y="2542032"/>
            <a:ext cx="159105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980" dirty="0">
                <a:solidFill>
                  <a:srgbClr val="253449"/>
                </a:solidFill>
              </a:rPr>
              <a:t>Maior porte com potencial de cross-sell/upsell e crescimento.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9848088" y="1901952"/>
            <a:ext cx="1920240" cy="1325880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 sz="1050"/>
          </a:p>
        </p:txBody>
      </p:sp>
      <p:sp>
        <p:nvSpPr>
          <p:cNvPr id="23" name="Shape 21"/>
          <p:cNvSpPr/>
          <p:nvPr/>
        </p:nvSpPr>
        <p:spPr>
          <a:xfrm>
            <a:off x="10236708" y="2071116"/>
            <a:ext cx="1143000" cy="329184"/>
          </a:xfrm>
          <a:prstGeom prst="roundRect">
            <a:avLst>
              <a:gd name="adj" fmla="val 22222"/>
            </a:avLst>
          </a:prstGeom>
          <a:solidFill>
            <a:srgbClr val="16283D"/>
          </a:solidFill>
          <a:ln w="12700">
            <a:solidFill>
              <a:srgbClr val="16283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 sz="1050"/>
          </a:p>
        </p:txBody>
      </p:sp>
      <p:sp>
        <p:nvSpPr>
          <p:cNvPr id="24" name="Text 22"/>
          <p:cNvSpPr/>
          <p:nvPr/>
        </p:nvSpPr>
        <p:spPr>
          <a:xfrm>
            <a:off x="10236708" y="2167128"/>
            <a:ext cx="1143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Digital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10012680" y="2542032"/>
            <a:ext cx="159105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980" dirty="0">
                <a:solidFill>
                  <a:srgbClr val="253449"/>
                </a:solidFill>
              </a:rPr>
              <a:t>Menor porte/ticket. Jornada mais escalável e automatizada.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777240" y="3589019"/>
            <a:ext cx="5074920" cy="699517"/>
          </a:xfrm>
          <a:prstGeom prst="roundRect">
            <a:avLst>
              <a:gd name="adj" fmla="val 18750"/>
            </a:avLst>
          </a:prstGeom>
          <a:solidFill>
            <a:srgbClr val="F3F5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 sz="1050"/>
          </a:p>
        </p:txBody>
      </p:sp>
      <p:sp>
        <p:nvSpPr>
          <p:cNvPr id="27" name="Text 25"/>
          <p:cNvSpPr/>
          <p:nvPr/>
        </p:nvSpPr>
        <p:spPr>
          <a:xfrm>
            <a:off x="1005840" y="3840480"/>
            <a:ext cx="1600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5DCB61"/>
                </a:solidFill>
              </a:rPr>
              <a:t>Curva / Mensalidade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2697480" y="3717036"/>
            <a:ext cx="2880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980" dirty="0">
                <a:solidFill>
                  <a:srgbClr val="253449"/>
                </a:solidFill>
              </a:rPr>
              <a:t>Leitura da mensalidade na carteira. Curva A representa maior peso de mensalidade, Curva B intermediário e Curva C menor ticket relativo.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263640" y="3589019"/>
            <a:ext cx="5074920" cy="699517"/>
          </a:xfrm>
          <a:prstGeom prst="roundRect">
            <a:avLst>
              <a:gd name="adj" fmla="val 18750"/>
            </a:avLst>
          </a:prstGeom>
          <a:solidFill>
            <a:srgbClr val="F3F5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 sz="1050"/>
          </a:p>
        </p:txBody>
      </p:sp>
      <p:sp>
        <p:nvSpPr>
          <p:cNvPr id="30" name="Text 28"/>
          <p:cNvSpPr/>
          <p:nvPr/>
        </p:nvSpPr>
        <p:spPr>
          <a:xfrm>
            <a:off x="6492240" y="3840480"/>
            <a:ext cx="1600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5DCB61"/>
                </a:solidFill>
              </a:rPr>
              <a:t>Valor do Cliente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8183880" y="3733037"/>
            <a:ext cx="2880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980" dirty="0">
                <a:solidFill>
                  <a:srgbClr val="253449"/>
                </a:solidFill>
              </a:rPr>
              <a:t>Campo de leitura comercial do peso da conta no relacionamento: Alto, Médio ou Baixo. Ajuda a entender esforço, potencial e atenção executiva.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777240" y="4512565"/>
            <a:ext cx="5074920" cy="644651"/>
          </a:xfrm>
          <a:prstGeom prst="roundRect">
            <a:avLst>
              <a:gd name="adj" fmla="val 18750"/>
            </a:avLst>
          </a:prstGeom>
          <a:solidFill>
            <a:srgbClr val="F3F5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 sz="1050"/>
          </a:p>
        </p:txBody>
      </p:sp>
      <p:sp>
        <p:nvSpPr>
          <p:cNvPr id="33" name="Text 31"/>
          <p:cNvSpPr/>
          <p:nvPr/>
        </p:nvSpPr>
        <p:spPr>
          <a:xfrm>
            <a:off x="1005840" y="4709160"/>
            <a:ext cx="1600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5DCB61"/>
                </a:solidFill>
              </a:rPr>
              <a:t>Estratégia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2697480" y="4629150"/>
            <a:ext cx="2880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980" dirty="0">
                <a:solidFill>
                  <a:srgbClr val="253449"/>
                </a:solidFill>
              </a:rPr>
              <a:t>Direcionamento de relacionamento. Exemplos: Fidelizar, Blindar e Rentabilizar ou Manter. Indica o objetivo comercial/CS para a conta.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6263640" y="4512565"/>
            <a:ext cx="5074920" cy="644651"/>
          </a:xfrm>
          <a:prstGeom prst="roundRect">
            <a:avLst>
              <a:gd name="adj" fmla="val 18750"/>
            </a:avLst>
          </a:prstGeom>
          <a:solidFill>
            <a:srgbClr val="F3F5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 sz="1050"/>
          </a:p>
        </p:txBody>
      </p:sp>
      <p:sp>
        <p:nvSpPr>
          <p:cNvPr id="36" name="Text 34"/>
          <p:cNvSpPr/>
          <p:nvPr/>
        </p:nvSpPr>
        <p:spPr>
          <a:xfrm>
            <a:off x="6492240" y="4709160"/>
            <a:ext cx="1600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5DCB61"/>
                </a:solidFill>
              </a:rPr>
              <a:t>Segmento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8183880" y="4629150"/>
            <a:ext cx="2880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980" dirty="0">
                <a:solidFill>
                  <a:srgbClr val="253449"/>
                </a:solidFill>
              </a:rPr>
              <a:t>Vertical ou atividade usada para contar a história do case: indústria química, saúde, saneamento, TI, facilities, varejo funerário etc.</a:t>
            </a:r>
            <a:endParaRPr lang="en-US" sz="1050" dirty="0"/>
          </a:p>
        </p:txBody>
      </p:sp>
      <p:sp>
        <p:nvSpPr>
          <p:cNvPr id="39" name="Text 36"/>
          <p:cNvSpPr/>
          <p:nvPr/>
        </p:nvSpPr>
        <p:spPr>
          <a:xfrm>
            <a:off x="9738360" y="6272784"/>
            <a:ext cx="20116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 algn="r">
              <a:buNone/>
            </a:pPr>
            <a:r>
              <a:rPr lang="en-US" sz="850" dirty="0">
                <a:solidFill>
                  <a:srgbClr val="FFFFFF">
                    <a:alpha val="88000"/>
                  </a:srgbClr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Cases Unidade • Sankhya ABC Paulista • 2/13</a:t>
            </a:r>
            <a:endParaRPr lang="en-US" sz="800" dirty="0"/>
          </a:p>
        </p:txBody>
      </p:sp>
      <p:pic>
        <p:nvPicPr>
          <p:cNvPr id="43" name="Imagem 42">
            <a:extLst>
              <a:ext uri="{FF2B5EF4-FFF2-40B4-BE49-F238E27FC236}">
                <a16:creationId xmlns:a16="http://schemas.microsoft.com/office/drawing/2014/main" id="{A3997F4C-9D2B-5CD3-EA0E-F6E2EA4A18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477255"/>
            <a:ext cx="2476500" cy="1901441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E415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" y="621792"/>
            <a:ext cx="5669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5DCB61"/>
                </a:solidFill>
              </a:rPr>
              <a:t>&gt;&gt;&gt;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1234440" y="475488"/>
            <a:ext cx="2560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5DCB61"/>
                </a:solidFill>
              </a:rPr>
              <a:t>LEITURA EXECUTIVA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234440" y="800100"/>
            <a:ext cx="841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</a:rPr>
              <a:t>Panorama dos cases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868680" y="1417320"/>
            <a:ext cx="1572768" cy="713232"/>
          </a:xfrm>
          <a:prstGeom prst="roundRect">
            <a:avLst>
              <a:gd name="adj" fmla="val 15385"/>
            </a:avLst>
          </a:prstGeom>
          <a:solidFill>
            <a:srgbClr val="F3F5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 sz="2400"/>
          </a:p>
        </p:txBody>
      </p:sp>
      <p:sp>
        <p:nvSpPr>
          <p:cNvPr id="6" name="Text 4"/>
          <p:cNvSpPr/>
          <p:nvPr/>
        </p:nvSpPr>
        <p:spPr>
          <a:xfrm>
            <a:off x="868680" y="1563624"/>
            <a:ext cx="15727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5DCB61"/>
                </a:solidFill>
              </a:rPr>
              <a:t>59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914400" y="1874520"/>
            <a:ext cx="14813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53449"/>
                </a:solidFill>
              </a:rPr>
              <a:t>clientes ativos na carteira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679192" y="1417320"/>
            <a:ext cx="1572768" cy="713232"/>
          </a:xfrm>
          <a:prstGeom prst="roundRect">
            <a:avLst>
              <a:gd name="adj" fmla="val 15385"/>
            </a:avLst>
          </a:prstGeom>
          <a:solidFill>
            <a:srgbClr val="F3F5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 sz="2400"/>
          </a:p>
        </p:txBody>
      </p:sp>
      <p:sp>
        <p:nvSpPr>
          <p:cNvPr id="9" name="Text 7"/>
          <p:cNvSpPr/>
          <p:nvPr/>
        </p:nvSpPr>
        <p:spPr>
          <a:xfrm>
            <a:off x="2679192" y="1563624"/>
            <a:ext cx="15727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5DCB61"/>
                </a:solidFill>
              </a:rPr>
              <a:t>8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2724912" y="1874520"/>
            <a:ext cx="14813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53449"/>
                </a:solidFill>
              </a:rPr>
              <a:t>cases da unidade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489704" y="1417320"/>
            <a:ext cx="1572768" cy="713232"/>
          </a:xfrm>
          <a:prstGeom prst="roundRect">
            <a:avLst>
              <a:gd name="adj" fmla="val 15385"/>
            </a:avLst>
          </a:prstGeom>
          <a:solidFill>
            <a:srgbClr val="F3F5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 sz="2400"/>
          </a:p>
        </p:txBody>
      </p:sp>
      <p:sp>
        <p:nvSpPr>
          <p:cNvPr id="12" name="Text 10"/>
          <p:cNvSpPr/>
          <p:nvPr/>
        </p:nvSpPr>
        <p:spPr>
          <a:xfrm>
            <a:off x="4489704" y="1563624"/>
            <a:ext cx="15727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5DCB61"/>
                </a:solidFill>
              </a:rPr>
              <a:t>3 • 3 • 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4535424" y="1874520"/>
            <a:ext cx="14813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53449"/>
                </a:solidFill>
              </a:rPr>
              <a:t>Premium • Growth • Digital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300216" y="1417320"/>
            <a:ext cx="1572768" cy="713232"/>
          </a:xfrm>
          <a:prstGeom prst="roundRect">
            <a:avLst>
              <a:gd name="adj" fmla="val 15385"/>
            </a:avLst>
          </a:prstGeom>
          <a:solidFill>
            <a:srgbClr val="F3F5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 sz="2400"/>
          </a:p>
        </p:txBody>
      </p:sp>
      <p:sp>
        <p:nvSpPr>
          <p:cNvPr id="15" name="Text 13"/>
          <p:cNvSpPr/>
          <p:nvPr/>
        </p:nvSpPr>
        <p:spPr>
          <a:xfrm>
            <a:off x="6300216" y="1563624"/>
            <a:ext cx="15727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5DCB61"/>
                </a:solidFill>
              </a:rPr>
              <a:t>4 • 3 • 1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6345936" y="1874520"/>
            <a:ext cx="14813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53449"/>
                </a:solidFill>
              </a:rPr>
              <a:t>Serviço • Indústria • Varejo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868680" y="2816352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FFFFFF"/>
                </a:solidFill>
              </a:rPr>
              <a:t>Segmentação CS</a:t>
            </a:r>
            <a:endParaRPr lang="en-US" dirty="0"/>
          </a:p>
        </p:txBody>
      </p:sp>
      <p:sp>
        <p:nvSpPr>
          <p:cNvPr id="18" name="Shape 16"/>
          <p:cNvSpPr/>
          <p:nvPr/>
        </p:nvSpPr>
        <p:spPr>
          <a:xfrm>
            <a:off x="941832" y="3310128"/>
            <a:ext cx="1463040" cy="329184"/>
          </a:xfrm>
          <a:prstGeom prst="roundRect">
            <a:avLst>
              <a:gd name="adj" fmla="val 22222"/>
            </a:avLst>
          </a:prstGeom>
          <a:solidFill>
            <a:srgbClr val="5DCB61"/>
          </a:solidFill>
          <a:ln w="12700">
            <a:solidFill>
              <a:srgbClr val="5DCB6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 sz="1050"/>
          </a:p>
        </p:txBody>
      </p:sp>
      <p:sp>
        <p:nvSpPr>
          <p:cNvPr id="19" name="Text 17"/>
          <p:cNvSpPr/>
          <p:nvPr/>
        </p:nvSpPr>
        <p:spPr>
          <a:xfrm>
            <a:off x="941832" y="3396996"/>
            <a:ext cx="1463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Premium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2633472" y="3392424"/>
            <a:ext cx="1261872" cy="182880"/>
          </a:xfrm>
          <a:prstGeom prst="rect">
            <a:avLst/>
          </a:prstGeom>
          <a:solidFill>
            <a:srgbClr val="5DCB61"/>
          </a:solidFill>
          <a:ln w="12700">
            <a:solidFill>
              <a:srgbClr val="5DCB6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 sz="1050"/>
          </a:p>
        </p:txBody>
      </p:sp>
      <p:sp>
        <p:nvSpPr>
          <p:cNvPr id="21" name="Text 19"/>
          <p:cNvSpPr/>
          <p:nvPr/>
        </p:nvSpPr>
        <p:spPr>
          <a:xfrm>
            <a:off x="4005072" y="3401568"/>
            <a:ext cx="2743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941832" y="3822192"/>
            <a:ext cx="1463040" cy="329184"/>
          </a:xfrm>
          <a:prstGeom prst="roundRect">
            <a:avLst>
              <a:gd name="adj" fmla="val 22222"/>
            </a:avLst>
          </a:prstGeom>
          <a:solidFill>
            <a:srgbClr val="7D4294"/>
          </a:solidFill>
          <a:ln w="12700">
            <a:solidFill>
              <a:srgbClr val="7D429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 sz="1050"/>
          </a:p>
        </p:txBody>
      </p:sp>
      <p:sp>
        <p:nvSpPr>
          <p:cNvPr id="23" name="Text 21"/>
          <p:cNvSpPr/>
          <p:nvPr/>
        </p:nvSpPr>
        <p:spPr>
          <a:xfrm>
            <a:off x="941832" y="3909060"/>
            <a:ext cx="1463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Growth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2633472" y="3904488"/>
            <a:ext cx="1261872" cy="182880"/>
          </a:xfrm>
          <a:prstGeom prst="rect">
            <a:avLst/>
          </a:prstGeom>
          <a:solidFill>
            <a:srgbClr val="7D4294"/>
          </a:solidFill>
          <a:ln w="12700">
            <a:solidFill>
              <a:srgbClr val="7D429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 sz="1050"/>
          </a:p>
        </p:txBody>
      </p:sp>
      <p:sp>
        <p:nvSpPr>
          <p:cNvPr id="25" name="Text 23"/>
          <p:cNvSpPr/>
          <p:nvPr/>
        </p:nvSpPr>
        <p:spPr>
          <a:xfrm>
            <a:off x="4005072" y="3913632"/>
            <a:ext cx="2743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941832" y="4334256"/>
            <a:ext cx="1463040" cy="329184"/>
          </a:xfrm>
          <a:prstGeom prst="roundRect">
            <a:avLst>
              <a:gd name="adj" fmla="val 22222"/>
            </a:avLst>
          </a:prstGeom>
          <a:solidFill>
            <a:srgbClr val="FF7328"/>
          </a:solidFill>
          <a:ln w="12700">
            <a:solidFill>
              <a:srgbClr val="FF732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 sz="1050"/>
          </a:p>
        </p:txBody>
      </p:sp>
      <p:sp>
        <p:nvSpPr>
          <p:cNvPr id="27" name="Text 25"/>
          <p:cNvSpPr/>
          <p:nvPr/>
        </p:nvSpPr>
        <p:spPr>
          <a:xfrm>
            <a:off x="941832" y="4421124"/>
            <a:ext cx="1463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Digital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2633472" y="4416552"/>
            <a:ext cx="841248" cy="182880"/>
          </a:xfrm>
          <a:prstGeom prst="rect">
            <a:avLst/>
          </a:prstGeom>
          <a:solidFill>
            <a:srgbClr val="FF7328"/>
          </a:solidFill>
          <a:ln w="12700">
            <a:solidFill>
              <a:srgbClr val="FF732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 sz="1050"/>
          </a:p>
        </p:txBody>
      </p:sp>
      <p:sp>
        <p:nvSpPr>
          <p:cNvPr id="29" name="Text 27"/>
          <p:cNvSpPr/>
          <p:nvPr/>
        </p:nvSpPr>
        <p:spPr>
          <a:xfrm>
            <a:off x="3584448" y="4425696"/>
            <a:ext cx="2743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4800600" y="2816352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FFFFFF"/>
                </a:solidFill>
              </a:rPr>
              <a:t>Setores predominantes</a:t>
            </a:r>
            <a:endParaRPr lang="en-US" dirty="0"/>
          </a:p>
        </p:txBody>
      </p:sp>
      <p:sp>
        <p:nvSpPr>
          <p:cNvPr id="31" name="Shape 29"/>
          <p:cNvSpPr/>
          <p:nvPr/>
        </p:nvSpPr>
        <p:spPr>
          <a:xfrm>
            <a:off x="4846320" y="3310128"/>
            <a:ext cx="1463040" cy="329184"/>
          </a:xfrm>
          <a:prstGeom prst="roundRect">
            <a:avLst>
              <a:gd name="adj" fmla="val 22222"/>
            </a:avLst>
          </a:prstGeom>
          <a:solidFill>
            <a:srgbClr val="5DCB61"/>
          </a:solidFill>
          <a:ln w="12700">
            <a:solidFill>
              <a:srgbClr val="5DCB6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 sz="1050"/>
          </a:p>
        </p:txBody>
      </p:sp>
      <p:sp>
        <p:nvSpPr>
          <p:cNvPr id="32" name="Text 30"/>
          <p:cNvSpPr/>
          <p:nvPr/>
        </p:nvSpPr>
        <p:spPr>
          <a:xfrm>
            <a:off x="4846320" y="3396996"/>
            <a:ext cx="1463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Serviço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6537960" y="3392424"/>
            <a:ext cx="1508760" cy="182880"/>
          </a:xfrm>
          <a:prstGeom prst="rect">
            <a:avLst/>
          </a:prstGeom>
          <a:solidFill>
            <a:srgbClr val="5DCB61"/>
          </a:solidFill>
          <a:ln w="12700">
            <a:solidFill>
              <a:srgbClr val="5DCB6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 sz="1050"/>
          </a:p>
        </p:txBody>
      </p:sp>
      <p:sp>
        <p:nvSpPr>
          <p:cNvPr id="34" name="Text 32"/>
          <p:cNvSpPr/>
          <p:nvPr/>
        </p:nvSpPr>
        <p:spPr>
          <a:xfrm>
            <a:off x="8156448" y="3401568"/>
            <a:ext cx="2743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4846320" y="3822192"/>
            <a:ext cx="1463040" cy="329184"/>
          </a:xfrm>
          <a:prstGeom prst="roundRect">
            <a:avLst>
              <a:gd name="adj" fmla="val 22222"/>
            </a:avLst>
          </a:prstGeom>
          <a:solidFill>
            <a:srgbClr val="7D4294"/>
          </a:solidFill>
          <a:ln w="12700">
            <a:solidFill>
              <a:srgbClr val="7D429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 sz="1050"/>
          </a:p>
        </p:txBody>
      </p:sp>
      <p:sp>
        <p:nvSpPr>
          <p:cNvPr id="36" name="Text 34"/>
          <p:cNvSpPr/>
          <p:nvPr/>
        </p:nvSpPr>
        <p:spPr>
          <a:xfrm>
            <a:off x="4846320" y="3909060"/>
            <a:ext cx="1463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Indústria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6537960" y="3904488"/>
            <a:ext cx="1143000" cy="182880"/>
          </a:xfrm>
          <a:prstGeom prst="rect">
            <a:avLst/>
          </a:prstGeom>
          <a:solidFill>
            <a:srgbClr val="7D4294"/>
          </a:solidFill>
          <a:ln w="12700">
            <a:solidFill>
              <a:srgbClr val="7D429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 sz="1050"/>
          </a:p>
        </p:txBody>
      </p:sp>
      <p:sp>
        <p:nvSpPr>
          <p:cNvPr id="38" name="Text 36"/>
          <p:cNvSpPr/>
          <p:nvPr/>
        </p:nvSpPr>
        <p:spPr>
          <a:xfrm>
            <a:off x="7790688" y="3913632"/>
            <a:ext cx="2743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4846320" y="4334256"/>
            <a:ext cx="1463040" cy="329184"/>
          </a:xfrm>
          <a:prstGeom prst="roundRect">
            <a:avLst>
              <a:gd name="adj" fmla="val 22222"/>
            </a:avLst>
          </a:prstGeom>
          <a:solidFill>
            <a:srgbClr val="FF7328"/>
          </a:solidFill>
          <a:ln w="12700">
            <a:solidFill>
              <a:srgbClr val="FF732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 sz="1050"/>
          </a:p>
        </p:txBody>
      </p:sp>
      <p:sp>
        <p:nvSpPr>
          <p:cNvPr id="40" name="Text 38"/>
          <p:cNvSpPr/>
          <p:nvPr/>
        </p:nvSpPr>
        <p:spPr>
          <a:xfrm>
            <a:off x="4846320" y="4421124"/>
            <a:ext cx="1463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Varejo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6537960" y="4416552"/>
            <a:ext cx="411480" cy="182880"/>
          </a:xfrm>
          <a:prstGeom prst="rect">
            <a:avLst/>
          </a:prstGeom>
          <a:solidFill>
            <a:srgbClr val="FF7328"/>
          </a:solidFill>
          <a:ln w="12700">
            <a:solidFill>
              <a:srgbClr val="FF732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 sz="1050"/>
          </a:p>
        </p:txBody>
      </p:sp>
      <p:sp>
        <p:nvSpPr>
          <p:cNvPr id="42" name="Text 40"/>
          <p:cNvSpPr/>
          <p:nvPr/>
        </p:nvSpPr>
        <p:spPr>
          <a:xfrm>
            <a:off x="7059168" y="4425696"/>
            <a:ext cx="2743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8485632" y="1417320"/>
            <a:ext cx="3035808" cy="411480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 sz="1000"/>
          </a:p>
        </p:txBody>
      </p:sp>
      <p:sp>
        <p:nvSpPr>
          <p:cNvPr id="44" name="Text 42"/>
          <p:cNvSpPr/>
          <p:nvPr/>
        </p:nvSpPr>
        <p:spPr>
          <a:xfrm>
            <a:off x="8732520" y="1664208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5DCB61"/>
                </a:solidFill>
              </a:rPr>
              <a:t>TOP 8 POR MRR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8759952" y="2029968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253449"/>
                </a:solidFill>
              </a:rPr>
              <a:t>1. EP ENGENHARIA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8769096" y="2254691"/>
            <a:ext cx="777240" cy="32004"/>
          </a:xfrm>
          <a:prstGeom prst="rect">
            <a:avLst/>
          </a:prstGeom>
          <a:solidFill>
            <a:srgbClr val="5DCB61"/>
          </a:solidFill>
          <a:ln w="12700">
            <a:solidFill>
              <a:srgbClr val="5DCB6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 sz="1000"/>
          </a:p>
        </p:txBody>
      </p:sp>
      <p:sp>
        <p:nvSpPr>
          <p:cNvPr id="47" name="Text 45"/>
          <p:cNvSpPr/>
          <p:nvPr/>
        </p:nvSpPr>
        <p:spPr>
          <a:xfrm>
            <a:off x="10561320" y="2029968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253449"/>
                </a:solidFill>
              </a:rPr>
              <a:t>R$ 32.317,29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8759952" y="2414016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253449"/>
                </a:solidFill>
              </a:rPr>
              <a:t>2. ÍCONE MEDICAL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8769096" y="2638739"/>
            <a:ext cx="777240" cy="32004"/>
          </a:xfrm>
          <a:prstGeom prst="rect">
            <a:avLst/>
          </a:prstGeom>
          <a:solidFill>
            <a:srgbClr val="5DCB61"/>
          </a:solidFill>
          <a:ln w="12700">
            <a:solidFill>
              <a:srgbClr val="5DCB6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 sz="1000"/>
          </a:p>
        </p:txBody>
      </p:sp>
      <p:sp>
        <p:nvSpPr>
          <p:cNvPr id="50" name="Text 48"/>
          <p:cNvSpPr/>
          <p:nvPr/>
        </p:nvSpPr>
        <p:spPr>
          <a:xfrm>
            <a:off x="10561320" y="2414016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253449"/>
                </a:solidFill>
              </a:rPr>
              <a:t>R$ 24.399,31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8759952" y="2798064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253449"/>
                </a:solidFill>
              </a:rPr>
              <a:t>3. GRIF / GUIMA CONSECO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8769096" y="3022787"/>
            <a:ext cx="777240" cy="32004"/>
          </a:xfrm>
          <a:prstGeom prst="rect">
            <a:avLst/>
          </a:prstGeom>
          <a:solidFill>
            <a:srgbClr val="5DCB61"/>
          </a:solidFill>
          <a:ln w="12700">
            <a:solidFill>
              <a:srgbClr val="5DCB6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 sz="1000"/>
          </a:p>
        </p:txBody>
      </p:sp>
      <p:sp>
        <p:nvSpPr>
          <p:cNvPr id="53" name="Text 51"/>
          <p:cNvSpPr/>
          <p:nvPr/>
        </p:nvSpPr>
        <p:spPr>
          <a:xfrm>
            <a:off x="10561320" y="2798064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253449"/>
                </a:solidFill>
              </a:rPr>
              <a:t>R$ 23.976,31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8759952" y="3182112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253449"/>
                </a:solidFill>
              </a:rPr>
              <a:t>4. MODIAL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8769096" y="3406835"/>
            <a:ext cx="777240" cy="32004"/>
          </a:xfrm>
          <a:prstGeom prst="rect">
            <a:avLst/>
          </a:prstGeom>
          <a:solidFill>
            <a:srgbClr val="FF7328"/>
          </a:solidFill>
          <a:ln w="12700">
            <a:solidFill>
              <a:srgbClr val="FF732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 sz="1000"/>
          </a:p>
        </p:txBody>
      </p:sp>
      <p:sp>
        <p:nvSpPr>
          <p:cNvPr id="56" name="Text 54"/>
          <p:cNvSpPr/>
          <p:nvPr/>
        </p:nvSpPr>
        <p:spPr>
          <a:xfrm>
            <a:off x="10561320" y="3182112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253449"/>
                </a:solidFill>
              </a:rPr>
              <a:t>R$ 17.383,57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8759952" y="3566160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253449"/>
                </a:solidFill>
              </a:rPr>
              <a:t>5. PROAUTO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8769096" y="3790883"/>
            <a:ext cx="777240" cy="32004"/>
          </a:xfrm>
          <a:prstGeom prst="rect">
            <a:avLst/>
          </a:prstGeom>
          <a:solidFill>
            <a:srgbClr val="FF7328"/>
          </a:solidFill>
          <a:ln w="12700">
            <a:solidFill>
              <a:srgbClr val="FF732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 sz="1000"/>
          </a:p>
        </p:txBody>
      </p:sp>
      <p:sp>
        <p:nvSpPr>
          <p:cNvPr id="59" name="Text 57"/>
          <p:cNvSpPr/>
          <p:nvPr/>
        </p:nvSpPr>
        <p:spPr>
          <a:xfrm>
            <a:off x="10561320" y="3566160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253449"/>
                </a:solidFill>
              </a:rPr>
              <a:t>R$ 12.796,44</a:t>
            </a: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>
            <a:off x="8759952" y="3950208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253449"/>
                </a:solidFill>
              </a:rPr>
              <a:t>6. NUNO / HIDRABELL</a:t>
            </a:r>
            <a:endParaRPr lang="en-US" sz="1000" dirty="0"/>
          </a:p>
        </p:txBody>
      </p:sp>
      <p:sp>
        <p:nvSpPr>
          <p:cNvPr id="61" name="Shape 59"/>
          <p:cNvSpPr/>
          <p:nvPr/>
        </p:nvSpPr>
        <p:spPr>
          <a:xfrm>
            <a:off x="8769096" y="4174931"/>
            <a:ext cx="777240" cy="32004"/>
          </a:xfrm>
          <a:prstGeom prst="rect">
            <a:avLst/>
          </a:prstGeom>
          <a:solidFill>
            <a:srgbClr val="7D4294"/>
          </a:solidFill>
          <a:ln w="12700">
            <a:solidFill>
              <a:srgbClr val="7D429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 sz="1000"/>
          </a:p>
        </p:txBody>
      </p:sp>
      <p:sp>
        <p:nvSpPr>
          <p:cNvPr id="62" name="Text 60"/>
          <p:cNvSpPr/>
          <p:nvPr/>
        </p:nvSpPr>
        <p:spPr>
          <a:xfrm>
            <a:off x="10561320" y="3950208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253449"/>
                </a:solidFill>
              </a:rPr>
              <a:t>R$ 8.488,48</a:t>
            </a:r>
            <a:endParaRPr lang="en-US" sz="900" dirty="0"/>
          </a:p>
        </p:txBody>
      </p:sp>
      <p:sp>
        <p:nvSpPr>
          <p:cNvPr id="63" name="Text 61"/>
          <p:cNvSpPr/>
          <p:nvPr/>
        </p:nvSpPr>
        <p:spPr>
          <a:xfrm>
            <a:off x="8759952" y="4334256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253449"/>
                </a:solidFill>
              </a:rPr>
              <a:t>7. UREPOL</a:t>
            </a:r>
            <a:endParaRPr lang="en-US" sz="1000" dirty="0"/>
          </a:p>
        </p:txBody>
      </p:sp>
      <p:sp>
        <p:nvSpPr>
          <p:cNvPr id="64" name="Shape 62"/>
          <p:cNvSpPr/>
          <p:nvPr/>
        </p:nvSpPr>
        <p:spPr>
          <a:xfrm>
            <a:off x="8769096" y="4558979"/>
            <a:ext cx="777240" cy="32004"/>
          </a:xfrm>
          <a:prstGeom prst="rect">
            <a:avLst/>
          </a:prstGeom>
          <a:solidFill>
            <a:srgbClr val="7D4294"/>
          </a:solidFill>
          <a:ln w="12700">
            <a:solidFill>
              <a:srgbClr val="7D429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 sz="1000"/>
          </a:p>
        </p:txBody>
      </p:sp>
      <p:sp>
        <p:nvSpPr>
          <p:cNvPr id="65" name="Text 63"/>
          <p:cNvSpPr/>
          <p:nvPr/>
        </p:nvSpPr>
        <p:spPr>
          <a:xfrm>
            <a:off x="10561320" y="4334256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253449"/>
                </a:solidFill>
              </a:rPr>
              <a:t>R$ 6.616,28</a:t>
            </a:r>
            <a:endParaRPr lang="en-US" sz="900" dirty="0"/>
          </a:p>
        </p:txBody>
      </p:sp>
      <p:sp>
        <p:nvSpPr>
          <p:cNvPr id="66" name="Text 64"/>
          <p:cNvSpPr/>
          <p:nvPr/>
        </p:nvSpPr>
        <p:spPr>
          <a:xfrm>
            <a:off x="8759952" y="4718304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253449"/>
                </a:solidFill>
              </a:rPr>
              <a:t>8. OPTEC</a:t>
            </a:r>
            <a:endParaRPr lang="en-US" sz="1000" dirty="0"/>
          </a:p>
        </p:txBody>
      </p:sp>
      <p:sp>
        <p:nvSpPr>
          <p:cNvPr id="67" name="Shape 65"/>
          <p:cNvSpPr/>
          <p:nvPr/>
        </p:nvSpPr>
        <p:spPr>
          <a:xfrm>
            <a:off x="8769096" y="4943027"/>
            <a:ext cx="777240" cy="32004"/>
          </a:xfrm>
          <a:prstGeom prst="rect">
            <a:avLst/>
          </a:prstGeom>
          <a:solidFill>
            <a:srgbClr val="FF7328"/>
          </a:solidFill>
          <a:ln w="12700">
            <a:solidFill>
              <a:srgbClr val="FF732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 sz="1000"/>
          </a:p>
        </p:txBody>
      </p:sp>
      <p:sp>
        <p:nvSpPr>
          <p:cNvPr id="68" name="Text 66"/>
          <p:cNvSpPr/>
          <p:nvPr/>
        </p:nvSpPr>
        <p:spPr>
          <a:xfrm>
            <a:off x="10561320" y="4718304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253449"/>
                </a:solidFill>
              </a:rPr>
              <a:t>R$ 5.628,15</a:t>
            </a:r>
            <a:endParaRPr lang="en-US" sz="900" dirty="0"/>
          </a:p>
        </p:txBody>
      </p:sp>
      <p:sp>
        <p:nvSpPr>
          <p:cNvPr id="69" name="Text 67"/>
          <p:cNvSpPr/>
          <p:nvPr/>
        </p:nvSpPr>
        <p:spPr>
          <a:xfrm>
            <a:off x="868680" y="5669280"/>
            <a:ext cx="85953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850" i="1" dirty="0">
                <a:solidFill>
                  <a:srgbClr val="E4EAF1"/>
                </a:solidFill>
              </a:rPr>
              <a:t>Observação: os valores representam MRR/mensalidade por cliente no export; o foco desta apresentação é a leitura dos cases, não o consolidado financeiro.</a:t>
            </a:r>
            <a:endParaRPr lang="en-US" sz="700" dirty="0"/>
          </a:p>
        </p:txBody>
      </p:sp>
      <p:sp>
        <p:nvSpPr>
          <p:cNvPr id="71" name="Text 68"/>
          <p:cNvSpPr/>
          <p:nvPr/>
        </p:nvSpPr>
        <p:spPr>
          <a:xfrm>
            <a:off x="8732520" y="6172200"/>
            <a:ext cx="2788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50" dirty="0">
                <a:solidFill>
                  <a:srgbClr val="FFFFFF">
                    <a:alpha val="88000"/>
                  </a:srgbClr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Cases Unidade • Sankhya ABC Paulista • 3/13</a:t>
            </a:r>
            <a:endParaRPr lang="en-US" sz="800" dirty="0"/>
          </a:p>
        </p:txBody>
      </p:sp>
      <p:pic>
        <p:nvPicPr>
          <p:cNvPr id="75" name="Imagem 74">
            <a:extLst>
              <a:ext uri="{FF2B5EF4-FFF2-40B4-BE49-F238E27FC236}">
                <a16:creationId xmlns:a16="http://schemas.microsoft.com/office/drawing/2014/main" id="{52D52168-A005-A8F7-22CE-DC415D41C3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477255"/>
            <a:ext cx="2476500" cy="1901441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2E415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" y="621792"/>
            <a:ext cx="5669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5DCB61"/>
                </a:solidFill>
              </a:rPr>
              <a:t>&gt;&gt;&gt;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1234440" y="493776"/>
            <a:ext cx="2560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62500" lnSpcReduction="20000"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5DCB61"/>
                </a:solidFill>
              </a:rPr>
              <a:t>CASES DA UNIDADE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234440" y="811785"/>
            <a:ext cx="841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</a:rPr>
              <a:t>Mapa de setores, subsetores e segmentos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777240" y="1417320"/>
            <a:ext cx="9692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C8D1DC"/>
                </a:solidFill>
              </a:rPr>
              <a:t>Organização dos 8 clientes para leitura por vertical, segmento e narrativa de valor.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85800" y="1700784"/>
            <a:ext cx="10835640" cy="4160520"/>
          </a:xfrm>
          <a:prstGeom prst="roundRect">
            <a:avLst>
              <a:gd name="adj" fmla="val 2637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 sz="2400"/>
          </a:p>
        </p:txBody>
      </p:sp>
      <p:sp>
        <p:nvSpPr>
          <p:cNvPr id="7" name="Text 5"/>
          <p:cNvSpPr/>
          <p:nvPr/>
        </p:nvSpPr>
        <p:spPr>
          <a:xfrm>
            <a:off x="868680" y="1993392"/>
            <a:ext cx="1188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253449"/>
                </a:solidFill>
              </a:rPr>
              <a:t>Cliente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194560" y="1993392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253449"/>
                </a:solidFill>
              </a:rPr>
              <a:t>Classificação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246120" y="1993392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253449"/>
                </a:solidFill>
              </a:rPr>
              <a:t>Setor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434840" y="1993392"/>
            <a:ext cx="1417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253449"/>
                </a:solidFill>
              </a:rPr>
              <a:t>Subsetor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339842" y="1993392"/>
            <a:ext cx="2377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253449"/>
                </a:solidFill>
              </a:rPr>
              <a:t>Segmento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0314432" y="1993392"/>
            <a:ext cx="822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253449"/>
                </a:solidFill>
              </a:rPr>
              <a:t>MRR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68680" y="2240280"/>
            <a:ext cx="10012680" cy="0"/>
          </a:xfrm>
          <a:prstGeom prst="line">
            <a:avLst/>
          </a:prstGeom>
          <a:noFill/>
          <a:ln w="12700">
            <a:solidFill>
              <a:srgbClr val="D9E1E8"/>
            </a:solidFill>
            <a:prstDash val="solid"/>
          </a:ln>
        </p:spPr>
        <p:txBody>
          <a:bodyPr/>
          <a:lstStyle/>
          <a:p>
            <a:endParaRPr lang="pt-BR" sz="1000"/>
          </a:p>
        </p:txBody>
      </p:sp>
      <p:sp>
        <p:nvSpPr>
          <p:cNvPr id="14" name="Text 12"/>
          <p:cNvSpPr/>
          <p:nvPr/>
        </p:nvSpPr>
        <p:spPr>
          <a:xfrm>
            <a:off x="868680" y="2404872"/>
            <a:ext cx="12344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253449"/>
                </a:solidFill>
              </a:rPr>
              <a:t>EP ENGENHARIA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194560" y="2404872"/>
            <a:ext cx="8229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253449"/>
                </a:solidFill>
              </a:rPr>
              <a:t>Premium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246120" y="2404872"/>
            <a:ext cx="7772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253449"/>
                </a:solidFill>
              </a:rPr>
              <a:t>Serviço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434840" y="2404872"/>
            <a:ext cx="1661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253449"/>
                </a:solidFill>
              </a:rPr>
              <a:t>Engenharia ambiental e saneamento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339842" y="2350008"/>
            <a:ext cx="40995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253449"/>
                </a:solidFill>
              </a:rPr>
              <a:t>Tratamento de água, efluentes, qualidade e P&amp;D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0314432" y="2404872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253449"/>
                </a:solidFill>
              </a:rPr>
              <a:t>R$ 32.317,29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68680" y="2788920"/>
            <a:ext cx="12344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253449"/>
                </a:solidFill>
              </a:rPr>
              <a:t>ÍCONE MEDICAL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194560" y="2788920"/>
            <a:ext cx="8229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253449"/>
                </a:solidFill>
              </a:rPr>
              <a:t>Premium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246120" y="2788920"/>
            <a:ext cx="7772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253449"/>
                </a:solidFill>
              </a:rPr>
              <a:t>Serviço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434840" y="2788920"/>
            <a:ext cx="16916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253449"/>
                </a:solidFill>
              </a:rPr>
              <a:t>Saúde / equipamentos médicos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339842" y="2779777"/>
            <a:ext cx="4099560" cy="15544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253449"/>
                </a:solidFill>
              </a:rPr>
              <a:t>Equipamentos para dermatologia, estética, cirurgia e flebologia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0314432" y="2788920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253449"/>
                </a:solidFill>
              </a:rPr>
              <a:t>R$ 24.399,31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868680" y="3172968"/>
            <a:ext cx="12344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253449"/>
                </a:solidFill>
              </a:rPr>
              <a:t>GRIF / GUIMA CONSECO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2194560" y="3172968"/>
            <a:ext cx="8229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253449"/>
                </a:solidFill>
              </a:rPr>
              <a:t>Premium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246120" y="3172968"/>
            <a:ext cx="7772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253449"/>
                </a:solidFill>
              </a:rPr>
              <a:t>Serviço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434840" y="3172968"/>
            <a:ext cx="166116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253449"/>
                </a:solidFill>
              </a:rPr>
              <a:t>Facilities e serviços terceirizados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321552" y="3145536"/>
            <a:ext cx="40995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253449"/>
                </a:solidFill>
              </a:rPr>
              <a:t>Full facilities, manutenção, limpeza, recepção e controle operacional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10314432" y="3172968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253449"/>
                </a:solidFill>
              </a:rPr>
              <a:t>R$ 23.976,31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868680" y="3557016"/>
            <a:ext cx="12344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253449"/>
                </a:solidFill>
              </a:rPr>
              <a:t>MODIAL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2194560" y="3557016"/>
            <a:ext cx="8229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253449"/>
                </a:solidFill>
              </a:rPr>
              <a:t>Digital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246120" y="3557016"/>
            <a:ext cx="7772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253449"/>
                </a:solidFill>
              </a:rPr>
              <a:t>Varejo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434840" y="3557016"/>
            <a:ext cx="1417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253449"/>
                </a:solidFill>
              </a:rPr>
              <a:t>Funerário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321552" y="3553969"/>
            <a:ext cx="4099560" cy="16459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253449"/>
                </a:solidFill>
              </a:rPr>
              <a:t>Acessórios funerários, arranjos, vestes e operação especializada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10314432" y="3557016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253449"/>
                </a:solidFill>
              </a:rPr>
              <a:t>R$ 17.383,57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868680" y="3941064"/>
            <a:ext cx="12344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253449"/>
                </a:solidFill>
              </a:rPr>
              <a:t>PROAUTO KIMIUM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2194560" y="3941064"/>
            <a:ext cx="8229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253449"/>
                </a:solidFill>
              </a:rPr>
              <a:t>Growth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3246120" y="3941064"/>
            <a:ext cx="7772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253449"/>
                </a:solidFill>
              </a:rPr>
              <a:t>Indústria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4434840" y="3941064"/>
            <a:ext cx="1417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253449"/>
                </a:solidFill>
              </a:rPr>
              <a:t>Química de limpeza profissional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6321552" y="3951732"/>
            <a:ext cx="40995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253449"/>
                </a:solidFill>
              </a:rPr>
              <a:t>Produtos e utensílios para higiene e limpeza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10314432" y="3941064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253449"/>
                </a:solidFill>
              </a:rPr>
              <a:t>R$ 12.796,44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868680" y="4325112"/>
            <a:ext cx="12344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253449"/>
                </a:solidFill>
              </a:rPr>
              <a:t>NUNO / HIDRABELL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2194560" y="4325112"/>
            <a:ext cx="8229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253449"/>
                </a:solidFill>
              </a:rPr>
              <a:t>Growth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3246120" y="4325112"/>
            <a:ext cx="7772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253449"/>
                </a:solidFill>
              </a:rPr>
              <a:t>Indústria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4434840" y="4325112"/>
            <a:ext cx="1417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253449"/>
                </a:solidFill>
              </a:rPr>
              <a:t>Cosméticos e beleza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6321552" y="4311904"/>
            <a:ext cx="40995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253449"/>
                </a:solidFill>
              </a:rPr>
              <a:t>Cosméticos / perfumes, linha capilar, corporal e facial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10314432" y="4325112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253449"/>
                </a:solidFill>
              </a:rPr>
              <a:t>R$ 8.488,48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868680" y="4709160"/>
            <a:ext cx="12344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253449"/>
                </a:solidFill>
              </a:rPr>
              <a:t>UREPOL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2194560" y="4709160"/>
            <a:ext cx="8229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253449"/>
                </a:solidFill>
              </a:rPr>
              <a:t>Growth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3246120" y="4709160"/>
            <a:ext cx="7772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253449"/>
                </a:solidFill>
              </a:rPr>
              <a:t>Indústria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4434840" y="4709160"/>
            <a:ext cx="1417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253449"/>
                </a:solidFill>
              </a:rPr>
              <a:t>Autopeças / polímeros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6321552" y="4690872"/>
            <a:ext cx="40995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253449"/>
                </a:solidFill>
              </a:rPr>
              <a:t>Peças automotivas em poliuretano, borracha técnica e suspensão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10314432" y="4709160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253449"/>
                </a:solidFill>
              </a:rPr>
              <a:t>R$ 6.616,28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868680" y="5093208"/>
            <a:ext cx="12344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253449"/>
                </a:solidFill>
              </a:rPr>
              <a:t>OPTEC</a:t>
            </a: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2194560" y="5093208"/>
            <a:ext cx="8229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253449"/>
                </a:solidFill>
              </a:rPr>
              <a:t>Digital</a:t>
            </a:r>
            <a:endParaRPr lang="en-US" sz="1000" dirty="0"/>
          </a:p>
        </p:txBody>
      </p:sp>
      <p:sp>
        <p:nvSpPr>
          <p:cNvPr id="58" name="Text 56"/>
          <p:cNvSpPr/>
          <p:nvPr/>
        </p:nvSpPr>
        <p:spPr>
          <a:xfrm>
            <a:off x="3246120" y="5093208"/>
            <a:ext cx="7772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253449"/>
                </a:solidFill>
              </a:rPr>
              <a:t>Serviço</a:t>
            </a:r>
            <a:endParaRPr lang="en-US" sz="1000" dirty="0"/>
          </a:p>
        </p:txBody>
      </p:sp>
      <p:sp>
        <p:nvSpPr>
          <p:cNvPr id="59" name="Text 57"/>
          <p:cNvSpPr/>
          <p:nvPr/>
        </p:nvSpPr>
        <p:spPr>
          <a:xfrm>
            <a:off x="4434840" y="5093208"/>
            <a:ext cx="1417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253449"/>
                </a:solidFill>
              </a:rPr>
              <a:t>Tecnologia da Informação</a:t>
            </a:r>
            <a:endParaRPr lang="en-US" sz="1000" dirty="0"/>
          </a:p>
        </p:txBody>
      </p:sp>
      <p:sp>
        <p:nvSpPr>
          <p:cNvPr id="60" name="Text 58"/>
          <p:cNvSpPr/>
          <p:nvPr/>
        </p:nvSpPr>
        <p:spPr>
          <a:xfrm>
            <a:off x="6321552" y="5065776"/>
            <a:ext cx="40995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253449"/>
                </a:solidFill>
              </a:rPr>
              <a:t>Infraestrutura, cloud, Microsoft 365, servidores e cybersegurança</a:t>
            </a:r>
            <a:endParaRPr lang="en-US" sz="1000" dirty="0"/>
          </a:p>
        </p:txBody>
      </p:sp>
      <p:sp>
        <p:nvSpPr>
          <p:cNvPr id="61" name="Text 59"/>
          <p:cNvSpPr/>
          <p:nvPr/>
        </p:nvSpPr>
        <p:spPr>
          <a:xfrm>
            <a:off x="10314432" y="5093208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253449"/>
                </a:solidFill>
              </a:rPr>
              <a:t>R$ 5.628,15</a:t>
            </a:r>
            <a:endParaRPr lang="en-US" sz="1000" dirty="0"/>
          </a:p>
        </p:txBody>
      </p:sp>
      <p:sp>
        <p:nvSpPr>
          <p:cNvPr id="63" name="Text 60"/>
          <p:cNvSpPr/>
          <p:nvPr/>
        </p:nvSpPr>
        <p:spPr>
          <a:xfrm>
            <a:off x="8732520" y="6172200"/>
            <a:ext cx="2788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50" dirty="0">
                <a:solidFill>
                  <a:srgbClr val="FFFFFF">
                    <a:alpha val="88000"/>
                  </a:srgbClr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Cases Unidade • Sankhya ABC Paulista • 4/13</a:t>
            </a:r>
            <a:endParaRPr lang="en-US" sz="800" dirty="0"/>
          </a:p>
        </p:txBody>
      </p:sp>
      <p:pic>
        <p:nvPicPr>
          <p:cNvPr id="65" name="Imagem 64">
            <a:extLst>
              <a:ext uri="{FF2B5EF4-FFF2-40B4-BE49-F238E27FC236}">
                <a16:creationId xmlns:a16="http://schemas.microsoft.com/office/drawing/2014/main" id="{F10FFF95-5F5E-3706-46C6-5848A72E6D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477255"/>
            <a:ext cx="2476500" cy="190144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2E415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5669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5DCB61"/>
                </a:solidFill>
              </a:rPr>
              <a:t>&gt;&gt;&gt;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1207008" y="228600"/>
            <a:ext cx="6583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3200" b="1" dirty="0">
                <a:solidFill>
                  <a:srgbClr val="5DCB61"/>
                </a:solidFill>
              </a:rPr>
              <a:t>EP ENGENHARIA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207008" y="749808"/>
            <a:ext cx="56692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20000"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EP Engenharia do Processo LTDA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85800" y="1298448"/>
            <a:ext cx="1554480" cy="329184"/>
          </a:xfrm>
          <a:prstGeom prst="roundRect">
            <a:avLst>
              <a:gd name="adj" fmla="val 22222"/>
            </a:avLst>
          </a:prstGeom>
          <a:solidFill>
            <a:srgbClr val="5DCB61"/>
          </a:solidFill>
          <a:ln w="12700">
            <a:solidFill>
              <a:srgbClr val="5DCB6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 sz="2400"/>
          </a:p>
        </p:txBody>
      </p:sp>
      <p:sp>
        <p:nvSpPr>
          <p:cNvPr id="6" name="Text 4"/>
          <p:cNvSpPr/>
          <p:nvPr/>
        </p:nvSpPr>
        <p:spPr>
          <a:xfrm>
            <a:off x="685800" y="1385316"/>
            <a:ext cx="1554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</a:rPr>
              <a:t>CASE DA UNIDADE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359152" y="1298448"/>
            <a:ext cx="1005840" cy="329184"/>
          </a:xfrm>
          <a:prstGeom prst="roundRect">
            <a:avLst>
              <a:gd name="adj" fmla="val 22222"/>
            </a:avLst>
          </a:prstGeom>
          <a:solidFill>
            <a:srgbClr val="16283D"/>
          </a:solidFill>
          <a:ln w="12700">
            <a:solidFill>
              <a:srgbClr val="16283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 sz="2400"/>
          </a:p>
        </p:txBody>
      </p:sp>
      <p:sp>
        <p:nvSpPr>
          <p:cNvPr id="8" name="Text 6"/>
          <p:cNvSpPr/>
          <p:nvPr/>
        </p:nvSpPr>
        <p:spPr>
          <a:xfrm>
            <a:off x="2359152" y="1385316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</a:rPr>
              <a:t>Premium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93008" y="1298448"/>
            <a:ext cx="1005840" cy="329184"/>
          </a:xfrm>
          <a:prstGeom prst="roundRect">
            <a:avLst>
              <a:gd name="adj" fmla="val 22222"/>
            </a:avLst>
          </a:prstGeom>
          <a:solidFill>
            <a:srgbClr val="16283D"/>
          </a:solidFill>
          <a:ln w="12700">
            <a:solidFill>
              <a:srgbClr val="16283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 sz="2400"/>
          </a:p>
        </p:txBody>
      </p:sp>
      <p:sp>
        <p:nvSpPr>
          <p:cNvPr id="10" name="Text 8"/>
          <p:cNvSpPr/>
          <p:nvPr/>
        </p:nvSpPr>
        <p:spPr>
          <a:xfrm>
            <a:off x="3493008" y="1385316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</a:rPr>
              <a:t>Serviço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85800" y="1792224"/>
            <a:ext cx="4572000" cy="2514600"/>
          </a:xfrm>
          <a:prstGeom prst="roundRect">
            <a:avLst>
              <a:gd name="adj" fmla="val 4364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 sz="1000"/>
          </a:p>
        </p:txBody>
      </p:sp>
      <p:sp>
        <p:nvSpPr>
          <p:cNvPr id="12" name="Text 10"/>
          <p:cNvSpPr/>
          <p:nvPr/>
        </p:nvSpPr>
        <p:spPr>
          <a:xfrm>
            <a:off x="896112" y="2057400"/>
            <a:ext cx="320040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5DCB61"/>
                </a:solidFill>
              </a:rPr>
              <a:t>LEITURA DO CASE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896112" y="2395728"/>
            <a:ext cx="39776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253449"/>
                </a:solidFill>
              </a:rPr>
              <a:t>Engenharia de processos para saneamento, água, efluentes e rotinas técnicas de qualidade.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896112" y="2999232"/>
            <a:ext cx="182880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253449"/>
                </a:solidFill>
              </a:rPr>
              <a:t>Segmento / linhas de valor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932688" y="3273552"/>
            <a:ext cx="411480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20" b="1" dirty="0">
                <a:solidFill>
                  <a:srgbClr val="5DCB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020" dirty="0">
                <a:solidFill>
                  <a:srgbClr val="25344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ETAs, ETEs e sistemas de tratamento
</a:t>
            </a:r>
            <a:r>
              <a:rPr lang="en-US" sz="1020" b="1" dirty="0">
                <a:solidFill>
                  <a:srgbClr val="5DCB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020" dirty="0">
                <a:solidFill>
                  <a:srgbClr val="25344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Análises ambientais e controle de qualidade
</a:t>
            </a:r>
            <a:r>
              <a:rPr lang="en-US" sz="1020" b="1" dirty="0">
                <a:solidFill>
                  <a:srgbClr val="5DCB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020" dirty="0">
                <a:solidFill>
                  <a:srgbClr val="25344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Engenharia, automação, operação e manutenção
</a:t>
            </a:r>
            <a:r>
              <a:rPr lang="en-US" sz="1020" b="1" dirty="0">
                <a:solidFill>
                  <a:srgbClr val="5DCB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020" dirty="0">
                <a:solidFill>
                  <a:srgbClr val="25344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P&amp;D, estudos de tratabilidade e solução 360°
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605272" y="1261872"/>
            <a:ext cx="5257800" cy="1627632"/>
          </a:xfrm>
          <a:prstGeom prst="roundRect">
            <a:avLst>
              <a:gd name="adj" fmla="val 6742"/>
            </a:avLst>
          </a:prstGeom>
          <a:solidFill>
            <a:srgbClr val="F4F6F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 sz="2400"/>
          </a:p>
        </p:txBody>
      </p:sp>
      <p:sp>
        <p:nvSpPr>
          <p:cNvPr id="18" name="Shape 15"/>
          <p:cNvSpPr/>
          <p:nvPr/>
        </p:nvSpPr>
        <p:spPr>
          <a:xfrm>
            <a:off x="5605272" y="2999232"/>
            <a:ext cx="5257800" cy="17373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 sz="1000"/>
          </a:p>
        </p:txBody>
      </p:sp>
      <p:sp>
        <p:nvSpPr>
          <p:cNvPr id="19" name="Text 16"/>
          <p:cNvSpPr/>
          <p:nvPr/>
        </p:nvSpPr>
        <p:spPr>
          <a:xfrm>
            <a:off x="5797296" y="3246120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5DCB61"/>
                </a:solidFill>
              </a:rPr>
              <a:t>DADOS DE ENQUADRAMENTO</a:t>
            </a:r>
          </a:p>
        </p:txBody>
      </p:sp>
      <p:sp>
        <p:nvSpPr>
          <p:cNvPr id="20" name="Text 17"/>
          <p:cNvSpPr/>
          <p:nvPr/>
        </p:nvSpPr>
        <p:spPr>
          <a:xfrm>
            <a:off x="5797296" y="3529584"/>
            <a:ext cx="135331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7D8B99"/>
                </a:solidFill>
              </a:rPr>
              <a:t>Localização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7059168" y="3520440"/>
            <a:ext cx="19385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940" dirty="0">
                <a:solidFill>
                  <a:srgbClr val="253449"/>
                </a:solidFill>
              </a:rPr>
              <a:t>R. Claudino Barbosa, 528 — Macedo, Guarulhos/SP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5797296" y="3803904"/>
            <a:ext cx="135331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7D8B99"/>
                </a:solidFill>
              </a:rPr>
              <a:t>Subsetor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7059168" y="3794760"/>
            <a:ext cx="19385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940" dirty="0">
                <a:solidFill>
                  <a:srgbClr val="253449"/>
                </a:solidFill>
              </a:rPr>
              <a:t>Engenharia ambiental e saneamento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5797296" y="4078224"/>
            <a:ext cx="135331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7D8B99"/>
                </a:solidFill>
              </a:rPr>
              <a:t>Segmento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7059168" y="4069080"/>
            <a:ext cx="19385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940" dirty="0">
                <a:solidFill>
                  <a:srgbClr val="253449"/>
                </a:solidFill>
              </a:rPr>
              <a:t>Tratamento de água, efluentes, qualidade e P&amp;D</a:t>
            </a:r>
            <a:endParaRPr lang="en-US" sz="1000" dirty="0"/>
          </a:p>
        </p:txBody>
      </p:sp>
      <p:sp>
        <p:nvSpPr>
          <p:cNvPr id="34" name="Shape 31"/>
          <p:cNvSpPr/>
          <p:nvPr/>
        </p:nvSpPr>
        <p:spPr>
          <a:xfrm>
            <a:off x="685800" y="4846320"/>
            <a:ext cx="10177272" cy="713232"/>
          </a:xfrm>
          <a:prstGeom prst="roundRect">
            <a:avLst>
              <a:gd name="adj" fmla="val 15000"/>
            </a:avLst>
          </a:prstGeom>
          <a:solidFill>
            <a:srgbClr val="5DCB6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 sz="1000"/>
          </a:p>
        </p:txBody>
      </p:sp>
      <p:sp>
        <p:nvSpPr>
          <p:cNvPr id="35" name="Text 32"/>
          <p:cNvSpPr/>
          <p:nvPr/>
        </p:nvSpPr>
        <p:spPr>
          <a:xfrm>
            <a:off x="896112" y="5010912"/>
            <a:ext cx="2148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</a:rPr>
              <a:t>Por que é case da Unidade?</a:t>
            </a:r>
            <a:endParaRPr lang="en-US" sz="1000" dirty="0"/>
          </a:p>
        </p:txBody>
      </p:sp>
      <p:sp>
        <p:nvSpPr>
          <p:cNvPr id="36" name="Text 33"/>
          <p:cNvSpPr/>
          <p:nvPr/>
        </p:nvSpPr>
        <p:spPr>
          <a:xfrm>
            <a:off x="3090672" y="4969764"/>
            <a:ext cx="7452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060" b="1" dirty="0">
                <a:solidFill>
                  <a:srgbClr val="FFFFFF"/>
                </a:solidFill>
              </a:rPr>
              <a:t>A EP combina engenharia, laboratório, equipamentos e serviços para entregar solução completa em água e efluentes. É uma história forte para mostrar gestão técnica, rastreabilidade operacional, projetos e decisões baseadas em indicadores.</a:t>
            </a:r>
            <a:endParaRPr lang="en-US" sz="1000" dirty="0"/>
          </a:p>
        </p:txBody>
      </p:sp>
      <p:sp>
        <p:nvSpPr>
          <p:cNvPr id="38" name="Text 35"/>
          <p:cNvSpPr/>
          <p:nvPr/>
        </p:nvSpPr>
        <p:spPr>
          <a:xfrm>
            <a:off x="5486400" y="5650992"/>
            <a:ext cx="5349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30" dirty="0">
                <a:solidFill>
                  <a:srgbClr val="E4EAF1"/>
                </a:solidFill>
              </a:rPr>
              <a:t>Fonte: Segmentação de Parceiros Sankhya + informações institucionais fornecidas.</a:t>
            </a:r>
            <a:endParaRPr lang="en-US" sz="700" dirty="0"/>
          </a:p>
        </p:txBody>
      </p:sp>
      <p:sp>
        <p:nvSpPr>
          <p:cNvPr id="40" name="Text 36"/>
          <p:cNvSpPr/>
          <p:nvPr/>
        </p:nvSpPr>
        <p:spPr>
          <a:xfrm>
            <a:off x="8732520" y="6172200"/>
            <a:ext cx="2788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FFFFFF">
                    <a:alpha val="88000"/>
                  </a:srgbClr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Cases Unidade • Sankhya ABC Paulista • 5/13</a:t>
            </a:r>
            <a:endParaRPr lang="en-US" sz="800" dirty="0"/>
          </a:p>
        </p:txBody>
      </p:sp>
      <p:pic>
        <p:nvPicPr>
          <p:cNvPr id="42" name="Imagem 41">
            <a:extLst>
              <a:ext uri="{FF2B5EF4-FFF2-40B4-BE49-F238E27FC236}">
                <a16:creationId xmlns:a16="http://schemas.microsoft.com/office/drawing/2014/main" id="{B9EFB629-2BC9-2B3B-FACB-ACCFB7F452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477255"/>
            <a:ext cx="2476500" cy="1901441"/>
          </a:xfrm>
          <a:prstGeom prst="rect">
            <a:avLst/>
          </a:prstGeom>
        </p:spPr>
      </p:pic>
      <p:pic>
        <p:nvPicPr>
          <p:cNvPr id="28" name="Imagem 27">
            <a:extLst>
              <a:ext uri="{FF2B5EF4-FFF2-40B4-BE49-F238E27FC236}">
                <a16:creationId xmlns:a16="http://schemas.microsoft.com/office/drawing/2014/main" id="{28D58FEB-1C15-11BF-8A75-C26B52E7B77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97295" y="1385316"/>
            <a:ext cx="4939977" cy="1399032"/>
          </a:xfrm>
          <a:prstGeom prst="rect">
            <a:avLst/>
          </a:prstGeom>
        </p:spPr>
      </p:pic>
      <p:sp>
        <p:nvSpPr>
          <p:cNvPr id="26" name="Text 25">
            <a:extLst>
              <a:ext uri="{FF2B5EF4-FFF2-40B4-BE49-F238E27FC236}">
                <a16:creationId xmlns:a16="http://schemas.microsoft.com/office/drawing/2014/main" id="{31378358-D7A1-8926-9B3A-62DD145BE9D4}"/>
              </a:ext>
            </a:extLst>
          </p:cNvPr>
          <p:cNvSpPr/>
          <p:nvPr/>
        </p:nvSpPr>
        <p:spPr>
          <a:xfrm>
            <a:off x="9098280" y="3476244"/>
            <a:ext cx="9601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7D8B99"/>
                </a:solidFill>
              </a:rPr>
              <a:t>MRR</a:t>
            </a:r>
            <a:endParaRPr lang="en-US" sz="900" dirty="0"/>
          </a:p>
        </p:txBody>
      </p:sp>
      <p:sp>
        <p:nvSpPr>
          <p:cNvPr id="29" name="Text 26">
            <a:extLst>
              <a:ext uri="{FF2B5EF4-FFF2-40B4-BE49-F238E27FC236}">
                <a16:creationId xmlns:a16="http://schemas.microsoft.com/office/drawing/2014/main" id="{CD79E8C9-72E0-1879-4AC1-B01ED3BD1D74}"/>
              </a:ext>
            </a:extLst>
          </p:cNvPr>
          <p:cNvSpPr/>
          <p:nvPr/>
        </p:nvSpPr>
        <p:spPr>
          <a:xfrm>
            <a:off x="9994392" y="3467100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30" dirty="0">
                <a:solidFill>
                  <a:srgbClr val="253449"/>
                </a:solidFill>
              </a:rPr>
              <a:t>R$ 32.317,29</a:t>
            </a:r>
            <a:endParaRPr lang="en-US" sz="700" dirty="0"/>
          </a:p>
        </p:txBody>
      </p:sp>
      <p:sp>
        <p:nvSpPr>
          <p:cNvPr id="31" name="Text 27">
            <a:extLst>
              <a:ext uri="{FF2B5EF4-FFF2-40B4-BE49-F238E27FC236}">
                <a16:creationId xmlns:a16="http://schemas.microsoft.com/office/drawing/2014/main" id="{77EB35CE-F99F-6CE2-7726-CA9C15342EAA}"/>
              </a:ext>
            </a:extLst>
          </p:cNvPr>
          <p:cNvSpPr/>
          <p:nvPr/>
        </p:nvSpPr>
        <p:spPr>
          <a:xfrm>
            <a:off x="9098280" y="3750564"/>
            <a:ext cx="9601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7D8B99"/>
                </a:solidFill>
              </a:rPr>
              <a:t>Curva / Valor</a:t>
            </a:r>
            <a:endParaRPr lang="en-US" sz="900" dirty="0"/>
          </a:p>
        </p:txBody>
      </p:sp>
      <p:sp>
        <p:nvSpPr>
          <p:cNvPr id="33" name="Text 28">
            <a:extLst>
              <a:ext uri="{FF2B5EF4-FFF2-40B4-BE49-F238E27FC236}">
                <a16:creationId xmlns:a16="http://schemas.microsoft.com/office/drawing/2014/main" id="{A92E1C15-F950-CA0C-7435-62DDE492F81F}"/>
              </a:ext>
            </a:extLst>
          </p:cNvPr>
          <p:cNvSpPr/>
          <p:nvPr/>
        </p:nvSpPr>
        <p:spPr>
          <a:xfrm>
            <a:off x="9994392" y="3741420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30" dirty="0">
                <a:solidFill>
                  <a:srgbClr val="253449"/>
                </a:solidFill>
              </a:rPr>
              <a:t>Curva A • Alto</a:t>
            </a:r>
            <a:endParaRPr lang="en-US" sz="700" dirty="0"/>
          </a:p>
        </p:txBody>
      </p:sp>
      <p:sp>
        <p:nvSpPr>
          <p:cNvPr id="39" name="Text 29">
            <a:extLst>
              <a:ext uri="{FF2B5EF4-FFF2-40B4-BE49-F238E27FC236}">
                <a16:creationId xmlns:a16="http://schemas.microsoft.com/office/drawing/2014/main" id="{74BFC933-5575-7629-B62B-C18D0A65690F}"/>
              </a:ext>
            </a:extLst>
          </p:cNvPr>
          <p:cNvSpPr/>
          <p:nvPr/>
        </p:nvSpPr>
        <p:spPr>
          <a:xfrm>
            <a:off x="9098280" y="4024884"/>
            <a:ext cx="9601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7D8B99"/>
                </a:solidFill>
              </a:rPr>
              <a:t>Estratégia</a:t>
            </a:r>
            <a:endParaRPr lang="en-US" sz="900" dirty="0"/>
          </a:p>
        </p:txBody>
      </p:sp>
      <p:sp>
        <p:nvSpPr>
          <p:cNvPr id="43" name="Text 30">
            <a:extLst>
              <a:ext uri="{FF2B5EF4-FFF2-40B4-BE49-F238E27FC236}">
                <a16:creationId xmlns:a16="http://schemas.microsoft.com/office/drawing/2014/main" id="{99DFC646-3AFD-1002-6A4E-B0A1792F1CC3}"/>
              </a:ext>
            </a:extLst>
          </p:cNvPr>
          <p:cNvSpPr/>
          <p:nvPr/>
        </p:nvSpPr>
        <p:spPr>
          <a:xfrm>
            <a:off x="10027643" y="4015740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30" dirty="0">
                <a:solidFill>
                  <a:srgbClr val="253449"/>
                </a:solidFill>
              </a:rPr>
              <a:t>Fidelizar</a:t>
            </a:r>
            <a:endParaRPr lang="en-US" sz="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E415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5669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5DCB61"/>
                </a:solidFill>
              </a:rPr>
              <a:t>&gt;&gt;&gt;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1238250" y="219456"/>
            <a:ext cx="6583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3200" b="1" dirty="0">
                <a:solidFill>
                  <a:srgbClr val="5DCB61"/>
                </a:solidFill>
              </a:rPr>
              <a:t>ÍCONE MEDICAL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238250" y="749808"/>
            <a:ext cx="56692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20000"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Ícone Medical Indústria e Comércio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85800" y="1298448"/>
            <a:ext cx="1554480" cy="329184"/>
          </a:xfrm>
          <a:prstGeom prst="roundRect">
            <a:avLst>
              <a:gd name="adj" fmla="val 22222"/>
            </a:avLst>
          </a:prstGeom>
          <a:solidFill>
            <a:srgbClr val="5DCB61"/>
          </a:solidFill>
          <a:ln w="12700">
            <a:solidFill>
              <a:srgbClr val="5DCB6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 sz="2400"/>
          </a:p>
        </p:txBody>
      </p:sp>
      <p:sp>
        <p:nvSpPr>
          <p:cNvPr id="6" name="Text 4"/>
          <p:cNvSpPr/>
          <p:nvPr/>
        </p:nvSpPr>
        <p:spPr>
          <a:xfrm>
            <a:off x="685800" y="1385316"/>
            <a:ext cx="1554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</a:rPr>
              <a:t>CASE DA UNIDADE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359152" y="1298448"/>
            <a:ext cx="1005840" cy="329184"/>
          </a:xfrm>
          <a:prstGeom prst="roundRect">
            <a:avLst>
              <a:gd name="adj" fmla="val 22222"/>
            </a:avLst>
          </a:prstGeom>
          <a:solidFill>
            <a:srgbClr val="16283D"/>
          </a:solidFill>
          <a:ln w="12700">
            <a:solidFill>
              <a:srgbClr val="16283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 sz="2400"/>
          </a:p>
        </p:txBody>
      </p:sp>
      <p:sp>
        <p:nvSpPr>
          <p:cNvPr id="8" name="Text 6"/>
          <p:cNvSpPr/>
          <p:nvPr/>
        </p:nvSpPr>
        <p:spPr>
          <a:xfrm>
            <a:off x="2359152" y="1385316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</a:rPr>
              <a:t>Premium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93008" y="1298448"/>
            <a:ext cx="1005840" cy="329184"/>
          </a:xfrm>
          <a:prstGeom prst="roundRect">
            <a:avLst>
              <a:gd name="adj" fmla="val 22222"/>
            </a:avLst>
          </a:prstGeom>
          <a:solidFill>
            <a:srgbClr val="16283D"/>
          </a:solidFill>
          <a:ln w="12700">
            <a:solidFill>
              <a:srgbClr val="16283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 sz="2400"/>
          </a:p>
        </p:txBody>
      </p:sp>
      <p:sp>
        <p:nvSpPr>
          <p:cNvPr id="10" name="Text 8"/>
          <p:cNvSpPr/>
          <p:nvPr/>
        </p:nvSpPr>
        <p:spPr>
          <a:xfrm>
            <a:off x="3493008" y="1385316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</a:rPr>
              <a:t>Serviço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85800" y="1792224"/>
            <a:ext cx="4572000" cy="2514600"/>
          </a:xfrm>
          <a:prstGeom prst="roundRect">
            <a:avLst>
              <a:gd name="adj" fmla="val 4364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 sz="2400"/>
          </a:p>
        </p:txBody>
      </p:sp>
      <p:sp>
        <p:nvSpPr>
          <p:cNvPr id="12" name="Text 10"/>
          <p:cNvSpPr/>
          <p:nvPr/>
        </p:nvSpPr>
        <p:spPr>
          <a:xfrm>
            <a:off x="896112" y="2057400"/>
            <a:ext cx="320040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5DCB61"/>
                </a:solidFill>
              </a:rPr>
              <a:t>LEITURA DO CASE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896112" y="2395728"/>
            <a:ext cx="39776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253449"/>
                </a:solidFill>
              </a:rPr>
              <a:t>Tecnologia médica nacional com equipamentos eletromédicos e suporte especializado.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896112" y="2999232"/>
            <a:ext cx="182880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253449"/>
                </a:solidFill>
              </a:rPr>
              <a:t>Segmento / linhas de valor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932688" y="3273552"/>
            <a:ext cx="411480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20" b="1" dirty="0">
                <a:solidFill>
                  <a:srgbClr val="5DCB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020" dirty="0">
                <a:solidFill>
                  <a:srgbClr val="25344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Equipamentos modernos com suporte especializado
</a:t>
            </a:r>
            <a:r>
              <a:rPr lang="en-US" sz="1020" b="1" dirty="0">
                <a:solidFill>
                  <a:srgbClr val="5DCB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020" dirty="0">
                <a:solidFill>
                  <a:srgbClr val="25344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Alta performance, segurança e inovação contínua
</a:t>
            </a:r>
            <a:r>
              <a:rPr lang="en-US" sz="1020" b="1" dirty="0">
                <a:solidFill>
                  <a:srgbClr val="5DCB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020" dirty="0">
                <a:solidFill>
                  <a:srgbClr val="25344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Tecnologia para dermatologia, estética, cirurgia e flebologia
</a:t>
            </a:r>
            <a:r>
              <a:rPr lang="en-US" sz="1020" b="1" dirty="0">
                <a:solidFill>
                  <a:srgbClr val="5DCB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020" dirty="0">
                <a:solidFill>
                  <a:srgbClr val="25344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Produtos registrados e atuação industrial/comercial
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5605272" y="1261872"/>
            <a:ext cx="5257800" cy="1627632"/>
          </a:xfrm>
          <a:prstGeom prst="roundRect">
            <a:avLst>
              <a:gd name="adj" fmla="val 6742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 sz="2400"/>
          </a:p>
        </p:txBody>
      </p:sp>
      <p:pic>
        <p:nvPicPr>
          <p:cNvPr id="17" name="Image 0" descr="/mnt/data/2133d538-4283-4a15-aaf0-f58d3ce34790.png"/>
          <p:cNvPicPr>
            <a:picLocks noChangeAspect="1"/>
          </p:cNvPicPr>
          <p:nvPr/>
        </p:nvPicPr>
        <p:blipFill>
          <a:blip r:embed="rId3"/>
          <a:srcRect t="5355" b="5355"/>
          <a:stretch/>
        </p:blipFill>
        <p:spPr>
          <a:xfrm>
            <a:off x="5650992" y="1307592"/>
            <a:ext cx="5166360" cy="1536192"/>
          </a:xfrm>
          <a:prstGeom prst="rect">
            <a:avLst/>
          </a:prstGeom>
        </p:spPr>
      </p:pic>
      <p:sp>
        <p:nvSpPr>
          <p:cNvPr id="18" name="Shape 15"/>
          <p:cNvSpPr/>
          <p:nvPr/>
        </p:nvSpPr>
        <p:spPr>
          <a:xfrm>
            <a:off x="5605272" y="2999232"/>
            <a:ext cx="5257800" cy="17373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 sz="2400"/>
          </a:p>
        </p:txBody>
      </p:sp>
      <p:sp>
        <p:nvSpPr>
          <p:cNvPr id="19" name="Text 16"/>
          <p:cNvSpPr/>
          <p:nvPr/>
        </p:nvSpPr>
        <p:spPr>
          <a:xfrm>
            <a:off x="5797296" y="3246120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5DCB61"/>
                </a:solidFill>
              </a:rPr>
              <a:t>DADOS DE ENQUADRAMENTO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5797296" y="3529584"/>
            <a:ext cx="135331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7D8B99"/>
                </a:solidFill>
              </a:rPr>
              <a:t>Localização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7059168" y="3520440"/>
            <a:ext cx="19385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940" dirty="0">
                <a:solidFill>
                  <a:srgbClr val="253449"/>
                </a:solidFill>
              </a:rPr>
              <a:t>R. José Ramon Urtiza, 206 — Vila Andrade, São Paulo/SP</a:t>
            </a:r>
            <a:endParaRPr lang="en-US" sz="700" dirty="0"/>
          </a:p>
        </p:txBody>
      </p:sp>
      <p:sp>
        <p:nvSpPr>
          <p:cNvPr id="22" name="Text 19"/>
          <p:cNvSpPr/>
          <p:nvPr/>
        </p:nvSpPr>
        <p:spPr>
          <a:xfrm>
            <a:off x="5797296" y="3803904"/>
            <a:ext cx="135331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7D8B99"/>
                </a:solidFill>
              </a:rPr>
              <a:t>Subsetor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7059168" y="3794760"/>
            <a:ext cx="19385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940" dirty="0">
                <a:solidFill>
                  <a:srgbClr val="253449"/>
                </a:solidFill>
              </a:rPr>
              <a:t>Saúde / equipamentos médicos</a:t>
            </a:r>
            <a:endParaRPr lang="en-US" sz="700" dirty="0"/>
          </a:p>
        </p:txBody>
      </p:sp>
      <p:sp>
        <p:nvSpPr>
          <p:cNvPr id="24" name="Text 21"/>
          <p:cNvSpPr/>
          <p:nvPr/>
        </p:nvSpPr>
        <p:spPr>
          <a:xfrm>
            <a:off x="5797296" y="4078224"/>
            <a:ext cx="135331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7D8B99"/>
                </a:solidFill>
              </a:rPr>
              <a:t>Segmento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7059168" y="4069080"/>
            <a:ext cx="19385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940" dirty="0">
                <a:solidFill>
                  <a:srgbClr val="253449"/>
                </a:solidFill>
              </a:rPr>
              <a:t>Equipamentos para dermatologia, estética, cirurgia e flebologia</a:t>
            </a:r>
            <a:endParaRPr lang="en-US" sz="700" dirty="0"/>
          </a:p>
        </p:txBody>
      </p:sp>
      <p:sp>
        <p:nvSpPr>
          <p:cNvPr id="28" name="Text 25"/>
          <p:cNvSpPr/>
          <p:nvPr/>
        </p:nvSpPr>
        <p:spPr>
          <a:xfrm>
            <a:off x="9098280" y="3529584"/>
            <a:ext cx="9601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7D8B99"/>
                </a:solidFill>
              </a:rPr>
              <a:t>MRR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9994392" y="3520440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30" dirty="0">
                <a:solidFill>
                  <a:srgbClr val="253449"/>
                </a:solidFill>
              </a:rPr>
              <a:t>R$ 24.399,31</a:t>
            </a:r>
            <a:endParaRPr lang="en-US" sz="700" dirty="0"/>
          </a:p>
        </p:txBody>
      </p:sp>
      <p:sp>
        <p:nvSpPr>
          <p:cNvPr id="30" name="Text 27"/>
          <p:cNvSpPr/>
          <p:nvPr/>
        </p:nvSpPr>
        <p:spPr>
          <a:xfrm>
            <a:off x="9098280" y="3803904"/>
            <a:ext cx="9601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7D8B99"/>
                </a:solidFill>
              </a:rPr>
              <a:t>Curva / Valor</a:t>
            </a:r>
            <a:endParaRPr lang="en-US" sz="900" dirty="0"/>
          </a:p>
        </p:txBody>
      </p:sp>
      <p:sp>
        <p:nvSpPr>
          <p:cNvPr id="31" name="Text 28"/>
          <p:cNvSpPr/>
          <p:nvPr/>
        </p:nvSpPr>
        <p:spPr>
          <a:xfrm>
            <a:off x="9994392" y="3794760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30" dirty="0">
                <a:solidFill>
                  <a:srgbClr val="253449"/>
                </a:solidFill>
              </a:rPr>
              <a:t>Curva A • Alto</a:t>
            </a:r>
            <a:endParaRPr lang="en-US" sz="700" dirty="0"/>
          </a:p>
        </p:txBody>
      </p:sp>
      <p:sp>
        <p:nvSpPr>
          <p:cNvPr id="32" name="Text 29"/>
          <p:cNvSpPr/>
          <p:nvPr/>
        </p:nvSpPr>
        <p:spPr>
          <a:xfrm>
            <a:off x="9098280" y="4078224"/>
            <a:ext cx="9601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7D8B99"/>
                </a:solidFill>
              </a:rPr>
              <a:t>Estratégia</a:t>
            </a:r>
            <a:endParaRPr lang="en-US" sz="900" dirty="0"/>
          </a:p>
        </p:txBody>
      </p:sp>
      <p:sp>
        <p:nvSpPr>
          <p:cNvPr id="33" name="Text 30"/>
          <p:cNvSpPr/>
          <p:nvPr/>
        </p:nvSpPr>
        <p:spPr>
          <a:xfrm>
            <a:off x="10027643" y="4069080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30" dirty="0">
                <a:solidFill>
                  <a:srgbClr val="253449"/>
                </a:solidFill>
              </a:rPr>
              <a:t>Fidelizar</a:t>
            </a:r>
            <a:endParaRPr lang="en-US" sz="700" dirty="0"/>
          </a:p>
        </p:txBody>
      </p:sp>
      <p:sp>
        <p:nvSpPr>
          <p:cNvPr id="34" name="Shape 31"/>
          <p:cNvSpPr/>
          <p:nvPr/>
        </p:nvSpPr>
        <p:spPr>
          <a:xfrm>
            <a:off x="685800" y="4846320"/>
            <a:ext cx="10177272" cy="713232"/>
          </a:xfrm>
          <a:prstGeom prst="roundRect">
            <a:avLst>
              <a:gd name="adj" fmla="val 15000"/>
            </a:avLst>
          </a:prstGeom>
          <a:solidFill>
            <a:srgbClr val="5DCB6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 sz="2400"/>
          </a:p>
        </p:txBody>
      </p:sp>
      <p:sp>
        <p:nvSpPr>
          <p:cNvPr id="35" name="Text 32"/>
          <p:cNvSpPr/>
          <p:nvPr/>
        </p:nvSpPr>
        <p:spPr>
          <a:xfrm>
            <a:off x="896112" y="5038344"/>
            <a:ext cx="2148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</a:rPr>
              <a:t>Por que é case da Unidade?</a:t>
            </a:r>
            <a:endParaRPr lang="en-US" sz="900" dirty="0"/>
          </a:p>
        </p:txBody>
      </p:sp>
      <p:sp>
        <p:nvSpPr>
          <p:cNvPr id="36" name="Text 33"/>
          <p:cNvSpPr/>
          <p:nvPr/>
        </p:nvSpPr>
        <p:spPr>
          <a:xfrm>
            <a:off x="3090672" y="4942332"/>
            <a:ext cx="7452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060" b="1" dirty="0">
                <a:solidFill>
                  <a:srgbClr val="FFFFFF"/>
                </a:solidFill>
              </a:rPr>
              <a:t>O case evidencia uma empresa de saúde que transforma tecnologia em performance clínica. A narrativa permite conectar estoque, assistência, fiscal, financeiro e governança comercial a uma operação de equipamentos médicos de alto valor.</a:t>
            </a:r>
            <a:endParaRPr lang="en-US" sz="800" dirty="0"/>
          </a:p>
        </p:txBody>
      </p:sp>
      <p:sp>
        <p:nvSpPr>
          <p:cNvPr id="38" name="Text 35"/>
          <p:cNvSpPr/>
          <p:nvPr/>
        </p:nvSpPr>
        <p:spPr>
          <a:xfrm>
            <a:off x="5486400" y="5650992"/>
            <a:ext cx="5349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30" dirty="0">
                <a:solidFill>
                  <a:srgbClr val="E4EAF1"/>
                </a:solidFill>
              </a:rPr>
              <a:t>Fonte: Segmentação de Parceiros Sankhya + informações institucionais fornecidas.</a:t>
            </a:r>
            <a:endParaRPr lang="en-US" sz="700" dirty="0"/>
          </a:p>
        </p:txBody>
      </p:sp>
      <p:sp>
        <p:nvSpPr>
          <p:cNvPr id="40" name="Text 36"/>
          <p:cNvSpPr/>
          <p:nvPr/>
        </p:nvSpPr>
        <p:spPr>
          <a:xfrm>
            <a:off x="8732520" y="6172200"/>
            <a:ext cx="2788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FFFFFF">
                    <a:alpha val="88000"/>
                  </a:srgbClr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Cases Unidade • Sankhya ABC Paulista • 6/13</a:t>
            </a:r>
            <a:endParaRPr lang="en-US" sz="800" dirty="0"/>
          </a:p>
        </p:txBody>
      </p:sp>
      <p:pic>
        <p:nvPicPr>
          <p:cNvPr id="42" name="Imagem 41">
            <a:extLst>
              <a:ext uri="{FF2B5EF4-FFF2-40B4-BE49-F238E27FC236}">
                <a16:creationId xmlns:a16="http://schemas.microsoft.com/office/drawing/2014/main" id="{AD583835-D01C-32EF-94EC-9B3518CD1F3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5477255"/>
            <a:ext cx="2476500" cy="1901441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2E415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Shape 17">
            <a:extLst>
              <a:ext uri="{FF2B5EF4-FFF2-40B4-BE49-F238E27FC236}">
                <a16:creationId xmlns:a16="http://schemas.microsoft.com/office/drawing/2014/main" id="{53EC133E-C65D-B0D5-EAAD-41F81962F355}"/>
              </a:ext>
            </a:extLst>
          </p:cNvPr>
          <p:cNvSpPr/>
          <p:nvPr/>
        </p:nvSpPr>
        <p:spPr>
          <a:xfrm>
            <a:off x="5513832" y="1184148"/>
            <a:ext cx="5440680" cy="17373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 sz="2400"/>
          </a:p>
        </p:txBody>
      </p:sp>
      <p:sp>
        <p:nvSpPr>
          <p:cNvPr id="2" name="Text 0"/>
          <p:cNvSpPr/>
          <p:nvPr/>
        </p:nvSpPr>
        <p:spPr>
          <a:xfrm>
            <a:off x="457200" y="457200"/>
            <a:ext cx="5669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5DCB61"/>
                </a:solidFill>
              </a:rPr>
              <a:t>&gt;&gt;&gt;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1238250" y="219456"/>
            <a:ext cx="6583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3200" b="1" dirty="0">
                <a:solidFill>
                  <a:srgbClr val="5DCB61"/>
                </a:solidFill>
              </a:rPr>
              <a:t>GRIF / GUIMA CONSECO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238250" y="802387"/>
            <a:ext cx="56692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20000"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GRIF Consultoria e Estruturação em Negócios Financeiros LTDA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85800" y="1298448"/>
            <a:ext cx="1554480" cy="329184"/>
          </a:xfrm>
          <a:prstGeom prst="roundRect">
            <a:avLst>
              <a:gd name="adj" fmla="val 22222"/>
            </a:avLst>
          </a:prstGeom>
          <a:solidFill>
            <a:srgbClr val="5DCB61"/>
          </a:solidFill>
          <a:ln w="12700">
            <a:solidFill>
              <a:srgbClr val="5DCB6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 sz="2400"/>
          </a:p>
        </p:txBody>
      </p:sp>
      <p:sp>
        <p:nvSpPr>
          <p:cNvPr id="6" name="Text 4"/>
          <p:cNvSpPr/>
          <p:nvPr/>
        </p:nvSpPr>
        <p:spPr>
          <a:xfrm>
            <a:off x="685800" y="1385316"/>
            <a:ext cx="1554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</a:rPr>
              <a:t>CASE DA UNIDADE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359152" y="1298448"/>
            <a:ext cx="1005840" cy="329184"/>
          </a:xfrm>
          <a:prstGeom prst="roundRect">
            <a:avLst>
              <a:gd name="adj" fmla="val 22222"/>
            </a:avLst>
          </a:prstGeom>
          <a:solidFill>
            <a:srgbClr val="16283D"/>
          </a:solidFill>
          <a:ln w="12700">
            <a:solidFill>
              <a:srgbClr val="16283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 sz="2400"/>
          </a:p>
        </p:txBody>
      </p:sp>
      <p:sp>
        <p:nvSpPr>
          <p:cNvPr id="8" name="Text 6"/>
          <p:cNvSpPr/>
          <p:nvPr/>
        </p:nvSpPr>
        <p:spPr>
          <a:xfrm>
            <a:off x="2359152" y="1385316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</a:rPr>
              <a:t>Premium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93008" y="1298448"/>
            <a:ext cx="1005840" cy="329184"/>
          </a:xfrm>
          <a:prstGeom prst="roundRect">
            <a:avLst>
              <a:gd name="adj" fmla="val 22222"/>
            </a:avLst>
          </a:prstGeom>
          <a:solidFill>
            <a:srgbClr val="16283D"/>
          </a:solidFill>
          <a:ln w="12700">
            <a:solidFill>
              <a:srgbClr val="16283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 sz="2400"/>
          </a:p>
        </p:txBody>
      </p:sp>
      <p:sp>
        <p:nvSpPr>
          <p:cNvPr id="10" name="Text 8"/>
          <p:cNvSpPr/>
          <p:nvPr/>
        </p:nvSpPr>
        <p:spPr>
          <a:xfrm>
            <a:off x="3493008" y="1385316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</a:rPr>
              <a:t>Serviço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85800" y="1792224"/>
            <a:ext cx="4572000" cy="2514600"/>
          </a:xfrm>
          <a:prstGeom prst="roundRect">
            <a:avLst>
              <a:gd name="adj" fmla="val 4364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 sz="2400"/>
          </a:p>
        </p:txBody>
      </p:sp>
      <p:sp>
        <p:nvSpPr>
          <p:cNvPr id="12" name="Text 10"/>
          <p:cNvSpPr/>
          <p:nvPr/>
        </p:nvSpPr>
        <p:spPr>
          <a:xfrm>
            <a:off x="896112" y="2057400"/>
            <a:ext cx="320040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5DCB61"/>
                </a:solidFill>
              </a:rPr>
              <a:t>LEITURA DO CASE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896112" y="2395728"/>
            <a:ext cx="39776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253449"/>
                </a:solidFill>
              </a:rPr>
              <a:t>Operação de facilities com serviços recorrentes em ambientes corporativos e críticos.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896112" y="2999232"/>
            <a:ext cx="182880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253449"/>
                </a:solidFill>
              </a:rPr>
              <a:t>Segmento / linhas de valor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932688" y="3273552"/>
            <a:ext cx="411480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20" b="1" dirty="0">
                <a:solidFill>
                  <a:srgbClr val="5DCB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020" dirty="0">
                <a:solidFill>
                  <a:srgbClr val="25344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Limpeza predial, hospitalar, varejo e indústria
</a:t>
            </a:r>
            <a:r>
              <a:rPr lang="en-US" sz="1020" b="1" dirty="0">
                <a:solidFill>
                  <a:srgbClr val="5DCB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020" dirty="0">
                <a:solidFill>
                  <a:srgbClr val="25344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Manutenção predial e facilities recorrentes
</a:t>
            </a:r>
            <a:r>
              <a:rPr lang="en-US" sz="1020" b="1" dirty="0">
                <a:solidFill>
                  <a:srgbClr val="5DCB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020" dirty="0">
                <a:solidFill>
                  <a:srgbClr val="25344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Recepção, controle de acesso, jardinagem e pragas
</a:t>
            </a:r>
            <a:r>
              <a:rPr lang="en-US" sz="1020" b="1" dirty="0">
                <a:solidFill>
                  <a:srgbClr val="5DCB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020" dirty="0">
                <a:solidFill>
                  <a:srgbClr val="25344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CD próprio, equipe grande e operação multiambiente
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5760720" y="1417320"/>
            <a:ext cx="1600200" cy="502920"/>
          </a:xfrm>
          <a:prstGeom prst="roundRect">
            <a:avLst>
              <a:gd name="adj" fmla="val 21818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 sz="2400"/>
          </a:p>
        </p:txBody>
      </p:sp>
      <p:pic>
        <p:nvPicPr>
          <p:cNvPr id="17" name="Image 0" descr="/mnt/data/f747def0-8571-4746-aa60-b1f2846f9fc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1291291"/>
            <a:ext cx="1600199" cy="663240"/>
          </a:xfrm>
          <a:prstGeom prst="rect">
            <a:avLst/>
          </a:prstGeom>
        </p:spPr>
      </p:pic>
      <p:sp>
        <p:nvSpPr>
          <p:cNvPr id="18" name="Shape 15"/>
          <p:cNvSpPr/>
          <p:nvPr/>
        </p:nvSpPr>
        <p:spPr>
          <a:xfrm>
            <a:off x="7571232" y="1417320"/>
            <a:ext cx="3017520" cy="502920"/>
          </a:xfrm>
          <a:prstGeom prst="roundRect">
            <a:avLst>
              <a:gd name="adj" fmla="val 21818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 sz="2400"/>
          </a:p>
        </p:txBody>
      </p:sp>
      <p:pic>
        <p:nvPicPr>
          <p:cNvPr id="19" name="Image 1" descr="/mnt/data/a50d24b1-e9fa-4ce3-aa41-ce51d0deb472.png"/>
          <p:cNvPicPr>
            <a:picLocks noChangeAspect="1"/>
          </p:cNvPicPr>
          <p:nvPr/>
        </p:nvPicPr>
        <p:blipFill>
          <a:blip r:embed="rId4"/>
          <a:srcRect t="5370" b="5370"/>
          <a:stretch/>
        </p:blipFill>
        <p:spPr>
          <a:xfrm>
            <a:off x="7406640" y="1298447"/>
            <a:ext cx="3429000" cy="656083"/>
          </a:xfrm>
          <a:prstGeom prst="rect">
            <a:avLst/>
          </a:prstGeom>
        </p:spPr>
      </p:pic>
      <p:sp>
        <p:nvSpPr>
          <p:cNvPr id="20" name="Shape 16"/>
          <p:cNvSpPr/>
          <p:nvPr/>
        </p:nvSpPr>
        <p:spPr>
          <a:xfrm>
            <a:off x="5760720" y="2121408"/>
            <a:ext cx="5074920" cy="502920"/>
          </a:xfrm>
          <a:prstGeom prst="roundRect">
            <a:avLst>
              <a:gd name="adj" fmla="val 21818"/>
            </a:avLst>
          </a:prstGeom>
          <a:solidFill>
            <a:srgbClr val="16283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 sz="2400"/>
          </a:p>
        </p:txBody>
      </p:sp>
      <p:pic>
        <p:nvPicPr>
          <p:cNvPr id="21" name="Image 2" descr="/mnt/data/fbbbbdb3-96c0-4fb4-bcfc-9436d53db8b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3903" y="2258568"/>
            <a:ext cx="801666" cy="228600"/>
          </a:xfrm>
          <a:prstGeom prst="rect">
            <a:avLst/>
          </a:prstGeom>
        </p:spPr>
      </p:pic>
      <p:sp>
        <p:nvSpPr>
          <p:cNvPr id="22" name="Shape 17"/>
          <p:cNvSpPr/>
          <p:nvPr/>
        </p:nvSpPr>
        <p:spPr>
          <a:xfrm>
            <a:off x="5532120" y="2999232"/>
            <a:ext cx="5440680" cy="17373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 sz="2400"/>
          </a:p>
        </p:txBody>
      </p:sp>
      <p:sp>
        <p:nvSpPr>
          <p:cNvPr id="23" name="Text 18"/>
          <p:cNvSpPr/>
          <p:nvPr/>
        </p:nvSpPr>
        <p:spPr>
          <a:xfrm>
            <a:off x="5797296" y="3246120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5DCB61"/>
                </a:solidFill>
              </a:rPr>
              <a:t>DADOS DE ENQUADRAMENTO</a:t>
            </a:r>
            <a:endParaRPr lang="en-US" sz="900" dirty="0"/>
          </a:p>
        </p:txBody>
      </p:sp>
      <p:sp>
        <p:nvSpPr>
          <p:cNvPr id="24" name="Text 19"/>
          <p:cNvSpPr/>
          <p:nvPr/>
        </p:nvSpPr>
        <p:spPr>
          <a:xfrm>
            <a:off x="5797296" y="3529584"/>
            <a:ext cx="135331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7D8B99"/>
                </a:solidFill>
              </a:rPr>
              <a:t>Localização</a:t>
            </a:r>
            <a:endParaRPr lang="en-US" sz="900" dirty="0"/>
          </a:p>
        </p:txBody>
      </p:sp>
      <p:sp>
        <p:nvSpPr>
          <p:cNvPr id="25" name="Text 20"/>
          <p:cNvSpPr/>
          <p:nvPr/>
        </p:nvSpPr>
        <p:spPr>
          <a:xfrm>
            <a:off x="7059168" y="3520440"/>
            <a:ext cx="19385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940" dirty="0">
                <a:solidFill>
                  <a:srgbClr val="253449"/>
                </a:solidFill>
              </a:rPr>
              <a:t>R. Apeninos, 429 — Aclimação, São Paulo/SP</a:t>
            </a:r>
            <a:endParaRPr lang="en-US" sz="700" dirty="0"/>
          </a:p>
        </p:txBody>
      </p:sp>
      <p:sp>
        <p:nvSpPr>
          <p:cNvPr id="26" name="Text 21"/>
          <p:cNvSpPr/>
          <p:nvPr/>
        </p:nvSpPr>
        <p:spPr>
          <a:xfrm>
            <a:off x="5797296" y="3803904"/>
            <a:ext cx="135331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7D8B99"/>
                </a:solidFill>
              </a:rPr>
              <a:t>Subsetor</a:t>
            </a:r>
            <a:endParaRPr lang="en-US" sz="900" dirty="0"/>
          </a:p>
        </p:txBody>
      </p:sp>
      <p:sp>
        <p:nvSpPr>
          <p:cNvPr id="27" name="Text 22"/>
          <p:cNvSpPr/>
          <p:nvPr/>
        </p:nvSpPr>
        <p:spPr>
          <a:xfrm>
            <a:off x="7059168" y="3794760"/>
            <a:ext cx="19385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940" dirty="0">
                <a:solidFill>
                  <a:srgbClr val="253449"/>
                </a:solidFill>
              </a:rPr>
              <a:t>Facilities e serviços terceirizados</a:t>
            </a:r>
            <a:endParaRPr lang="en-US" sz="700" dirty="0"/>
          </a:p>
        </p:txBody>
      </p:sp>
      <p:sp>
        <p:nvSpPr>
          <p:cNvPr id="28" name="Text 23"/>
          <p:cNvSpPr/>
          <p:nvPr/>
        </p:nvSpPr>
        <p:spPr>
          <a:xfrm>
            <a:off x="5797296" y="4078224"/>
            <a:ext cx="135331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7D8B99"/>
                </a:solidFill>
              </a:rPr>
              <a:t>Segmento</a:t>
            </a:r>
            <a:endParaRPr lang="en-US" sz="900" dirty="0"/>
          </a:p>
        </p:txBody>
      </p:sp>
      <p:sp>
        <p:nvSpPr>
          <p:cNvPr id="29" name="Text 24"/>
          <p:cNvSpPr/>
          <p:nvPr/>
        </p:nvSpPr>
        <p:spPr>
          <a:xfrm>
            <a:off x="7059168" y="4069080"/>
            <a:ext cx="19385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940" dirty="0">
                <a:solidFill>
                  <a:srgbClr val="253449"/>
                </a:solidFill>
              </a:rPr>
              <a:t>Full facilities, manutenção, limpeza, recepção e controle operacional</a:t>
            </a:r>
            <a:endParaRPr lang="en-US" sz="700" dirty="0"/>
          </a:p>
        </p:txBody>
      </p:sp>
      <p:sp>
        <p:nvSpPr>
          <p:cNvPr id="32" name="Text 27"/>
          <p:cNvSpPr/>
          <p:nvPr/>
        </p:nvSpPr>
        <p:spPr>
          <a:xfrm>
            <a:off x="9098280" y="3529584"/>
            <a:ext cx="9601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7D8B99"/>
                </a:solidFill>
              </a:rPr>
              <a:t>MRR</a:t>
            </a:r>
            <a:endParaRPr lang="en-US" sz="900" dirty="0"/>
          </a:p>
        </p:txBody>
      </p:sp>
      <p:sp>
        <p:nvSpPr>
          <p:cNvPr id="33" name="Text 28"/>
          <p:cNvSpPr/>
          <p:nvPr/>
        </p:nvSpPr>
        <p:spPr>
          <a:xfrm>
            <a:off x="10131552" y="3520440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30" dirty="0">
                <a:solidFill>
                  <a:srgbClr val="253449"/>
                </a:solidFill>
              </a:rPr>
              <a:t>R$ 23.976,31</a:t>
            </a:r>
            <a:endParaRPr lang="en-US" sz="700" dirty="0"/>
          </a:p>
        </p:txBody>
      </p:sp>
      <p:sp>
        <p:nvSpPr>
          <p:cNvPr id="34" name="Text 29"/>
          <p:cNvSpPr/>
          <p:nvPr/>
        </p:nvSpPr>
        <p:spPr>
          <a:xfrm>
            <a:off x="9098280" y="3803904"/>
            <a:ext cx="9601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7D8B99"/>
                </a:solidFill>
              </a:rPr>
              <a:t>Curva / Valor</a:t>
            </a:r>
            <a:endParaRPr lang="en-US" sz="900" dirty="0"/>
          </a:p>
        </p:txBody>
      </p:sp>
      <p:sp>
        <p:nvSpPr>
          <p:cNvPr id="35" name="Text 30"/>
          <p:cNvSpPr/>
          <p:nvPr/>
        </p:nvSpPr>
        <p:spPr>
          <a:xfrm>
            <a:off x="10131552" y="3794760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30" dirty="0">
                <a:solidFill>
                  <a:srgbClr val="253449"/>
                </a:solidFill>
              </a:rPr>
              <a:t>Curva A • Alto</a:t>
            </a:r>
            <a:endParaRPr lang="en-US" sz="700" dirty="0"/>
          </a:p>
        </p:txBody>
      </p:sp>
      <p:sp>
        <p:nvSpPr>
          <p:cNvPr id="36" name="Text 31"/>
          <p:cNvSpPr/>
          <p:nvPr/>
        </p:nvSpPr>
        <p:spPr>
          <a:xfrm>
            <a:off x="9098280" y="4078224"/>
            <a:ext cx="9601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7D8B99"/>
                </a:solidFill>
              </a:rPr>
              <a:t>Estratégia</a:t>
            </a:r>
            <a:endParaRPr lang="en-US" sz="900" dirty="0"/>
          </a:p>
        </p:txBody>
      </p:sp>
      <p:sp>
        <p:nvSpPr>
          <p:cNvPr id="37" name="Text 32"/>
          <p:cNvSpPr/>
          <p:nvPr/>
        </p:nvSpPr>
        <p:spPr>
          <a:xfrm>
            <a:off x="10131552" y="4069080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30" dirty="0">
                <a:solidFill>
                  <a:srgbClr val="253449"/>
                </a:solidFill>
              </a:rPr>
              <a:t>Fidelizar</a:t>
            </a:r>
            <a:endParaRPr lang="en-US" sz="700" dirty="0"/>
          </a:p>
        </p:txBody>
      </p:sp>
      <p:sp>
        <p:nvSpPr>
          <p:cNvPr id="38" name="Shape 33"/>
          <p:cNvSpPr/>
          <p:nvPr/>
        </p:nvSpPr>
        <p:spPr>
          <a:xfrm>
            <a:off x="685800" y="4846320"/>
            <a:ext cx="10287000" cy="713232"/>
          </a:xfrm>
          <a:prstGeom prst="roundRect">
            <a:avLst>
              <a:gd name="adj" fmla="val 15000"/>
            </a:avLst>
          </a:prstGeom>
          <a:solidFill>
            <a:srgbClr val="5DCB6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 sz="2400"/>
          </a:p>
        </p:txBody>
      </p:sp>
      <p:sp>
        <p:nvSpPr>
          <p:cNvPr id="39" name="Text 34"/>
          <p:cNvSpPr/>
          <p:nvPr/>
        </p:nvSpPr>
        <p:spPr>
          <a:xfrm>
            <a:off x="896112" y="5068685"/>
            <a:ext cx="2148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</a:rPr>
              <a:t>Por que é case da Unidade?</a:t>
            </a:r>
            <a:endParaRPr lang="en-US" sz="900" dirty="0"/>
          </a:p>
        </p:txBody>
      </p:sp>
      <p:sp>
        <p:nvSpPr>
          <p:cNvPr id="40" name="Text 35"/>
          <p:cNvSpPr/>
          <p:nvPr/>
        </p:nvSpPr>
        <p:spPr>
          <a:xfrm>
            <a:off x="3090672" y="4957711"/>
            <a:ext cx="7452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060" b="1" dirty="0">
                <a:solidFill>
                  <a:srgbClr val="FFFFFF"/>
                </a:solidFill>
              </a:rPr>
              <a:t>A operação combina escala, serviços recorrentes, logística de suprimentos e gestão de pessoas. É uma história forte para contratos, produtividade, controle de equipes, materiais e padronização em múltiplos ambientes.</a:t>
            </a:r>
            <a:endParaRPr lang="en-US" sz="800" dirty="0"/>
          </a:p>
        </p:txBody>
      </p:sp>
      <p:sp>
        <p:nvSpPr>
          <p:cNvPr id="42" name="Text 37"/>
          <p:cNvSpPr/>
          <p:nvPr/>
        </p:nvSpPr>
        <p:spPr>
          <a:xfrm>
            <a:off x="5486400" y="5650992"/>
            <a:ext cx="5349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30" dirty="0">
                <a:solidFill>
                  <a:srgbClr val="E4EAF1"/>
                </a:solidFill>
              </a:rPr>
              <a:t>Fonte: Segmentação de Parceiros Sankhya + informações institucionais fornecidas.</a:t>
            </a:r>
            <a:endParaRPr lang="en-US" sz="700" dirty="0"/>
          </a:p>
        </p:txBody>
      </p:sp>
      <p:sp>
        <p:nvSpPr>
          <p:cNvPr id="44" name="Text 38"/>
          <p:cNvSpPr/>
          <p:nvPr/>
        </p:nvSpPr>
        <p:spPr>
          <a:xfrm>
            <a:off x="8732520" y="6172200"/>
            <a:ext cx="2788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FFFFFF">
                    <a:alpha val="88000"/>
                  </a:srgbClr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Cases Unidade • Sankhya ABC Paulista • 7/13</a:t>
            </a:r>
            <a:endParaRPr lang="en-US" sz="800" dirty="0"/>
          </a:p>
        </p:txBody>
      </p:sp>
      <p:pic>
        <p:nvPicPr>
          <p:cNvPr id="46" name="Imagem 45">
            <a:extLst>
              <a:ext uri="{FF2B5EF4-FFF2-40B4-BE49-F238E27FC236}">
                <a16:creationId xmlns:a16="http://schemas.microsoft.com/office/drawing/2014/main" id="{CA9531C8-2CA6-0DCB-9718-A165DA53DA1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5477255"/>
            <a:ext cx="2476500" cy="1901441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E415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5669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FF7328"/>
                </a:solidFill>
              </a:rPr>
              <a:t>&gt;&gt;&gt;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1238250" y="208788"/>
            <a:ext cx="6583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3200" b="1" dirty="0">
                <a:solidFill>
                  <a:srgbClr val="FF7328"/>
                </a:solidFill>
              </a:rPr>
              <a:t>MODIAL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238250" y="749808"/>
            <a:ext cx="56692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20000"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Modial Comércio de Artigos Funerários LTDA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85800" y="1298448"/>
            <a:ext cx="1554480" cy="329184"/>
          </a:xfrm>
          <a:prstGeom prst="roundRect">
            <a:avLst>
              <a:gd name="adj" fmla="val 22222"/>
            </a:avLst>
          </a:prstGeom>
          <a:solidFill>
            <a:srgbClr val="FF7328"/>
          </a:solidFill>
          <a:ln w="12700">
            <a:solidFill>
              <a:srgbClr val="FF732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 sz="2400"/>
          </a:p>
        </p:txBody>
      </p:sp>
      <p:sp>
        <p:nvSpPr>
          <p:cNvPr id="6" name="Text 4"/>
          <p:cNvSpPr/>
          <p:nvPr/>
        </p:nvSpPr>
        <p:spPr>
          <a:xfrm>
            <a:off x="685800" y="1385316"/>
            <a:ext cx="1554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</a:rPr>
              <a:t>CASE DA UNIDADE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359152" y="1298448"/>
            <a:ext cx="1005840" cy="329184"/>
          </a:xfrm>
          <a:prstGeom prst="roundRect">
            <a:avLst>
              <a:gd name="adj" fmla="val 22222"/>
            </a:avLst>
          </a:prstGeom>
          <a:solidFill>
            <a:srgbClr val="16283D"/>
          </a:solidFill>
          <a:ln w="12700">
            <a:solidFill>
              <a:srgbClr val="16283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 sz="2400"/>
          </a:p>
        </p:txBody>
      </p:sp>
      <p:sp>
        <p:nvSpPr>
          <p:cNvPr id="8" name="Text 6"/>
          <p:cNvSpPr/>
          <p:nvPr/>
        </p:nvSpPr>
        <p:spPr>
          <a:xfrm>
            <a:off x="2359152" y="1385316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</a:rPr>
              <a:t>Digital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93008" y="1298448"/>
            <a:ext cx="1005840" cy="329184"/>
          </a:xfrm>
          <a:prstGeom prst="roundRect">
            <a:avLst>
              <a:gd name="adj" fmla="val 22222"/>
            </a:avLst>
          </a:prstGeom>
          <a:solidFill>
            <a:srgbClr val="16283D"/>
          </a:solidFill>
          <a:ln w="12700">
            <a:solidFill>
              <a:srgbClr val="16283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 sz="2400"/>
          </a:p>
        </p:txBody>
      </p:sp>
      <p:sp>
        <p:nvSpPr>
          <p:cNvPr id="10" name="Text 8"/>
          <p:cNvSpPr/>
          <p:nvPr/>
        </p:nvSpPr>
        <p:spPr>
          <a:xfrm>
            <a:off x="3493008" y="1385316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</a:rPr>
              <a:t>Varejo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85800" y="1792224"/>
            <a:ext cx="4572000" cy="2514600"/>
          </a:xfrm>
          <a:prstGeom prst="roundRect">
            <a:avLst>
              <a:gd name="adj" fmla="val 4364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 sz="2400"/>
          </a:p>
        </p:txBody>
      </p:sp>
      <p:sp>
        <p:nvSpPr>
          <p:cNvPr id="12" name="Text 10"/>
          <p:cNvSpPr/>
          <p:nvPr/>
        </p:nvSpPr>
        <p:spPr>
          <a:xfrm>
            <a:off x="896112" y="2057400"/>
            <a:ext cx="320040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FF7328"/>
                </a:solidFill>
              </a:rPr>
              <a:t>LEITURA DO CASE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896112" y="2395728"/>
            <a:ext cx="39776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253449"/>
                </a:solidFill>
              </a:rPr>
              <a:t>Varejo especializado em artigos e soluções para o setor funerário.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896112" y="2999232"/>
            <a:ext cx="182880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253449"/>
                </a:solidFill>
              </a:rPr>
              <a:t>Segmento / linhas de valor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932688" y="3273552"/>
            <a:ext cx="411480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20" b="1" dirty="0">
                <a:solidFill>
                  <a:srgbClr val="FF73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020" dirty="0">
                <a:solidFill>
                  <a:srgbClr val="25344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Acessórios funerários, coroas, véus e lenços
</a:t>
            </a:r>
            <a:r>
              <a:rPr lang="en-US" sz="1020" b="1" dirty="0">
                <a:solidFill>
                  <a:srgbClr val="FF73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020" dirty="0">
                <a:solidFill>
                  <a:srgbClr val="25344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Arranjos para urnas, cemitério e cremação
</a:t>
            </a:r>
            <a:r>
              <a:rPr lang="en-US" sz="1020" b="1" dirty="0">
                <a:solidFill>
                  <a:srgbClr val="FF73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020" dirty="0">
                <a:solidFill>
                  <a:srgbClr val="25344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Decoração para velório, paramentos e vestes fúnebres
</a:t>
            </a:r>
            <a:r>
              <a:rPr lang="en-US" sz="1020" b="1" dirty="0">
                <a:solidFill>
                  <a:srgbClr val="FF73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020" dirty="0">
                <a:solidFill>
                  <a:srgbClr val="25344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Necromaquiagem, remoção e tanatopraxia
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5605272" y="1261872"/>
            <a:ext cx="5257800" cy="1627632"/>
          </a:xfrm>
          <a:prstGeom prst="roundRect">
            <a:avLst>
              <a:gd name="adj" fmla="val 6742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 sz="2400"/>
          </a:p>
        </p:txBody>
      </p:sp>
      <p:pic>
        <p:nvPicPr>
          <p:cNvPr id="17" name="Image 0" descr="/mnt/data/8c652edc-958a-4227-af07-c6bd08a46ea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27313" y="1399032"/>
            <a:ext cx="1813717" cy="1353312"/>
          </a:xfrm>
          <a:prstGeom prst="rect">
            <a:avLst/>
          </a:prstGeom>
        </p:spPr>
      </p:pic>
      <p:sp>
        <p:nvSpPr>
          <p:cNvPr id="18" name="Shape 15"/>
          <p:cNvSpPr/>
          <p:nvPr/>
        </p:nvSpPr>
        <p:spPr>
          <a:xfrm>
            <a:off x="5605272" y="2999232"/>
            <a:ext cx="5257800" cy="17373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 sz="2400"/>
          </a:p>
        </p:txBody>
      </p:sp>
      <p:sp>
        <p:nvSpPr>
          <p:cNvPr id="19" name="Text 16"/>
          <p:cNvSpPr/>
          <p:nvPr/>
        </p:nvSpPr>
        <p:spPr>
          <a:xfrm>
            <a:off x="5797296" y="3246120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FF7328"/>
                </a:solidFill>
              </a:rPr>
              <a:t>DADOS DE ENQUADRAMENTO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5797296" y="3529584"/>
            <a:ext cx="135331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7D8B99"/>
                </a:solidFill>
              </a:rPr>
              <a:t>Localização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7059168" y="3520440"/>
            <a:ext cx="19385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940" dirty="0">
                <a:solidFill>
                  <a:srgbClr val="253449"/>
                </a:solidFill>
              </a:rPr>
              <a:t>R. Sd. Hamilton da Silva Costa, 17 — Jardim Munhoz, Guarulhos/SP</a:t>
            </a:r>
            <a:endParaRPr lang="en-US" sz="700" dirty="0"/>
          </a:p>
        </p:txBody>
      </p:sp>
      <p:sp>
        <p:nvSpPr>
          <p:cNvPr id="22" name="Text 19"/>
          <p:cNvSpPr/>
          <p:nvPr/>
        </p:nvSpPr>
        <p:spPr>
          <a:xfrm>
            <a:off x="5797296" y="3803904"/>
            <a:ext cx="135331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7D8B99"/>
                </a:solidFill>
              </a:rPr>
              <a:t>Subsetor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7059168" y="3794760"/>
            <a:ext cx="19385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40" dirty="0">
                <a:solidFill>
                  <a:srgbClr val="253449"/>
                </a:solidFill>
              </a:rPr>
              <a:t>Funerário</a:t>
            </a:r>
            <a:endParaRPr lang="en-US" sz="700" dirty="0"/>
          </a:p>
        </p:txBody>
      </p:sp>
      <p:sp>
        <p:nvSpPr>
          <p:cNvPr id="24" name="Text 21"/>
          <p:cNvSpPr/>
          <p:nvPr/>
        </p:nvSpPr>
        <p:spPr>
          <a:xfrm>
            <a:off x="5797296" y="4078224"/>
            <a:ext cx="135331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7D8B99"/>
                </a:solidFill>
              </a:rPr>
              <a:t>Segmento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7059168" y="4069080"/>
            <a:ext cx="19385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940" dirty="0">
                <a:solidFill>
                  <a:srgbClr val="253449"/>
                </a:solidFill>
              </a:rPr>
              <a:t>Acessórios funerários, arranjos, vestes e operação especializada</a:t>
            </a:r>
            <a:endParaRPr lang="en-US" sz="700" dirty="0"/>
          </a:p>
        </p:txBody>
      </p:sp>
      <p:sp>
        <p:nvSpPr>
          <p:cNvPr id="28" name="Text 25"/>
          <p:cNvSpPr/>
          <p:nvPr/>
        </p:nvSpPr>
        <p:spPr>
          <a:xfrm>
            <a:off x="9098280" y="3529584"/>
            <a:ext cx="9601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7D8B99"/>
                </a:solidFill>
              </a:rPr>
              <a:t>MRR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9983308" y="3520440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30" dirty="0">
                <a:solidFill>
                  <a:srgbClr val="253449"/>
                </a:solidFill>
              </a:rPr>
              <a:t>R$ 17.383,57</a:t>
            </a:r>
            <a:endParaRPr lang="en-US" sz="700" dirty="0"/>
          </a:p>
        </p:txBody>
      </p:sp>
      <p:sp>
        <p:nvSpPr>
          <p:cNvPr id="30" name="Text 27"/>
          <p:cNvSpPr/>
          <p:nvPr/>
        </p:nvSpPr>
        <p:spPr>
          <a:xfrm>
            <a:off x="9098280" y="3803904"/>
            <a:ext cx="9601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7D8B99"/>
                </a:solidFill>
              </a:rPr>
              <a:t>Curva / Valor</a:t>
            </a:r>
            <a:endParaRPr lang="en-US" sz="900" dirty="0"/>
          </a:p>
        </p:txBody>
      </p:sp>
      <p:sp>
        <p:nvSpPr>
          <p:cNvPr id="31" name="Text 28"/>
          <p:cNvSpPr/>
          <p:nvPr/>
        </p:nvSpPr>
        <p:spPr>
          <a:xfrm>
            <a:off x="9983308" y="3777857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30" dirty="0">
                <a:solidFill>
                  <a:srgbClr val="253449"/>
                </a:solidFill>
              </a:rPr>
              <a:t>Curva B • Médio</a:t>
            </a:r>
            <a:endParaRPr lang="en-US" sz="700" dirty="0"/>
          </a:p>
        </p:txBody>
      </p:sp>
      <p:sp>
        <p:nvSpPr>
          <p:cNvPr id="32" name="Text 29"/>
          <p:cNvSpPr/>
          <p:nvPr/>
        </p:nvSpPr>
        <p:spPr>
          <a:xfrm>
            <a:off x="9098280" y="4078224"/>
            <a:ext cx="9601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7D8B99"/>
                </a:solidFill>
              </a:rPr>
              <a:t>Estratégia</a:t>
            </a:r>
            <a:endParaRPr lang="en-US" sz="900" dirty="0"/>
          </a:p>
        </p:txBody>
      </p:sp>
      <p:sp>
        <p:nvSpPr>
          <p:cNvPr id="33" name="Text 30"/>
          <p:cNvSpPr/>
          <p:nvPr/>
        </p:nvSpPr>
        <p:spPr>
          <a:xfrm>
            <a:off x="9983308" y="4069080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30" dirty="0">
                <a:solidFill>
                  <a:srgbClr val="253449"/>
                </a:solidFill>
              </a:rPr>
              <a:t>Manter</a:t>
            </a:r>
            <a:endParaRPr lang="en-US" sz="700" dirty="0"/>
          </a:p>
        </p:txBody>
      </p:sp>
      <p:sp>
        <p:nvSpPr>
          <p:cNvPr id="34" name="Shape 31"/>
          <p:cNvSpPr/>
          <p:nvPr/>
        </p:nvSpPr>
        <p:spPr>
          <a:xfrm>
            <a:off x="696607" y="4835513"/>
            <a:ext cx="10287000" cy="713232"/>
          </a:xfrm>
          <a:prstGeom prst="roundRect">
            <a:avLst>
              <a:gd name="adj" fmla="val 15000"/>
            </a:avLst>
          </a:prstGeom>
          <a:solidFill>
            <a:srgbClr val="FF732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 sz="2400"/>
          </a:p>
        </p:txBody>
      </p:sp>
      <p:sp>
        <p:nvSpPr>
          <p:cNvPr id="35" name="Text 32"/>
          <p:cNvSpPr/>
          <p:nvPr/>
        </p:nvSpPr>
        <p:spPr>
          <a:xfrm>
            <a:off x="921327" y="5055800"/>
            <a:ext cx="2148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</a:rPr>
              <a:t>Por que é case da Unidade?</a:t>
            </a:r>
            <a:endParaRPr lang="en-US" sz="900" dirty="0"/>
          </a:p>
        </p:txBody>
      </p:sp>
      <p:sp>
        <p:nvSpPr>
          <p:cNvPr id="36" name="Text 33"/>
          <p:cNvSpPr/>
          <p:nvPr/>
        </p:nvSpPr>
        <p:spPr>
          <a:xfrm>
            <a:off x="3090672" y="4954940"/>
            <a:ext cx="7452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060" b="1" dirty="0">
                <a:solidFill>
                  <a:srgbClr val="FFFFFF"/>
                </a:solidFill>
              </a:rPr>
              <a:t>É uma operação de nicho com portfólio amplo e necessidade de controle de catálogo, estoque, vendas e administração. A história demonstra como o ERP apoia varejo especializado com mix sensível e alto nível de organização.</a:t>
            </a:r>
            <a:endParaRPr lang="en-US" sz="800" dirty="0"/>
          </a:p>
        </p:txBody>
      </p:sp>
      <p:sp>
        <p:nvSpPr>
          <p:cNvPr id="38" name="Text 35"/>
          <p:cNvSpPr/>
          <p:nvPr/>
        </p:nvSpPr>
        <p:spPr>
          <a:xfrm>
            <a:off x="5486400" y="5650992"/>
            <a:ext cx="5349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30" dirty="0">
                <a:solidFill>
                  <a:srgbClr val="E4EAF1"/>
                </a:solidFill>
              </a:rPr>
              <a:t>Fonte: Segmentação de Parceiros Sankhya + informações institucionais fornecidas.</a:t>
            </a:r>
            <a:endParaRPr lang="en-US" sz="700" dirty="0"/>
          </a:p>
        </p:txBody>
      </p:sp>
      <p:sp>
        <p:nvSpPr>
          <p:cNvPr id="40" name="Text 36"/>
          <p:cNvSpPr/>
          <p:nvPr/>
        </p:nvSpPr>
        <p:spPr>
          <a:xfrm>
            <a:off x="8732520" y="6172200"/>
            <a:ext cx="2788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FFFFFF">
                    <a:alpha val="88000"/>
                  </a:srgbClr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Cases Unidade • Sankhya ABC Paulista • 8/13</a:t>
            </a:r>
            <a:endParaRPr lang="en-US" sz="800" dirty="0"/>
          </a:p>
        </p:txBody>
      </p:sp>
      <p:pic>
        <p:nvPicPr>
          <p:cNvPr id="42" name="Imagem 41">
            <a:extLst>
              <a:ext uri="{FF2B5EF4-FFF2-40B4-BE49-F238E27FC236}">
                <a16:creationId xmlns:a16="http://schemas.microsoft.com/office/drawing/2014/main" id="{9054BFAC-9224-3B66-886A-710004DAFEF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5477255"/>
            <a:ext cx="2476500" cy="1901441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E415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Shape 15">
            <a:extLst>
              <a:ext uri="{FF2B5EF4-FFF2-40B4-BE49-F238E27FC236}">
                <a16:creationId xmlns:a16="http://schemas.microsoft.com/office/drawing/2014/main" id="{D5235C19-F713-F0AD-4812-AF92F24CFC7D}"/>
              </a:ext>
            </a:extLst>
          </p:cNvPr>
          <p:cNvSpPr/>
          <p:nvPr/>
        </p:nvSpPr>
        <p:spPr>
          <a:xfrm>
            <a:off x="5532120" y="1197864"/>
            <a:ext cx="5440680" cy="17373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 sz="2400"/>
          </a:p>
        </p:txBody>
      </p:sp>
      <p:sp>
        <p:nvSpPr>
          <p:cNvPr id="2" name="Text 0"/>
          <p:cNvSpPr/>
          <p:nvPr/>
        </p:nvSpPr>
        <p:spPr>
          <a:xfrm>
            <a:off x="457200" y="457200"/>
            <a:ext cx="5669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FF7328"/>
                </a:solidFill>
              </a:rPr>
              <a:t>&gt;&gt;&gt;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1234440" y="219456"/>
            <a:ext cx="6583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FF7328"/>
                </a:solidFill>
              </a:rPr>
              <a:t>PROAUTO KIMIUM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1234440" y="763016"/>
            <a:ext cx="56692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20000"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Proauto Indústria Química LTDA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85800" y="1298448"/>
            <a:ext cx="1554480" cy="329184"/>
          </a:xfrm>
          <a:prstGeom prst="roundRect">
            <a:avLst>
              <a:gd name="adj" fmla="val 22222"/>
            </a:avLst>
          </a:prstGeom>
          <a:solidFill>
            <a:srgbClr val="FF7328"/>
          </a:solidFill>
          <a:ln w="12700">
            <a:solidFill>
              <a:srgbClr val="FF732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 sz="2400"/>
          </a:p>
        </p:txBody>
      </p:sp>
      <p:sp>
        <p:nvSpPr>
          <p:cNvPr id="6" name="Text 4"/>
          <p:cNvSpPr/>
          <p:nvPr/>
        </p:nvSpPr>
        <p:spPr>
          <a:xfrm>
            <a:off x="685800" y="1385316"/>
            <a:ext cx="1554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</a:rPr>
              <a:t>CASE DA UNIDADE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359152" y="1298448"/>
            <a:ext cx="1005840" cy="329184"/>
          </a:xfrm>
          <a:prstGeom prst="roundRect">
            <a:avLst>
              <a:gd name="adj" fmla="val 22222"/>
            </a:avLst>
          </a:prstGeom>
          <a:solidFill>
            <a:srgbClr val="16283D"/>
          </a:solidFill>
          <a:ln w="12700">
            <a:solidFill>
              <a:srgbClr val="16283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 sz="2400"/>
          </a:p>
        </p:txBody>
      </p:sp>
      <p:sp>
        <p:nvSpPr>
          <p:cNvPr id="8" name="Text 6"/>
          <p:cNvSpPr/>
          <p:nvPr/>
        </p:nvSpPr>
        <p:spPr>
          <a:xfrm>
            <a:off x="2359152" y="1385316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</a:rPr>
              <a:t>Growth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93008" y="1298448"/>
            <a:ext cx="1005840" cy="329184"/>
          </a:xfrm>
          <a:prstGeom prst="roundRect">
            <a:avLst>
              <a:gd name="adj" fmla="val 22222"/>
            </a:avLst>
          </a:prstGeom>
          <a:solidFill>
            <a:srgbClr val="16283D"/>
          </a:solidFill>
          <a:ln w="12700">
            <a:solidFill>
              <a:srgbClr val="16283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 sz="2400"/>
          </a:p>
        </p:txBody>
      </p:sp>
      <p:sp>
        <p:nvSpPr>
          <p:cNvPr id="10" name="Text 8"/>
          <p:cNvSpPr/>
          <p:nvPr/>
        </p:nvSpPr>
        <p:spPr>
          <a:xfrm>
            <a:off x="3493008" y="1385316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</a:rPr>
              <a:t>Indústria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85800" y="1792224"/>
            <a:ext cx="4572000" cy="2514600"/>
          </a:xfrm>
          <a:prstGeom prst="roundRect">
            <a:avLst>
              <a:gd name="adj" fmla="val 4364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 sz="2400"/>
          </a:p>
        </p:txBody>
      </p:sp>
      <p:sp>
        <p:nvSpPr>
          <p:cNvPr id="12" name="Text 10"/>
          <p:cNvSpPr/>
          <p:nvPr/>
        </p:nvSpPr>
        <p:spPr>
          <a:xfrm>
            <a:off x="896112" y="2057400"/>
            <a:ext cx="320040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FF7328"/>
                </a:solidFill>
              </a:rPr>
              <a:t>LEITURA DO CASE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896112" y="2395728"/>
            <a:ext cx="39776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253449"/>
                </a:solidFill>
              </a:rPr>
              <a:t>Indústria química com linhas concentradas e consultoria técnica para performance operacional.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896112" y="2999232"/>
            <a:ext cx="182880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253449"/>
                </a:solidFill>
              </a:rPr>
              <a:t>Segmento / linhas de valor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932688" y="3273552"/>
            <a:ext cx="411480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20" b="1" dirty="0">
                <a:solidFill>
                  <a:srgbClr val="FF73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020" dirty="0">
                <a:solidFill>
                  <a:srgbClr val="25344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Produtos concentrados de alta performance
</a:t>
            </a:r>
            <a:r>
              <a:rPr lang="en-US" sz="1020" b="1" dirty="0">
                <a:solidFill>
                  <a:srgbClr val="FF73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020" dirty="0">
                <a:solidFill>
                  <a:srgbClr val="25344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Consultoria técnica especializada e diagnóstico operacional
</a:t>
            </a:r>
            <a:r>
              <a:rPr lang="en-US" sz="1020" b="1" dirty="0">
                <a:solidFill>
                  <a:srgbClr val="FF73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020" dirty="0">
                <a:solidFill>
                  <a:srgbClr val="25344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Redução de custos, desperdício e consumo por área
</a:t>
            </a:r>
            <a:r>
              <a:rPr lang="en-US" sz="1020" b="1" dirty="0">
                <a:solidFill>
                  <a:srgbClr val="FF73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020" dirty="0">
                <a:solidFill>
                  <a:srgbClr val="25344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Engenharia de processos, dosagem e treinamento
</a:t>
            </a:r>
            <a:endParaRPr lang="en-US" sz="800" dirty="0"/>
          </a:p>
        </p:txBody>
      </p:sp>
      <p:pic>
        <p:nvPicPr>
          <p:cNvPr id="16" name="Image 0" descr="/mnt/data/4eb69549-bf0e-4771-94a3-d1c3a7ba52c2.png"/>
          <p:cNvPicPr>
            <a:picLocks noChangeAspect="1"/>
          </p:cNvPicPr>
          <p:nvPr/>
        </p:nvPicPr>
        <p:blipFill>
          <a:blip r:embed="rId3"/>
          <a:srcRect t="29233" b="29233"/>
          <a:stretch/>
        </p:blipFill>
        <p:spPr>
          <a:xfrm>
            <a:off x="5650992" y="1307592"/>
            <a:ext cx="5166360" cy="1207008"/>
          </a:xfrm>
          <a:prstGeom prst="rect">
            <a:avLst/>
          </a:prstGeom>
        </p:spPr>
      </p:pic>
      <p:sp>
        <p:nvSpPr>
          <p:cNvPr id="17" name="Shape 14"/>
          <p:cNvSpPr/>
          <p:nvPr/>
        </p:nvSpPr>
        <p:spPr>
          <a:xfrm>
            <a:off x="5852160" y="2542032"/>
            <a:ext cx="2148840" cy="27432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 sz="2400"/>
          </a:p>
        </p:txBody>
      </p:sp>
      <p:pic>
        <p:nvPicPr>
          <p:cNvPr id="18" name="Image 1" descr="/mnt/data/01c35b69-5534-46b0-9c22-ff9df9fad7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91258" y="2596896"/>
            <a:ext cx="1061499" cy="164592"/>
          </a:xfrm>
          <a:prstGeom prst="rect">
            <a:avLst/>
          </a:prstGeom>
        </p:spPr>
      </p:pic>
      <p:sp>
        <p:nvSpPr>
          <p:cNvPr id="19" name="Shape 15"/>
          <p:cNvSpPr/>
          <p:nvPr/>
        </p:nvSpPr>
        <p:spPr>
          <a:xfrm>
            <a:off x="5532120" y="2999232"/>
            <a:ext cx="5440680" cy="17373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 sz="2400"/>
          </a:p>
        </p:txBody>
      </p:sp>
      <p:sp>
        <p:nvSpPr>
          <p:cNvPr id="20" name="Text 16"/>
          <p:cNvSpPr/>
          <p:nvPr/>
        </p:nvSpPr>
        <p:spPr>
          <a:xfrm>
            <a:off x="5797296" y="3246120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FF7328"/>
                </a:solidFill>
              </a:rPr>
              <a:t>DADOS DE ENQUADRAMENTO</a:t>
            </a:r>
            <a:endParaRPr lang="en-US" sz="900" dirty="0"/>
          </a:p>
        </p:txBody>
      </p:sp>
      <p:sp>
        <p:nvSpPr>
          <p:cNvPr id="21" name="Text 17"/>
          <p:cNvSpPr/>
          <p:nvPr/>
        </p:nvSpPr>
        <p:spPr>
          <a:xfrm>
            <a:off x="5797296" y="3529584"/>
            <a:ext cx="135331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7D8B99"/>
                </a:solidFill>
              </a:rPr>
              <a:t>Localização</a:t>
            </a:r>
            <a:endParaRPr lang="en-US" sz="900" dirty="0"/>
          </a:p>
        </p:txBody>
      </p:sp>
      <p:sp>
        <p:nvSpPr>
          <p:cNvPr id="22" name="Text 18"/>
          <p:cNvSpPr/>
          <p:nvPr/>
        </p:nvSpPr>
        <p:spPr>
          <a:xfrm>
            <a:off x="7059168" y="3520440"/>
            <a:ext cx="19385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940" dirty="0">
                <a:solidFill>
                  <a:srgbClr val="253449"/>
                </a:solidFill>
              </a:rPr>
              <a:t>Av. João do Prado, 300 — Capuava, Santo André/SP</a:t>
            </a:r>
            <a:endParaRPr lang="en-US" sz="700" dirty="0"/>
          </a:p>
        </p:txBody>
      </p:sp>
      <p:sp>
        <p:nvSpPr>
          <p:cNvPr id="23" name="Text 19"/>
          <p:cNvSpPr/>
          <p:nvPr/>
        </p:nvSpPr>
        <p:spPr>
          <a:xfrm>
            <a:off x="5797296" y="3803904"/>
            <a:ext cx="135331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7D8B99"/>
                </a:solidFill>
              </a:rPr>
              <a:t>Subsetor</a:t>
            </a:r>
            <a:endParaRPr lang="en-US" sz="900" dirty="0"/>
          </a:p>
        </p:txBody>
      </p:sp>
      <p:sp>
        <p:nvSpPr>
          <p:cNvPr id="24" name="Text 20"/>
          <p:cNvSpPr/>
          <p:nvPr/>
        </p:nvSpPr>
        <p:spPr>
          <a:xfrm>
            <a:off x="7059168" y="3794760"/>
            <a:ext cx="19385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940" dirty="0">
                <a:solidFill>
                  <a:srgbClr val="253449"/>
                </a:solidFill>
              </a:rPr>
              <a:t>Química de limpeza profissional</a:t>
            </a:r>
            <a:endParaRPr lang="en-US" sz="700" dirty="0"/>
          </a:p>
        </p:txBody>
      </p:sp>
      <p:sp>
        <p:nvSpPr>
          <p:cNvPr id="25" name="Text 21"/>
          <p:cNvSpPr/>
          <p:nvPr/>
        </p:nvSpPr>
        <p:spPr>
          <a:xfrm>
            <a:off x="5797296" y="4078224"/>
            <a:ext cx="135331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7D8B99"/>
                </a:solidFill>
              </a:rPr>
              <a:t>Segmento</a:t>
            </a:r>
            <a:endParaRPr lang="en-US" sz="900" dirty="0"/>
          </a:p>
        </p:txBody>
      </p:sp>
      <p:sp>
        <p:nvSpPr>
          <p:cNvPr id="26" name="Text 22"/>
          <p:cNvSpPr/>
          <p:nvPr/>
        </p:nvSpPr>
        <p:spPr>
          <a:xfrm>
            <a:off x="7059168" y="4069080"/>
            <a:ext cx="19385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940" dirty="0">
                <a:solidFill>
                  <a:srgbClr val="253449"/>
                </a:solidFill>
              </a:rPr>
              <a:t>Produtos e utensílios para higiene e limpeza</a:t>
            </a:r>
            <a:endParaRPr lang="en-US" sz="700" dirty="0"/>
          </a:p>
        </p:txBody>
      </p:sp>
      <p:sp>
        <p:nvSpPr>
          <p:cNvPr id="29" name="Text 25"/>
          <p:cNvSpPr/>
          <p:nvPr/>
        </p:nvSpPr>
        <p:spPr>
          <a:xfrm>
            <a:off x="9098280" y="3529584"/>
            <a:ext cx="9601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7D8B99"/>
                </a:solidFill>
              </a:rPr>
              <a:t>MRR</a:t>
            </a:r>
            <a:endParaRPr lang="en-US" sz="900" dirty="0"/>
          </a:p>
        </p:txBody>
      </p:sp>
      <p:sp>
        <p:nvSpPr>
          <p:cNvPr id="30" name="Text 26"/>
          <p:cNvSpPr/>
          <p:nvPr/>
        </p:nvSpPr>
        <p:spPr>
          <a:xfrm>
            <a:off x="10131552" y="3520440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30" dirty="0">
                <a:solidFill>
                  <a:srgbClr val="253449"/>
                </a:solidFill>
              </a:rPr>
              <a:t>R$ 12.796,44</a:t>
            </a:r>
            <a:endParaRPr lang="en-US" sz="700" dirty="0"/>
          </a:p>
        </p:txBody>
      </p:sp>
      <p:sp>
        <p:nvSpPr>
          <p:cNvPr id="31" name="Text 27"/>
          <p:cNvSpPr/>
          <p:nvPr/>
        </p:nvSpPr>
        <p:spPr>
          <a:xfrm>
            <a:off x="9098280" y="3803904"/>
            <a:ext cx="9601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7D8B99"/>
                </a:solidFill>
              </a:rPr>
              <a:t>Curva / Valor</a:t>
            </a:r>
            <a:endParaRPr lang="en-US" sz="900" dirty="0"/>
          </a:p>
        </p:txBody>
      </p:sp>
      <p:sp>
        <p:nvSpPr>
          <p:cNvPr id="32" name="Text 28"/>
          <p:cNvSpPr/>
          <p:nvPr/>
        </p:nvSpPr>
        <p:spPr>
          <a:xfrm>
            <a:off x="10131552" y="3794760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30" dirty="0">
                <a:solidFill>
                  <a:srgbClr val="253449"/>
                </a:solidFill>
              </a:rPr>
              <a:t>Curva B • Médio</a:t>
            </a:r>
            <a:endParaRPr lang="en-US" sz="700" dirty="0"/>
          </a:p>
        </p:txBody>
      </p:sp>
      <p:sp>
        <p:nvSpPr>
          <p:cNvPr id="33" name="Text 29"/>
          <p:cNvSpPr/>
          <p:nvPr/>
        </p:nvSpPr>
        <p:spPr>
          <a:xfrm>
            <a:off x="9098280" y="4078224"/>
            <a:ext cx="9601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7D8B99"/>
                </a:solidFill>
              </a:rPr>
              <a:t>Estratégia</a:t>
            </a:r>
            <a:endParaRPr lang="en-US" sz="900" dirty="0"/>
          </a:p>
        </p:txBody>
      </p:sp>
      <p:sp>
        <p:nvSpPr>
          <p:cNvPr id="34" name="Text 30"/>
          <p:cNvSpPr/>
          <p:nvPr/>
        </p:nvSpPr>
        <p:spPr>
          <a:xfrm>
            <a:off x="10131552" y="4069080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930" dirty="0">
                <a:solidFill>
                  <a:srgbClr val="253449"/>
                </a:solidFill>
              </a:rPr>
              <a:t>Blindar e Rentabilizar</a:t>
            </a:r>
            <a:endParaRPr lang="en-US" sz="700" dirty="0"/>
          </a:p>
        </p:txBody>
      </p:sp>
      <p:sp>
        <p:nvSpPr>
          <p:cNvPr id="35" name="Shape 31"/>
          <p:cNvSpPr/>
          <p:nvPr/>
        </p:nvSpPr>
        <p:spPr>
          <a:xfrm>
            <a:off x="685800" y="4864607"/>
            <a:ext cx="10287000" cy="713232"/>
          </a:xfrm>
          <a:prstGeom prst="roundRect">
            <a:avLst>
              <a:gd name="adj" fmla="val 15000"/>
            </a:avLst>
          </a:prstGeom>
          <a:solidFill>
            <a:srgbClr val="FF732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 sz="2400"/>
          </a:p>
        </p:txBody>
      </p:sp>
      <p:sp>
        <p:nvSpPr>
          <p:cNvPr id="36" name="Text 32"/>
          <p:cNvSpPr/>
          <p:nvPr/>
        </p:nvSpPr>
        <p:spPr>
          <a:xfrm>
            <a:off x="896112" y="5070092"/>
            <a:ext cx="2148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</a:rPr>
              <a:t>Por que é case da Unidade?</a:t>
            </a:r>
            <a:endParaRPr lang="en-US" sz="900" dirty="0"/>
          </a:p>
        </p:txBody>
      </p:sp>
      <p:sp>
        <p:nvSpPr>
          <p:cNvPr id="37" name="Text 33"/>
          <p:cNvSpPr/>
          <p:nvPr/>
        </p:nvSpPr>
        <p:spPr>
          <a:xfrm>
            <a:off x="3090672" y="4951220"/>
            <a:ext cx="7452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060" b="1" dirty="0">
                <a:solidFill>
                  <a:srgbClr val="FFFFFF"/>
                </a:solidFill>
              </a:rPr>
              <a:t>A Proauto vende eficiência operacional, não apenas produto químico. A narrativa conecta alto rendimento, diluição, controle de insumos, treinamento e indicadores para mostrar ganho real em contratos de facilities e limpeza profissional.</a:t>
            </a:r>
            <a:endParaRPr lang="en-US" sz="800" dirty="0"/>
          </a:p>
        </p:txBody>
      </p:sp>
      <p:sp>
        <p:nvSpPr>
          <p:cNvPr id="39" name="Text 35"/>
          <p:cNvSpPr/>
          <p:nvPr/>
        </p:nvSpPr>
        <p:spPr>
          <a:xfrm>
            <a:off x="5486400" y="5650992"/>
            <a:ext cx="5349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30" dirty="0">
                <a:solidFill>
                  <a:srgbClr val="E4EAF1"/>
                </a:solidFill>
              </a:rPr>
              <a:t>Fonte: Segmentação de Parceiros Sankhya + informações institucionais fornecidas.</a:t>
            </a:r>
            <a:endParaRPr lang="en-US" sz="700" dirty="0"/>
          </a:p>
        </p:txBody>
      </p:sp>
      <p:sp>
        <p:nvSpPr>
          <p:cNvPr id="41" name="Text 36"/>
          <p:cNvSpPr/>
          <p:nvPr/>
        </p:nvSpPr>
        <p:spPr>
          <a:xfrm>
            <a:off x="8732520" y="6172200"/>
            <a:ext cx="2788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FFFFFF">
                    <a:alpha val="88000"/>
                  </a:srgbClr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Cases Unidade • Sankhya ABC Paulista • 9/13</a:t>
            </a:r>
            <a:endParaRPr lang="en-US" sz="800" dirty="0"/>
          </a:p>
        </p:txBody>
      </p:sp>
      <p:pic>
        <p:nvPicPr>
          <p:cNvPr id="43" name="Imagem 42">
            <a:extLst>
              <a:ext uri="{FF2B5EF4-FFF2-40B4-BE49-F238E27FC236}">
                <a16:creationId xmlns:a16="http://schemas.microsoft.com/office/drawing/2014/main" id="{3F70C0A4-1D3B-ABEF-CBDC-35676AA9EAA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5477255"/>
            <a:ext cx="2476500" cy="1901441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E415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5669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7D4294"/>
                </a:solidFill>
              </a:rPr>
              <a:t>&gt;&gt;&gt;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1238250" y="229109"/>
            <a:ext cx="6583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3200" b="1" dirty="0">
                <a:solidFill>
                  <a:srgbClr val="7D4294"/>
                </a:solidFill>
              </a:rPr>
              <a:t>NUNO / HIDRABELL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238250" y="750062"/>
            <a:ext cx="56692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20000"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Nuno — Indústria de Cosméticos EIRELI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85800" y="1298448"/>
            <a:ext cx="1554480" cy="329184"/>
          </a:xfrm>
          <a:prstGeom prst="roundRect">
            <a:avLst>
              <a:gd name="adj" fmla="val 22222"/>
            </a:avLst>
          </a:prstGeom>
          <a:solidFill>
            <a:srgbClr val="7D4294"/>
          </a:solidFill>
          <a:ln w="12700">
            <a:solidFill>
              <a:srgbClr val="7D429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 sz="2400"/>
          </a:p>
        </p:txBody>
      </p:sp>
      <p:sp>
        <p:nvSpPr>
          <p:cNvPr id="6" name="Text 4"/>
          <p:cNvSpPr/>
          <p:nvPr/>
        </p:nvSpPr>
        <p:spPr>
          <a:xfrm>
            <a:off x="685800" y="1385316"/>
            <a:ext cx="1554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</a:rPr>
              <a:t>CASE DA UNIDADE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359152" y="1298448"/>
            <a:ext cx="1005840" cy="329184"/>
          </a:xfrm>
          <a:prstGeom prst="roundRect">
            <a:avLst>
              <a:gd name="adj" fmla="val 22222"/>
            </a:avLst>
          </a:prstGeom>
          <a:solidFill>
            <a:srgbClr val="16283D"/>
          </a:solidFill>
          <a:ln w="12700">
            <a:solidFill>
              <a:srgbClr val="16283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 sz="2400"/>
          </a:p>
        </p:txBody>
      </p:sp>
      <p:sp>
        <p:nvSpPr>
          <p:cNvPr id="8" name="Text 6"/>
          <p:cNvSpPr/>
          <p:nvPr/>
        </p:nvSpPr>
        <p:spPr>
          <a:xfrm>
            <a:off x="2359152" y="1385316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</a:rPr>
              <a:t>Growth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93008" y="1298448"/>
            <a:ext cx="1005840" cy="329184"/>
          </a:xfrm>
          <a:prstGeom prst="roundRect">
            <a:avLst>
              <a:gd name="adj" fmla="val 22222"/>
            </a:avLst>
          </a:prstGeom>
          <a:solidFill>
            <a:srgbClr val="16283D"/>
          </a:solidFill>
          <a:ln w="12700">
            <a:solidFill>
              <a:srgbClr val="16283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 sz="2400"/>
          </a:p>
        </p:txBody>
      </p:sp>
      <p:sp>
        <p:nvSpPr>
          <p:cNvPr id="10" name="Text 8"/>
          <p:cNvSpPr/>
          <p:nvPr/>
        </p:nvSpPr>
        <p:spPr>
          <a:xfrm>
            <a:off x="3493008" y="1385316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</a:rPr>
              <a:t>Indústria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85800" y="1792224"/>
            <a:ext cx="4572000" cy="2514600"/>
          </a:xfrm>
          <a:prstGeom prst="roundRect">
            <a:avLst>
              <a:gd name="adj" fmla="val 4364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 sz="2400"/>
          </a:p>
        </p:txBody>
      </p:sp>
      <p:sp>
        <p:nvSpPr>
          <p:cNvPr id="12" name="Text 10"/>
          <p:cNvSpPr/>
          <p:nvPr/>
        </p:nvSpPr>
        <p:spPr>
          <a:xfrm>
            <a:off x="896112" y="2057400"/>
            <a:ext cx="320040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7D4294"/>
                </a:solidFill>
              </a:rPr>
              <a:t>LEITURA DO CASE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896112" y="2395728"/>
            <a:ext cx="39776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253449"/>
                </a:solidFill>
              </a:rPr>
              <a:t>Indústria de cosméticos com portfólio capilar, corporal, facial e multicanal.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896112" y="2999232"/>
            <a:ext cx="182880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253449"/>
                </a:solidFill>
              </a:rPr>
              <a:t>Segmento / linhas de valor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932688" y="3273552"/>
            <a:ext cx="411480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20" b="1" dirty="0">
                <a:solidFill>
                  <a:srgbClr val="7D42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020" dirty="0">
                <a:solidFill>
                  <a:srgbClr val="25344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Tratamentos capilares para crescimento, queda e hidratação
</a:t>
            </a:r>
            <a:r>
              <a:rPr lang="en-US" sz="1020" b="1" dirty="0">
                <a:solidFill>
                  <a:srgbClr val="7D42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020" dirty="0">
                <a:solidFill>
                  <a:srgbClr val="25344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Shampoo, condicionador, máscaras e queratina
</a:t>
            </a:r>
            <a:r>
              <a:rPr lang="en-US" sz="1020" b="1" dirty="0">
                <a:solidFill>
                  <a:srgbClr val="7D42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020" dirty="0">
                <a:solidFill>
                  <a:srgbClr val="25344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Body splash, cremes corporais e hidratantes faciais
</a:t>
            </a:r>
            <a:r>
              <a:rPr lang="en-US" sz="1020" b="1" dirty="0">
                <a:solidFill>
                  <a:srgbClr val="7D42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020" dirty="0">
                <a:solidFill>
                  <a:srgbClr val="25344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Marca com atuação há mais de três décadas no cuidado capilar
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5532120" y="1261872"/>
            <a:ext cx="5422392" cy="1627632"/>
          </a:xfrm>
          <a:prstGeom prst="roundRect">
            <a:avLst>
              <a:gd name="adj" fmla="val 6742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 sz="2400"/>
          </a:p>
        </p:txBody>
      </p:sp>
      <p:pic>
        <p:nvPicPr>
          <p:cNvPr id="17" name="Image 0" descr="/mnt/data/hidrabell_produt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14032" y="1372109"/>
            <a:ext cx="1353312" cy="1353312"/>
          </a:xfrm>
          <a:prstGeom prst="rect">
            <a:avLst/>
          </a:prstGeom>
        </p:spPr>
      </p:pic>
      <p:sp>
        <p:nvSpPr>
          <p:cNvPr id="18" name="Shape 15"/>
          <p:cNvSpPr/>
          <p:nvPr/>
        </p:nvSpPr>
        <p:spPr>
          <a:xfrm>
            <a:off x="5532120" y="2999232"/>
            <a:ext cx="5440680" cy="17373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 sz="2400"/>
          </a:p>
        </p:txBody>
      </p:sp>
      <p:sp>
        <p:nvSpPr>
          <p:cNvPr id="19" name="Text 16"/>
          <p:cNvSpPr/>
          <p:nvPr/>
        </p:nvSpPr>
        <p:spPr>
          <a:xfrm>
            <a:off x="5797296" y="3246120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7D4294"/>
                </a:solidFill>
              </a:rPr>
              <a:t>DADOS DE ENQUADRAMENTO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5797296" y="3529584"/>
            <a:ext cx="135331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7D8B99"/>
                </a:solidFill>
              </a:rPr>
              <a:t>Localização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7059168" y="3520440"/>
            <a:ext cx="19385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940" dirty="0">
                <a:solidFill>
                  <a:srgbClr val="253449"/>
                </a:solidFill>
              </a:rPr>
              <a:t>Estr. dos Fidélis, 63 — Jardim Iguatemi, São Paulo/SP</a:t>
            </a:r>
            <a:endParaRPr lang="en-US" sz="700" dirty="0"/>
          </a:p>
        </p:txBody>
      </p:sp>
      <p:sp>
        <p:nvSpPr>
          <p:cNvPr id="22" name="Text 19"/>
          <p:cNvSpPr/>
          <p:nvPr/>
        </p:nvSpPr>
        <p:spPr>
          <a:xfrm>
            <a:off x="5797296" y="3803904"/>
            <a:ext cx="135331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7D8B99"/>
                </a:solidFill>
              </a:rPr>
              <a:t>Subsetor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7059168" y="3794760"/>
            <a:ext cx="19385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940" dirty="0">
                <a:solidFill>
                  <a:srgbClr val="253449"/>
                </a:solidFill>
              </a:rPr>
              <a:t>Cosméticos e beleza</a:t>
            </a:r>
            <a:endParaRPr lang="en-US" sz="700" dirty="0"/>
          </a:p>
        </p:txBody>
      </p:sp>
      <p:sp>
        <p:nvSpPr>
          <p:cNvPr id="24" name="Text 21"/>
          <p:cNvSpPr/>
          <p:nvPr/>
        </p:nvSpPr>
        <p:spPr>
          <a:xfrm>
            <a:off x="5797296" y="4078224"/>
            <a:ext cx="135331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7D8B99"/>
                </a:solidFill>
              </a:rPr>
              <a:t>Segmento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7059168" y="4069080"/>
            <a:ext cx="19385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940" dirty="0">
                <a:solidFill>
                  <a:srgbClr val="253449"/>
                </a:solidFill>
              </a:rPr>
              <a:t>Cosméticos / perfumes, linha capilar, corporal e facial</a:t>
            </a:r>
            <a:endParaRPr lang="en-US" sz="700" dirty="0"/>
          </a:p>
        </p:txBody>
      </p:sp>
      <p:sp>
        <p:nvSpPr>
          <p:cNvPr id="28" name="Text 25"/>
          <p:cNvSpPr/>
          <p:nvPr/>
        </p:nvSpPr>
        <p:spPr>
          <a:xfrm>
            <a:off x="9098280" y="3529584"/>
            <a:ext cx="9601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7D8B99"/>
                </a:solidFill>
              </a:rPr>
              <a:t>MRR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10131552" y="3520440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30" dirty="0">
                <a:solidFill>
                  <a:srgbClr val="253449"/>
                </a:solidFill>
              </a:rPr>
              <a:t>R$ 8.488,48</a:t>
            </a:r>
            <a:endParaRPr lang="en-US" sz="700" dirty="0"/>
          </a:p>
        </p:txBody>
      </p:sp>
      <p:sp>
        <p:nvSpPr>
          <p:cNvPr id="30" name="Text 27"/>
          <p:cNvSpPr/>
          <p:nvPr/>
        </p:nvSpPr>
        <p:spPr>
          <a:xfrm>
            <a:off x="9098280" y="3803904"/>
            <a:ext cx="9601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7D8B99"/>
                </a:solidFill>
              </a:rPr>
              <a:t>Curva / Valor</a:t>
            </a:r>
            <a:endParaRPr lang="en-US" sz="900" dirty="0"/>
          </a:p>
        </p:txBody>
      </p:sp>
      <p:sp>
        <p:nvSpPr>
          <p:cNvPr id="31" name="Text 28"/>
          <p:cNvSpPr/>
          <p:nvPr/>
        </p:nvSpPr>
        <p:spPr>
          <a:xfrm>
            <a:off x="10131552" y="3794760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30" dirty="0">
                <a:solidFill>
                  <a:srgbClr val="253449"/>
                </a:solidFill>
              </a:rPr>
              <a:t>Curva C • Baixo</a:t>
            </a:r>
            <a:endParaRPr lang="en-US" sz="700" dirty="0"/>
          </a:p>
        </p:txBody>
      </p:sp>
      <p:sp>
        <p:nvSpPr>
          <p:cNvPr id="32" name="Text 29"/>
          <p:cNvSpPr/>
          <p:nvPr/>
        </p:nvSpPr>
        <p:spPr>
          <a:xfrm>
            <a:off x="9098280" y="4078224"/>
            <a:ext cx="9601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7D8B99"/>
                </a:solidFill>
              </a:rPr>
              <a:t>Estratégia</a:t>
            </a:r>
            <a:endParaRPr lang="en-US" sz="900" dirty="0"/>
          </a:p>
        </p:txBody>
      </p:sp>
      <p:sp>
        <p:nvSpPr>
          <p:cNvPr id="33" name="Text 30"/>
          <p:cNvSpPr/>
          <p:nvPr/>
        </p:nvSpPr>
        <p:spPr>
          <a:xfrm>
            <a:off x="10131552" y="4069080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30" dirty="0">
                <a:solidFill>
                  <a:srgbClr val="253449"/>
                </a:solidFill>
              </a:rPr>
              <a:t>Manter</a:t>
            </a:r>
            <a:endParaRPr lang="en-US" sz="700" dirty="0"/>
          </a:p>
        </p:txBody>
      </p:sp>
      <p:sp>
        <p:nvSpPr>
          <p:cNvPr id="34" name="Shape 31"/>
          <p:cNvSpPr/>
          <p:nvPr/>
        </p:nvSpPr>
        <p:spPr>
          <a:xfrm>
            <a:off x="685800" y="4828032"/>
            <a:ext cx="10287000" cy="713232"/>
          </a:xfrm>
          <a:prstGeom prst="roundRect">
            <a:avLst>
              <a:gd name="adj" fmla="val 15000"/>
            </a:avLst>
          </a:prstGeom>
          <a:solidFill>
            <a:srgbClr val="7D429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 sz="2400"/>
          </a:p>
        </p:txBody>
      </p:sp>
      <p:sp>
        <p:nvSpPr>
          <p:cNvPr id="35" name="Text 32"/>
          <p:cNvSpPr/>
          <p:nvPr/>
        </p:nvSpPr>
        <p:spPr>
          <a:xfrm>
            <a:off x="932688" y="5070092"/>
            <a:ext cx="2148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</a:rPr>
              <a:t>Por que é case da Unidade?</a:t>
            </a:r>
            <a:endParaRPr lang="en-US" sz="900" dirty="0"/>
          </a:p>
        </p:txBody>
      </p:sp>
      <p:sp>
        <p:nvSpPr>
          <p:cNvPr id="36" name="Text 33"/>
          <p:cNvSpPr/>
          <p:nvPr/>
        </p:nvSpPr>
        <p:spPr>
          <a:xfrm>
            <a:off x="3090672" y="4951220"/>
            <a:ext cx="7452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060" b="1" dirty="0">
                <a:solidFill>
                  <a:srgbClr val="FFFFFF"/>
                </a:solidFill>
              </a:rPr>
              <a:t>A Hidrabell tem apelo de marca, variedade de portfólio e operação multicanal. O case pode mostrar gestão de produtos, estoque, canais comerciais e governança industrial em uma cadeia de beleza com alta recorrência.</a:t>
            </a:r>
            <a:endParaRPr lang="en-US" sz="800" dirty="0"/>
          </a:p>
        </p:txBody>
      </p:sp>
      <p:sp>
        <p:nvSpPr>
          <p:cNvPr id="38" name="Text 35"/>
          <p:cNvSpPr/>
          <p:nvPr/>
        </p:nvSpPr>
        <p:spPr>
          <a:xfrm>
            <a:off x="5486400" y="5650992"/>
            <a:ext cx="5349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30" dirty="0">
                <a:solidFill>
                  <a:srgbClr val="E4EAF1"/>
                </a:solidFill>
              </a:rPr>
              <a:t>Fonte: Segmentação de Parceiros Sankhya + informações institucionais fornecidas.</a:t>
            </a:r>
            <a:endParaRPr lang="en-US" sz="700" dirty="0"/>
          </a:p>
        </p:txBody>
      </p:sp>
      <p:sp>
        <p:nvSpPr>
          <p:cNvPr id="40" name="Text 36"/>
          <p:cNvSpPr/>
          <p:nvPr/>
        </p:nvSpPr>
        <p:spPr>
          <a:xfrm>
            <a:off x="8732520" y="6172200"/>
            <a:ext cx="2788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FFFFFF">
                    <a:alpha val="88000"/>
                  </a:srgbClr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Cases Unidade • Sankhya ABC Paulista • 10/13</a:t>
            </a:r>
            <a:endParaRPr lang="en-US" sz="800" dirty="0"/>
          </a:p>
        </p:txBody>
      </p:sp>
      <p:pic>
        <p:nvPicPr>
          <p:cNvPr id="42" name="Imagem 41">
            <a:extLst>
              <a:ext uri="{FF2B5EF4-FFF2-40B4-BE49-F238E27FC236}">
                <a16:creationId xmlns:a16="http://schemas.microsoft.com/office/drawing/2014/main" id="{354C9DD9-5A38-8D1D-209B-5E2909EF07D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5477255"/>
            <a:ext cx="2476500" cy="1901441"/>
          </a:xfrm>
          <a:prstGeom prst="rect">
            <a:avLst/>
          </a:prstGeom>
        </p:spPr>
      </p:pic>
      <p:pic>
        <p:nvPicPr>
          <p:cNvPr id="41" name="Imagem 40">
            <a:extLst>
              <a:ext uri="{FF2B5EF4-FFF2-40B4-BE49-F238E27FC236}">
                <a16:creationId xmlns:a16="http://schemas.microsoft.com/office/drawing/2014/main" id="{6A8DB829-E26E-DA75-BFD3-A071DA8C388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71656" y="1399031"/>
            <a:ext cx="1287512" cy="1363249"/>
          </a:xfrm>
          <a:prstGeom prst="rect">
            <a:avLst/>
          </a:prstGeom>
        </p:spPr>
      </p:pic>
      <p:pic>
        <p:nvPicPr>
          <p:cNvPr id="44" name="Imagem 43">
            <a:extLst>
              <a:ext uri="{FF2B5EF4-FFF2-40B4-BE49-F238E27FC236}">
                <a16:creationId xmlns:a16="http://schemas.microsoft.com/office/drawing/2014/main" id="{A40612CF-36CF-8DAD-331C-0AD67DB1CC1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67344" y="1399644"/>
            <a:ext cx="1865376" cy="1266544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2E415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5669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7D4294"/>
                </a:solidFill>
              </a:rPr>
              <a:t>&gt;&gt;&gt;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1234440" y="210312"/>
            <a:ext cx="6583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3200" b="1" dirty="0">
                <a:solidFill>
                  <a:srgbClr val="7D4294"/>
                </a:solidFill>
              </a:rPr>
              <a:t>UREPOL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234440" y="736092"/>
            <a:ext cx="56692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20000"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Urepol Polímeros LTDA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85800" y="1298448"/>
            <a:ext cx="1554480" cy="329184"/>
          </a:xfrm>
          <a:prstGeom prst="roundRect">
            <a:avLst>
              <a:gd name="adj" fmla="val 22222"/>
            </a:avLst>
          </a:prstGeom>
          <a:solidFill>
            <a:srgbClr val="7D4294"/>
          </a:solidFill>
          <a:ln w="12700">
            <a:solidFill>
              <a:srgbClr val="7D429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 sz="2400"/>
          </a:p>
        </p:txBody>
      </p:sp>
      <p:sp>
        <p:nvSpPr>
          <p:cNvPr id="6" name="Text 4"/>
          <p:cNvSpPr/>
          <p:nvPr/>
        </p:nvSpPr>
        <p:spPr>
          <a:xfrm>
            <a:off x="685800" y="1385316"/>
            <a:ext cx="1554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</a:rPr>
              <a:t>CASE DA UNIDADE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359152" y="1298448"/>
            <a:ext cx="1005840" cy="329184"/>
          </a:xfrm>
          <a:prstGeom prst="roundRect">
            <a:avLst>
              <a:gd name="adj" fmla="val 22222"/>
            </a:avLst>
          </a:prstGeom>
          <a:solidFill>
            <a:srgbClr val="16283D"/>
          </a:solidFill>
          <a:ln w="12700">
            <a:solidFill>
              <a:srgbClr val="16283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 sz="2400"/>
          </a:p>
        </p:txBody>
      </p:sp>
      <p:sp>
        <p:nvSpPr>
          <p:cNvPr id="8" name="Text 6"/>
          <p:cNvSpPr/>
          <p:nvPr/>
        </p:nvSpPr>
        <p:spPr>
          <a:xfrm>
            <a:off x="2359152" y="1385316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</a:rPr>
              <a:t>Growth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93008" y="1298448"/>
            <a:ext cx="1005840" cy="329184"/>
          </a:xfrm>
          <a:prstGeom prst="roundRect">
            <a:avLst>
              <a:gd name="adj" fmla="val 22222"/>
            </a:avLst>
          </a:prstGeom>
          <a:solidFill>
            <a:srgbClr val="16283D"/>
          </a:solidFill>
          <a:ln w="12700">
            <a:solidFill>
              <a:srgbClr val="16283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 sz="2400"/>
          </a:p>
        </p:txBody>
      </p:sp>
      <p:sp>
        <p:nvSpPr>
          <p:cNvPr id="10" name="Text 8"/>
          <p:cNvSpPr/>
          <p:nvPr/>
        </p:nvSpPr>
        <p:spPr>
          <a:xfrm>
            <a:off x="3493008" y="1385316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</a:rPr>
              <a:t>Indústria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85800" y="1792224"/>
            <a:ext cx="4572000" cy="2514600"/>
          </a:xfrm>
          <a:prstGeom prst="roundRect">
            <a:avLst>
              <a:gd name="adj" fmla="val 4364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 sz="2400"/>
          </a:p>
        </p:txBody>
      </p:sp>
      <p:sp>
        <p:nvSpPr>
          <p:cNvPr id="12" name="Text 10"/>
          <p:cNvSpPr/>
          <p:nvPr/>
        </p:nvSpPr>
        <p:spPr>
          <a:xfrm>
            <a:off x="896112" y="2057400"/>
            <a:ext cx="320040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7D4294"/>
                </a:solidFill>
              </a:rPr>
              <a:t>LEITURA DO CASE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896112" y="2395728"/>
            <a:ext cx="39776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253449"/>
                </a:solidFill>
              </a:rPr>
              <a:t>Indústria de polímeros aplicada a componentes automotivos e soluções em poliuretano.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896112" y="2999232"/>
            <a:ext cx="182880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253449"/>
                </a:solidFill>
              </a:rPr>
              <a:t>Segmento / linhas de valor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932688" y="3273552"/>
            <a:ext cx="411480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20" b="1" dirty="0">
                <a:solidFill>
                  <a:srgbClr val="7D42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020" dirty="0">
                <a:solidFill>
                  <a:srgbClr val="25344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Suspensões automotivas e cabine
</a:t>
            </a:r>
            <a:r>
              <a:rPr lang="en-US" sz="1020" b="1" dirty="0">
                <a:solidFill>
                  <a:srgbClr val="7D42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020" dirty="0">
                <a:solidFill>
                  <a:srgbClr val="25344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Buchas, coxins, suportes e molas auxiliares
</a:t>
            </a:r>
            <a:r>
              <a:rPr lang="en-US" sz="1020" b="1" dirty="0">
                <a:solidFill>
                  <a:srgbClr val="7D42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020" dirty="0">
                <a:solidFill>
                  <a:srgbClr val="25344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Bolsas de ar, amortecedores e vibration dampers
</a:t>
            </a:r>
            <a:r>
              <a:rPr lang="en-US" sz="1020" b="1" dirty="0">
                <a:solidFill>
                  <a:srgbClr val="7D42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020" dirty="0">
                <a:solidFill>
                  <a:srgbClr val="25344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Peças em poliuretano microcelular e projetos especiais
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5532120" y="1261872"/>
            <a:ext cx="5422392" cy="1627632"/>
          </a:xfrm>
          <a:prstGeom prst="roundRect">
            <a:avLst>
              <a:gd name="adj" fmla="val 6742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 sz="2400"/>
          </a:p>
        </p:txBody>
      </p:sp>
      <p:pic>
        <p:nvPicPr>
          <p:cNvPr id="17" name="Image 0" descr="/mnt/data/cda37f44-f028-408b-8c22-112cb6c9d63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98710" y="1399032"/>
            <a:ext cx="1550483" cy="1353312"/>
          </a:xfrm>
          <a:prstGeom prst="rect">
            <a:avLst/>
          </a:prstGeom>
        </p:spPr>
      </p:pic>
      <p:sp>
        <p:nvSpPr>
          <p:cNvPr id="18" name="Shape 15"/>
          <p:cNvSpPr/>
          <p:nvPr/>
        </p:nvSpPr>
        <p:spPr>
          <a:xfrm>
            <a:off x="5532120" y="2999232"/>
            <a:ext cx="5440680" cy="17373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 sz="2400"/>
          </a:p>
        </p:txBody>
      </p:sp>
      <p:sp>
        <p:nvSpPr>
          <p:cNvPr id="19" name="Text 16"/>
          <p:cNvSpPr/>
          <p:nvPr/>
        </p:nvSpPr>
        <p:spPr>
          <a:xfrm>
            <a:off x="5797296" y="3246120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7D4294"/>
                </a:solidFill>
              </a:rPr>
              <a:t>DADOS DE ENQUADRAMENTO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5797296" y="3529584"/>
            <a:ext cx="135331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7D8B99"/>
                </a:solidFill>
              </a:rPr>
              <a:t>Localização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7059168" y="3520440"/>
            <a:ext cx="19385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940" dirty="0">
                <a:solidFill>
                  <a:srgbClr val="253449"/>
                </a:solidFill>
              </a:rPr>
              <a:t>R. Luís Vaz de Camões, 98 — Jardim Cumbica, Guarulhos/SP</a:t>
            </a:r>
            <a:endParaRPr lang="en-US" sz="700" dirty="0"/>
          </a:p>
        </p:txBody>
      </p:sp>
      <p:sp>
        <p:nvSpPr>
          <p:cNvPr id="22" name="Text 19"/>
          <p:cNvSpPr/>
          <p:nvPr/>
        </p:nvSpPr>
        <p:spPr>
          <a:xfrm>
            <a:off x="5797296" y="3803904"/>
            <a:ext cx="135331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7D8B99"/>
                </a:solidFill>
              </a:rPr>
              <a:t>Subsetor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7059168" y="3794760"/>
            <a:ext cx="19385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940" dirty="0">
                <a:solidFill>
                  <a:srgbClr val="253449"/>
                </a:solidFill>
              </a:rPr>
              <a:t>Autopeças / polímeros</a:t>
            </a:r>
            <a:endParaRPr lang="en-US" sz="700" dirty="0"/>
          </a:p>
        </p:txBody>
      </p:sp>
      <p:sp>
        <p:nvSpPr>
          <p:cNvPr id="24" name="Text 21"/>
          <p:cNvSpPr/>
          <p:nvPr/>
        </p:nvSpPr>
        <p:spPr>
          <a:xfrm>
            <a:off x="5797296" y="4078224"/>
            <a:ext cx="135331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7D8B99"/>
                </a:solidFill>
              </a:rPr>
              <a:t>Segmento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7059168" y="4069080"/>
            <a:ext cx="19385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940" dirty="0">
                <a:solidFill>
                  <a:srgbClr val="253449"/>
                </a:solidFill>
              </a:rPr>
              <a:t>Peças automotivas em poliuretano, borracha técnica e suspensão</a:t>
            </a:r>
            <a:endParaRPr lang="en-US" sz="700" dirty="0"/>
          </a:p>
        </p:txBody>
      </p:sp>
      <p:sp>
        <p:nvSpPr>
          <p:cNvPr id="28" name="Text 25"/>
          <p:cNvSpPr/>
          <p:nvPr/>
        </p:nvSpPr>
        <p:spPr>
          <a:xfrm>
            <a:off x="9098280" y="3529584"/>
            <a:ext cx="9601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7D8B99"/>
                </a:solidFill>
              </a:rPr>
              <a:t>MRR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10131552" y="3520440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30" dirty="0">
                <a:solidFill>
                  <a:srgbClr val="253449"/>
                </a:solidFill>
              </a:rPr>
              <a:t>R$ 6.616,28</a:t>
            </a:r>
            <a:endParaRPr lang="en-US" sz="700" dirty="0"/>
          </a:p>
        </p:txBody>
      </p:sp>
      <p:sp>
        <p:nvSpPr>
          <p:cNvPr id="30" name="Text 27"/>
          <p:cNvSpPr/>
          <p:nvPr/>
        </p:nvSpPr>
        <p:spPr>
          <a:xfrm>
            <a:off x="9098280" y="3803904"/>
            <a:ext cx="9601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7D8B99"/>
                </a:solidFill>
              </a:rPr>
              <a:t>Curva / Valor</a:t>
            </a:r>
            <a:endParaRPr lang="en-US" sz="900" dirty="0"/>
          </a:p>
        </p:txBody>
      </p:sp>
      <p:sp>
        <p:nvSpPr>
          <p:cNvPr id="31" name="Text 28"/>
          <p:cNvSpPr/>
          <p:nvPr/>
        </p:nvSpPr>
        <p:spPr>
          <a:xfrm>
            <a:off x="10131552" y="3794760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30" dirty="0">
                <a:solidFill>
                  <a:srgbClr val="253449"/>
                </a:solidFill>
              </a:rPr>
              <a:t>Curva C • Baixo</a:t>
            </a:r>
            <a:endParaRPr lang="en-US" sz="700" dirty="0"/>
          </a:p>
        </p:txBody>
      </p:sp>
      <p:sp>
        <p:nvSpPr>
          <p:cNvPr id="32" name="Text 29"/>
          <p:cNvSpPr/>
          <p:nvPr/>
        </p:nvSpPr>
        <p:spPr>
          <a:xfrm>
            <a:off x="9098280" y="4078224"/>
            <a:ext cx="9601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7D8B99"/>
                </a:solidFill>
              </a:rPr>
              <a:t>Estratégia</a:t>
            </a:r>
            <a:endParaRPr lang="en-US" sz="900" dirty="0"/>
          </a:p>
        </p:txBody>
      </p:sp>
      <p:sp>
        <p:nvSpPr>
          <p:cNvPr id="33" name="Text 30"/>
          <p:cNvSpPr/>
          <p:nvPr/>
        </p:nvSpPr>
        <p:spPr>
          <a:xfrm>
            <a:off x="10131552" y="4069080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30" dirty="0">
                <a:solidFill>
                  <a:srgbClr val="253449"/>
                </a:solidFill>
              </a:rPr>
              <a:t>Manter</a:t>
            </a:r>
            <a:endParaRPr lang="en-US" sz="700" dirty="0"/>
          </a:p>
        </p:txBody>
      </p:sp>
      <p:sp>
        <p:nvSpPr>
          <p:cNvPr id="34" name="Shape 31"/>
          <p:cNvSpPr/>
          <p:nvPr/>
        </p:nvSpPr>
        <p:spPr>
          <a:xfrm>
            <a:off x="685800" y="4837176"/>
            <a:ext cx="10287000" cy="713232"/>
          </a:xfrm>
          <a:prstGeom prst="roundRect">
            <a:avLst>
              <a:gd name="adj" fmla="val 15000"/>
            </a:avLst>
          </a:prstGeom>
          <a:solidFill>
            <a:srgbClr val="7D429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 sz="2400"/>
          </a:p>
        </p:txBody>
      </p:sp>
      <p:sp>
        <p:nvSpPr>
          <p:cNvPr id="35" name="Text 32"/>
          <p:cNvSpPr/>
          <p:nvPr/>
        </p:nvSpPr>
        <p:spPr>
          <a:xfrm>
            <a:off x="896112" y="5084064"/>
            <a:ext cx="2148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</a:rPr>
              <a:t>Por que é case da Unidade?</a:t>
            </a:r>
            <a:endParaRPr lang="en-US" sz="900" dirty="0"/>
          </a:p>
        </p:txBody>
      </p:sp>
      <p:sp>
        <p:nvSpPr>
          <p:cNvPr id="36" name="Text 33"/>
          <p:cNvSpPr/>
          <p:nvPr/>
        </p:nvSpPr>
        <p:spPr>
          <a:xfrm>
            <a:off x="3090672" y="4938268"/>
            <a:ext cx="7452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060" b="1" dirty="0">
                <a:solidFill>
                  <a:srgbClr val="FFFFFF"/>
                </a:solidFill>
              </a:rPr>
              <a:t>A Urepol une engenharia de desenvolvimento, produção técnica e fornecimento para montadoras. A narrativa é forte para indústria de autopeças: rastreabilidade, produção, controle de itens, estoque e qualidade.</a:t>
            </a:r>
            <a:endParaRPr lang="en-US" sz="800" dirty="0"/>
          </a:p>
        </p:txBody>
      </p:sp>
      <p:sp>
        <p:nvSpPr>
          <p:cNvPr id="38" name="Text 35"/>
          <p:cNvSpPr/>
          <p:nvPr/>
        </p:nvSpPr>
        <p:spPr>
          <a:xfrm>
            <a:off x="5486400" y="5650992"/>
            <a:ext cx="5349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30" dirty="0">
                <a:solidFill>
                  <a:srgbClr val="E4EAF1"/>
                </a:solidFill>
              </a:rPr>
              <a:t>Fonte: Segmentação de Parceiros Sankhya + informações institucionais fornecidas.</a:t>
            </a:r>
            <a:endParaRPr lang="en-US" sz="700" dirty="0"/>
          </a:p>
        </p:txBody>
      </p:sp>
      <p:sp>
        <p:nvSpPr>
          <p:cNvPr id="40" name="Text 36"/>
          <p:cNvSpPr/>
          <p:nvPr/>
        </p:nvSpPr>
        <p:spPr>
          <a:xfrm>
            <a:off x="8732520" y="6172200"/>
            <a:ext cx="2788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FFFFFF">
                    <a:alpha val="88000"/>
                  </a:srgbClr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Cases Unidade • Sankhya ABC Paulista • 11/13</a:t>
            </a:r>
            <a:endParaRPr lang="en-US" sz="800" dirty="0"/>
          </a:p>
        </p:txBody>
      </p:sp>
      <p:pic>
        <p:nvPicPr>
          <p:cNvPr id="42" name="Imagem 41">
            <a:extLst>
              <a:ext uri="{FF2B5EF4-FFF2-40B4-BE49-F238E27FC236}">
                <a16:creationId xmlns:a16="http://schemas.microsoft.com/office/drawing/2014/main" id="{DF87DB78-BF55-889F-D67C-FF6E51C7637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5477255"/>
            <a:ext cx="2476500" cy="1901441"/>
          </a:xfrm>
          <a:prstGeom prst="rect">
            <a:avLst/>
          </a:prstGeom>
        </p:spPr>
      </p:pic>
      <p:pic>
        <p:nvPicPr>
          <p:cNvPr id="44" name="Imagem 43">
            <a:extLst>
              <a:ext uri="{FF2B5EF4-FFF2-40B4-BE49-F238E27FC236}">
                <a16:creationId xmlns:a16="http://schemas.microsoft.com/office/drawing/2014/main" id="{A6193633-9097-6D9A-8300-DB0F3B0379F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42681" y="1354357"/>
            <a:ext cx="1114581" cy="1353312"/>
          </a:xfrm>
          <a:prstGeom prst="rect">
            <a:avLst/>
          </a:prstGeom>
        </p:spPr>
      </p:pic>
      <p:pic>
        <p:nvPicPr>
          <p:cNvPr id="46" name="Imagem 45">
            <a:extLst>
              <a:ext uri="{FF2B5EF4-FFF2-40B4-BE49-F238E27FC236}">
                <a16:creationId xmlns:a16="http://schemas.microsoft.com/office/drawing/2014/main" id="{970828F0-A939-BE99-36EA-9D0A97DE971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67295" y="1324494"/>
            <a:ext cx="1664258" cy="142785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2E415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5669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FF7328"/>
                </a:solidFill>
              </a:rPr>
              <a:t>&gt;&gt;&gt;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1234440" y="219456"/>
            <a:ext cx="6583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3200" b="1" dirty="0">
                <a:solidFill>
                  <a:srgbClr val="FF7328"/>
                </a:solidFill>
              </a:rPr>
              <a:t>OPTEC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234440" y="764032"/>
            <a:ext cx="56692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20000"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OPTEC Consulting Serviços de Informática LTDA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85800" y="1298448"/>
            <a:ext cx="1554480" cy="329184"/>
          </a:xfrm>
          <a:prstGeom prst="roundRect">
            <a:avLst>
              <a:gd name="adj" fmla="val 22222"/>
            </a:avLst>
          </a:prstGeom>
          <a:solidFill>
            <a:srgbClr val="FF7328"/>
          </a:solidFill>
          <a:ln w="12700">
            <a:solidFill>
              <a:srgbClr val="FF732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 sz="2400"/>
          </a:p>
        </p:txBody>
      </p:sp>
      <p:sp>
        <p:nvSpPr>
          <p:cNvPr id="6" name="Text 4"/>
          <p:cNvSpPr/>
          <p:nvPr/>
        </p:nvSpPr>
        <p:spPr>
          <a:xfrm>
            <a:off x="685800" y="1385316"/>
            <a:ext cx="1554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</a:rPr>
              <a:t>CASE DA UNIDADE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359152" y="1298448"/>
            <a:ext cx="1005840" cy="329184"/>
          </a:xfrm>
          <a:prstGeom prst="roundRect">
            <a:avLst>
              <a:gd name="adj" fmla="val 22222"/>
            </a:avLst>
          </a:prstGeom>
          <a:solidFill>
            <a:srgbClr val="16283D"/>
          </a:solidFill>
          <a:ln w="12700">
            <a:solidFill>
              <a:srgbClr val="16283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 sz="2400"/>
          </a:p>
        </p:txBody>
      </p:sp>
      <p:sp>
        <p:nvSpPr>
          <p:cNvPr id="8" name="Text 6"/>
          <p:cNvSpPr/>
          <p:nvPr/>
        </p:nvSpPr>
        <p:spPr>
          <a:xfrm>
            <a:off x="2359152" y="1385316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</a:rPr>
              <a:t>Digital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93008" y="1298448"/>
            <a:ext cx="1005840" cy="329184"/>
          </a:xfrm>
          <a:prstGeom prst="roundRect">
            <a:avLst>
              <a:gd name="adj" fmla="val 22222"/>
            </a:avLst>
          </a:prstGeom>
          <a:solidFill>
            <a:srgbClr val="16283D"/>
          </a:solidFill>
          <a:ln w="12700">
            <a:solidFill>
              <a:srgbClr val="16283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 sz="2400"/>
          </a:p>
        </p:txBody>
      </p:sp>
      <p:sp>
        <p:nvSpPr>
          <p:cNvPr id="10" name="Text 8"/>
          <p:cNvSpPr/>
          <p:nvPr/>
        </p:nvSpPr>
        <p:spPr>
          <a:xfrm>
            <a:off x="3493008" y="1385316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</a:rPr>
              <a:t>Serviço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85800" y="1792224"/>
            <a:ext cx="4572000" cy="2514600"/>
          </a:xfrm>
          <a:prstGeom prst="roundRect">
            <a:avLst>
              <a:gd name="adj" fmla="val 4364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 sz="2400"/>
          </a:p>
        </p:txBody>
      </p:sp>
      <p:sp>
        <p:nvSpPr>
          <p:cNvPr id="12" name="Text 10"/>
          <p:cNvSpPr/>
          <p:nvPr/>
        </p:nvSpPr>
        <p:spPr>
          <a:xfrm>
            <a:off x="896112" y="2057400"/>
            <a:ext cx="320040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FF7328"/>
                </a:solidFill>
              </a:rPr>
              <a:t>LEITURA DO CASE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896112" y="2395728"/>
            <a:ext cx="39776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253449"/>
                </a:solidFill>
              </a:rPr>
              <a:t>Suporte sob medida para ambientes de TI, cloud, infraestrutura e segurança.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896112" y="2999232"/>
            <a:ext cx="182880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253449"/>
                </a:solidFill>
              </a:rPr>
              <a:t>Segmento / linhas de valor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932688" y="3273552"/>
            <a:ext cx="411480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20" b="1" dirty="0">
                <a:solidFill>
                  <a:srgbClr val="FF73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020" dirty="0">
                <a:solidFill>
                  <a:srgbClr val="25344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Infraestrutura de TI e suporte recorrente
</a:t>
            </a:r>
            <a:r>
              <a:rPr lang="en-US" sz="1020" b="1" dirty="0">
                <a:solidFill>
                  <a:srgbClr val="FF73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020" dirty="0">
                <a:solidFill>
                  <a:srgbClr val="25344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Microsoft 365, assistência a e-mail e servidores
</a:t>
            </a:r>
            <a:r>
              <a:rPr lang="en-US" sz="1020" b="1" dirty="0">
                <a:solidFill>
                  <a:srgbClr val="FF73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020" dirty="0">
                <a:solidFill>
                  <a:srgbClr val="25344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Cloud, backup, data center e continuidade operacional
</a:t>
            </a:r>
            <a:r>
              <a:rPr lang="en-US" sz="1020" b="1" dirty="0">
                <a:solidFill>
                  <a:srgbClr val="FF73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020" dirty="0">
                <a:solidFill>
                  <a:srgbClr val="25344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Boas práticas de cybersecurity e governança técnica
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5532120" y="1261872"/>
            <a:ext cx="5422392" cy="1627632"/>
          </a:xfrm>
          <a:prstGeom prst="roundRect">
            <a:avLst>
              <a:gd name="adj" fmla="val 6742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 sz="2400" dirty="0"/>
          </a:p>
        </p:txBody>
      </p:sp>
      <p:pic>
        <p:nvPicPr>
          <p:cNvPr id="17" name="Image 0" descr="/mnt/data/a28ddab8-84bf-4091-a55d-3273715ea54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48674" y="1426464"/>
            <a:ext cx="1255046" cy="1353312"/>
          </a:xfrm>
          <a:prstGeom prst="rect">
            <a:avLst/>
          </a:prstGeom>
        </p:spPr>
      </p:pic>
      <p:sp>
        <p:nvSpPr>
          <p:cNvPr id="18" name="Shape 15"/>
          <p:cNvSpPr/>
          <p:nvPr/>
        </p:nvSpPr>
        <p:spPr>
          <a:xfrm>
            <a:off x="5532120" y="2999232"/>
            <a:ext cx="5440680" cy="17373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 sz="2400"/>
          </a:p>
        </p:txBody>
      </p:sp>
      <p:sp>
        <p:nvSpPr>
          <p:cNvPr id="19" name="Text 16"/>
          <p:cNvSpPr/>
          <p:nvPr/>
        </p:nvSpPr>
        <p:spPr>
          <a:xfrm>
            <a:off x="5797296" y="3246120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FF7328"/>
                </a:solidFill>
              </a:rPr>
              <a:t>DADOS DE ENQUADRAMENTO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5797296" y="3529584"/>
            <a:ext cx="135331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7D8B99"/>
                </a:solidFill>
              </a:rPr>
              <a:t>Localização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7059168" y="3520440"/>
            <a:ext cx="19385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940" dirty="0">
                <a:solidFill>
                  <a:srgbClr val="253449"/>
                </a:solidFill>
              </a:rPr>
              <a:t>Av. Francisco Prestes Maia, 275 — Centro, São Bernardo do Campo/SP</a:t>
            </a:r>
            <a:endParaRPr lang="en-US" sz="700" dirty="0"/>
          </a:p>
        </p:txBody>
      </p:sp>
      <p:sp>
        <p:nvSpPr>
          <p:cNvPr id="22" name="Text 19"/>
          <p:cNvSpPr/>
          <p:nvPr/>
        </p:nvSpPr>
        <p:spPr>
          <a:xfrm>
            <a:off x="5797296" y="3803904"/>
            <a:ext cx="135331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7D8B99"/>
                </a:solidFill>
              </a:rPr>
              <a:t>Subsetor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7059168" y="3794760"/>
            <a:ext cx="19385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940" dirty="0">
                <a:solidFill>
                  <a:srgbClr val="253449"/>
                </a:solidFill>
              </a:rPr>
              <a:t>Tecnologia da Informação</a:t>
            </a:r>
            <a:endParaRPr lang="en-US" sz="700" dirty="0"/>
          </a:p>
        </p:txBody>
      </p:sp>
      <p:sp>
        <p:nvSpPr>
          <p:cNvPr id="24" name="Text 21"/>
          <p:cNvSpPr/>
          <p:nvPr/>
        </p:nvSpPr>
        <p:spPr>
          <a:xfrm>
            <a:off x="5797296" y="4078224"/>
            <a:ext cx="135331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7D8B99"/>
                </a:solidFill>
              </a:rPr>
              <a:t>Segmento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7059168" y="4069080"/>
            <a:ext cx="19385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940" dirty="0">
                <a:solidFill>
                  <a:srgbClr val="253449"/>
                </a:solidFill>
              </a:rPr>
              <a:t>Infraestrutura, cloud, Microsoft 365, servidores e cybersegurança</a:t>
            </a:r>
            <a:endParaRPr lang="en-US" sz="700" dirty="0"/>
          </a:p>
        </p:txBody>
      </p:sp>
      <p:sp>
        <p:nvSpPr>
          <p:cNvPr id="28" name="Text 25"/>
          <p:cNvSpPr/>
          <p:nvPr/>
        </p:nvSpPr>
        <p:spPr>
          <a:xfrm>
            <a:off x="9098280" y="3529584"/>
            <a:ext cx="9601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7D8B99"/>
                </a:solidFill>
              </a:rPr>
              <a:t>MRR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10131552" y="3520440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30" dirty="0">
                <a:solidFill>
                  <a:srgbClr val="253449"/>
                </a:solidFill>
              </a:rPr>
              <a:t>R$ 5.628,15</a:t>
            </a:r>
            <a:endParaRPr lang="en-US" sz="700" dirty="0"/>
          </a:p>
        </p:txBody>
      </p:sp>
      <p:sp>
        <p:nvSpPr>
          <p:cNvPr id="30" name="Text 27"/>
          <p:cNvSpPr/>
          <p:nvPr/>
        </p:nvSpPr>
        <p:spPr>
          <a:xfrm>
            <a:off x="9098280" y="3803904"/>
            <a:ext cx="9601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7D8B99"/>
                </a:solidFill>
              </a:rPr>
              <a:t>Curva / Valor</a:t>
            </a:r>
            <a:endParaRPr lang="en-US" sz="900" dirty="0"/>
          </a:p>
        </p:txBody>
      </p:sp>
      <p:sp>
        <p:nvSpPr>
          <p:cNvPr id="31" name="Text 28"/>
          <p:cNvSpPr/>
          <p:nvPr/>
        </p:nvSpPr>
        <p:spPr>
          <a:xfrm>
            <a:off x="10131552" y="3794760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30" dirty="0">
                <a:solidFill>
                  <a:srgbClr val="253449"/>
                </a:solidFill>
              </a:rPr>
              <a:t>Curva C • Baixo</a:t>
            </a:r>
            <a:endParaRPr lang="en-US" sz="700" dirty="0"/>
          </a:p>
        </p:txBody>
      </p:sp>
      <p:sp>
        <p:nvSpPr>
          <p:cNvPr id="32" name="Text 29"/>
          <p:cNvSpPr/>
          <p:nvPr/>
        </p:nvSpPr>
        <p:spPr>
          <a:xfrm>
            <a:off x="9098280" y="4078224"/>
            <a:ext cx="9601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7D8B99"/>
                </a:solidFill>
              </a:rPr>
              <a:t>Estratégia</a:t>
            </a:r>
            <a:endParaRPr lang="en-US" sz="900" dirty="0"/>
          </a:p>
        </p:txBody>
      </p:sp>
      <p:sp>
        <p:nvSpPr>
          <p:cNvPr id="33" name="Text 30"/>
          <p:cNvSpPr/>
          <p:nvPr/>
        </p:nvSpPr>
        <p:spPr>
          <a:xfrm>
            <a:off x="10131552" y="4069080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30" dirty="0">
                <a:solidFill>
                  <a:srgbClr val="253449"/>
                </a:solidFill>
              </a:rPr>
              <a:t>Manter</a:t>
            </a:r>
            <a:endParaRPr lang="en-US" sz="700" dirty="0"/>
          </a:p>
        </p:txBody>
      </p:sp>
      <p:sp>
        <p:nvSpPr>
          <p:cNvPr id="34" name="Shape 31"/>
          <p:cNvSpPr/>
          <p:nvPr/>
        </p:nvSpPr>
        <p:spPr>
          <a:xfrm>
            <a:off x="685800" y="4828032"/>
            <a:ext cx="10287000" cy="713232"/>
          </a:xfrm>
          <a:prstGeom prst="roundRect">
            <a:avLst>
              <a:gd name="adj" fmla="val 15000"/>
            </a:avLst>
          </a:prstGeom>
          <a:solidFill>
            <a:srgbClr val="FF732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 sz="2400"/>
          </a:p>
        </p:txBody>
      </p:sp>
      <p:sp>
        <p:nvSpPr>
          <p:cNvPr id="35" name="Text 32"/>
          <p:cNvSpPr/>
          <p:nvPr/>
        </p:nvSpPr>
        <p:spPr>
          <a:xfrm>
            <a:off x="896112" y="5047488"/>
            <a:ext cx="2148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</a:rPr>
              <a:t>Por que é case da Unidade?</a:t>
            </a:r>
            <a:endParaRPr lang="en-US" sz="900" dirty="0"/>
          </a:p>
        </p:txBody>
      </p:sp>
      <p:sp>
        <p:nvSpPr>
          <p:cNvPr id="36" name="Text 33"/>
          <p:cNvSpPr/>
          <p:nvPr/>
        </p:nvSpPr>
        <p:spPr>
          <a:xfrm>
            <a:off x="3090672" y="4928616"/>
            <a:ext cx="7452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060" b="1" dirty="0">
                <a:solidFill>
                  <a:srgbClr val="FFFFFF"/>
                </a:solidFill>
              </a:rPr>
              <a:t>A Optec tem proximidade com o universo de tecnologia, recorrência de serviços e parceria histórica com a Sankhya. O case pode mostrar governança de SLA, continuidade, infraestrutura e segurança da informação.</a:t>
            </a:r>
            <a:endParaRPr lang="en-US" sz="800" dirty="0"/>
          </a:p>
        </p:txBody>
      </p:sp>
      <p:sp>
        <p:nvSpPr>
          <p:cNvPr id="38" name="Text 35"/>
          <p:cNvSpPr/>
          <p:nvPr/>
        </p:nvSpPr>
        <p:spPr>
          <a:xfrm>
            <a:off x="5486400" y="5650992"/>
            <a:ext cx="5349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30" dirty="0">
                <a:solidFill>
                  <a:srgbClr val="E4EAF1"/>
                </a:solidFill>
              </a:rPr>
              <a:t>Fonte: Segmentação de Parceiros Sankhya + informações institucionais fornecidas.</a:t>
            </a:r>
            <a:endParaRPr lang="en-US" sz="700" dirty="0"/>
          </a:p>
        </p:txBody>
      </p:sp>
      <p:pic>
        <p:nvPicPr>
          <p:cNvPr id="39" name="Image 1" descr="/mnt/data/logo_sankhya_abc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9148" y="6199632"/>
            <a:ext cx="1690624" cy="292608"/>
          </a:xfrm>
          <a:prstGeom prst="rect">
            <a:avLst/>
          </a:prstGeom>
        </p:spPr>
      </p:pic>
      <p:sp>
        <p:nvSpPr>
          <p:cNvPr id="40" name="Text 36"/>
          <p:cNvSpPr/>
          <p:nvPr/>
        </p:nvSpPr>
        <p:spPr>
          <a:xfrm>
            <a:off x="8732520" y="6172200"/>
            <a:ext cx="2788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FFFFFF">
                    <a:alpha val="88000"/>
                  </a:srgbClr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Cases Unidade • Sankhya ABC Paulista • 12/13</a:t>
            </a:r>
            <a:endParaRPr lang="en-US" sz="800" dirty="0"/>
          </a:p>
        </p:txBody>
      </p:sp>
      <p:pic>
        <p:nvPicPr>
          <p:cNvPr id="45" name="Imagem 44">
            <a:extLst>
              <a:ext uri="{FF2B5EF4-FFF2-40B4-BE49-F238E27FC236}">
                <a16:creationId xmlns:a16="http://schemas.microsoft.com/office/drawing/2014/main" id="{778E67D7-880C-F512-AE87-12B8251C998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69958" y="1410716"/>
            <a:ext cx="1762562" cy="1350772"/>
          </a:xfrm>
          <a:prstGeom prst="rect">
            <a:avLst/>
          </a:prstGeom>
        </p:spPr>
      </p:pic>
      <p:pic>
        <p:nvPicPr>
          <p:cNvPr id="47" name="Imagem 46">
            <a:extLst>
              <a:ext uri="{FF2B5EF4-FFF2-40B4-BE49-F238E27FC236}">
                <a16:creationId xmlns:a16="http://schemas.microsoft.com/office/drawing/2014/main" id="{D2C5601C-8ED8-8AE1-5EE1-6BA233665B7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60482" y="1426464"/>
            <a:ext cx="1975158" cy="1335024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2E415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298448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</a:rPr>
              <a:t>Cases da Unidade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731520" y="1828800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5DCB61"/>
                </a:solidFill>
              </a:rPr>
              <a:t>Sankhya ABC Paulista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2267712"/>
            <a:ext cx="5669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C8D1DC"/>
                </a:solidFill>
              </a:rPr>
              <a:t>8 histórias com leitura de setor, subsetor, segmento, produtos, localização e enquadramento comercial.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583680" y="1078992"/>
            <a:ext cx="1325880" cy="329184"/>
          </a:xfrm>
          <a:prstGeom prst="roundRect">
            <a:avLst>
              <a:gd name="adj" fmla="val 22222"/>
            </a:avLst>
          </a:prstGeom>
          <a:solidFill>
            <a:srgbClr val="5DCB61"/>
          </a:solidFill>
          <a:ln w="12700">
            <a:solidFill>
              <a:srgbClr val="5DCB6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 sz="1100"/>
          </a:p>
        </p:txBody>
      </p:sp>
      <p:sp>
        <p:nvSpPr>
          <p:cNvPr id="6" name="Text 4"/>
          <p:cNvSpPr/>
          <p:nvPr/>
        </p:nvSpPr>
        <p:spPr>
          <a:xfrm>
            <a:off x="6583680" y="1165860"/>
            <a:ext cx="13258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Saúde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8138160" y="1078992"/>
            <a:ext cx="1325880" cy="329184"/>
          </a:xfrm>
          <a:prstGeom prst="roundRect">
            <a:avLst>
              <a:gd name="adj" fmla="val 22222"/>
            </a:avLst>
          </a:prstGeom>
          <a:solidFill>
            <a:srgbClr val="7D4294"/>
          </a:solidFill>
          <a:ln w="12700">
            <a:solidFill>
              <a:srgbClr val="7D429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 sz="1100"/>
          </a:p>
        </p:txBody>
      </p:sp>
      <p:sp>
        <p:nvSpPr>
          <p:cNvPr id="8" name="Text 6"/>
          <p:cNvSpPr/>
          <p:nvPr/>
        </p:nvSpPr>
        <p:spPr>
          <a:xfrm>
            <a:off x="8138160" y="1165860"/>
            <a:ext cx="13258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Saneamento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583680" y="1563624"/>
            <a:ext cx="1325880" cy="329184"/>
          </a:xfrm>
          <a:prstGeom prst="roundRect">
            <a:avLst>
              <a:gd name="adj" fmla="val 22222"/>
            </a:avLst>
          </a:prstGeom>
          <a:solidFill>
            <a:srgbClr val="FF7328"/>
          </a:solidFill>
          <a:ln w="12700">
            <a:solidFill>
              <a:srgbClr val="FF732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 sz="1100"/>
          </a:p>
        </p:txBody>
      </p:sp>
      <p:sp>
        <p:nvSpPr>
          <p:cNvPr id="10" name="Text 8"/>
          <p:cNvSpPr/>
          <p:nvPr/>
        </p:nvSpPr>
        <p:spPr>
          <a:xfrm>
            <a:off x="6583680" y="1650492"/>
            <a:ext cx="13258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Facilities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138160" y="1563624"/>
            <a:ext cx="1325880" cy="329184"/>
          </a:xfrm>
          <a:prstGeom prst="roundRect">
            <a:avLst>
              <a:gd name="adj" fmla="val 22222"/>
            </a:avLst>
          </a:prstGeom>
          <a:solidFill>
            <a:srgbClr val="5DCB61"/>
          </a:solidFill>
          <a:ln w="12700">
            <a:solidFill>
              <a:srgbClr val="5DCB6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 sz="1100"/>
          </a:p>
        </p:txBody>
      </p:sp>
      <p:sp>
        <p:nvSpPr>
          <p:cNvPr id="12" name="Text 10"/>
          <p:cNvSpPr/>
          <p:nvPr/>
        </p:nvSpPr>
        <p:spPr>
          <a:xfrm>
            <a:off x="8138160" y="1650492"/>
            <a:ext cx="13258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TI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583680" y="2048256"/>
            <a:ext cx="1325880" cy="329184"/>
          </a:xfrm>
          <a:prstGeom prst="roundRect">
            <a:avLst>
              <a:gd name="adj" fmla="val 22222"/>
            </a:avLst>
          </a:prstGeom>
          <a:solidFill>
            <a:srgbClr val="7D4294"/>
          </a:solidFill>
          <a:ln w="12700">
            <a:solidFill>
              <a:srgbClr val="7D429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 sz="1100"/>
          </a:p>
        </p:txBody>
      </p:sp>
      <p:sp>
        <p:nvSpPr>
          <p:cNvPr id="14" name="Text 12"/>
          <p:cNvSpPr/>
          <p:nvPr/>
        </p:nvSpPr>
        <p:spPr>
          <a:xfrm>
            <a:off x="6583680" y="2135124"/>
            <a:ext cx="13258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Indústria química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138160" y="2048256"/>
            <a:ext cx="1325880" cy="329184"/>
          </a:xfrm>
          <a:prstGeom prst="roundRect">
            <a:avLst>
              <a:gd name="adj" fmla="val 22222"/>
            </a:avLst>
          </a:prstGeom>
          <a:solidFill>
            <a:srgbClr val="FF7328"/>
          </a:solidFill>
          <a:ln w="12700">
            <a:solidFill>
              <a:srgbClr val="FF732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 sz="1100"/>
          </a:p>
        </p:txBody>
      </p:sp>
      <p:sp>
        <p:nvSpPr>
          <p:cNvPr id="16" name="Text 14"/>
          <p:cNvSpPr/>
          <p:nvPr/>
        </p:nvSpPr>
        <p:spPr>
          <a:xfrm>
            <a:off x="8138160" y="2135124"/>
            <a:ext cx="13258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Cosméticos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583680" y="2532888"/>
            <a:ext cx="1325880" cy="329184"/>
          </a:xfrm>
          <a:prstGeom prst="roundRect">
            <a:avLst>
              <a:gd name="adj" fmla="val 22222"/>
            </a:avLst>
          </a:prstGeom>
          <a:solidFill>
            <a:srgbClr val="5DCB61"/>
          </a:solidFill>
          <a:ln w="12700">
            <a:solidFill>
              <a:srgbClr val="5DCB6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 sz="1100"/>
          </a:p>
        </p:txBody>
      </p:sp>
      <p:sp>
        <p:nvSpPr>
          <p:cNvPr id="18" name="Text 16"/>
          <p:cNvSpPr/>
          <p:nvPr/>
        </p:nvSpPr>
        <p:spPr>
          <a:xfrm>
            <a:off x="6583680" y="2619756"/>
            <a:ext cx="13258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Autopeças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8138160" y="2532888"/>
            <a:ext cx="1325880" cy="329184"/>
          </a:xfrm>
          <a:prstGeom prst="roundRect">
            <a:avLst>
              <a:gd name="adj" fmla="val 22222"/>
            </a:avLst>
          </a:prstGeom>
          <a:solidFill>
            <a:srgbClr val="7D4294"/>
          </a:solidFill>
          <a:ln w="12700">
            <a:solidFill>
              <a:srgbClr val="7D429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 sz="1100"/>
          </a:p>
        </p:txBody>
      </p:sp>
      <p:sp>
        <p:nvSpPr>
          <p:cNvPr id="20" name="Text 18"/>
          <p:cNvSpPr/>
          <p:nvPr/>
        </p:nvSpPr>
        <p:spPr>
          <a:xfrm>
            <a:off x="8138160" y="2619756"/>
            <a:ext cx="13258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Funerário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7818120" y="3529584"/>
            <a:ext cx="2148840" cy="1545336"/>
          </a:xfrm>
          <a:prstGeom prst="roundRect">
            <a:avLst>
              <a:gd name="adj" fmla="val 8000"/>
            </a:avLst>
          </a:prstGeom>
          <a:solidFill>
            <a:srgbClr val="5DCB61"/>
          </a:solidFill>
          <a:ln w="12700">
            <a:solidFill>
              <a:srgbClr val="5DCB6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 sz="2400"/>
          </a:p>
        </p:txBody>
      </p:sp>
      <p:sp>
        <p:nvSpPr>
          <p:cNvPr id="22" name="Text 20"/>
          <p:cNvSpPr/>
          <p:nvPr/>
        </p:nvSpPr>
        <p:spPr>
          <a:xfrm>
            <a:off x="7818120" y="3803904"/>
            <a:ext cx="2148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CASES</a:t>
            </a:r>
            <a:endParaRPr lang="en-US" sz="2800" dirty="0"/>
          </a:p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DA</a:t>
            </a:r>
            <a:endParaRPr lang="en-US" sz="2800" dirty="0"/>
          </a:p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UNIDADE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731520" y="525780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Gustavo Germano Furian</a:t>
            </a:r>
            <a:endParaRPr lang="en-US" sz="1000" dirty="0"/>
          </a:p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Consultor de Sucesso do </a:t>
            </a:r>
            <a:r>
              <a:rPr lang="en-US" sz="1100" b="1" dirty="0" err="1">
                <a:solidFill>
                  <a:srgbClr val="FFFFFF"/>
                </a:solidFill>
              </a:rPr>
              <a:t>Cliente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8732520" y="6172200"/>
            <a:ext cx="2788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50" dirty="0">
                <a:solidFill>
                  <a:srgbClr val="FFFFFF">
                    <a:alpha val="88000"/>
                  </a:srgbClr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Cases Unidade • Sankhya ABC Paulista • 13/13</a:t>
            </a:r>
            <a:endParaRPr lang="en-US" sz="800" dirty="0"/>
          </a:p>
        </p:txBody>
      </p:sp>
      <p:pic>
        <p:nvPicPr>
          <p:cNvPr id="27" name="Imagem 26">
            <a:extLst>
              <a:ext uri="{FF2B5EF4-FFF2-40B4-BE49-F238E27FC236}">
                <a16:creationId xmlns:a16="http://schemas.microsoft.com/office/drawing/2014/main" id="{CF665796-2134-F5EC-0002-5064373965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477255"/>
            <a:ext cx="2476500" cy="190144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165</TotalTime>
  <Words>2124</Words>
  <Application>Microsoft Office PowerPoint</Application>
  <PresentationFormat>Widescreen</PresentationFormat>
  <Paragraphs>382</Paragraphs>
  <Slides>13</Slides>
  <Notes>13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13</vt:i4>
      </vt:variant>
    </vt:vector>
  </HeadingPairs>
  <TitlesOfParts>
    <vt:vector size="16" baseType="lpstr">
      <vt:lpstr>Aptos</vt:lpstr>
      <vt:lpstr>Arial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Sankhya ABC Paulista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Cases da Unidade — Sankhya ABC Paulista 2026</dc:title>
  <dc:subject>Cases da Unidade — Sankhya ABC Paulista 2026</dc:subject>
  <dc:creator>OpenAI</dc:creator>
  <cp:lastModifiedBy>Gustavo Germano Furian</cp:lastModifiedBy>
  <cp:revision>11</cp:revision>
  <dcterms:created xsi:type="dcterms:W3CDTF">2026-06-23T18:00:37Z</dcterms:created>
  <dcterms:modified xsi:type="dcterms:W3CDTF">2026-06-30T16:21:29Z</dcterms:modified>
</cp:coreProperties>
</file>